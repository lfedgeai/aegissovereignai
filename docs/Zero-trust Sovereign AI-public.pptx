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5316" r:id="rId4"/>
    <p:sldMasterId id="2147485495" r:id="rId5"/>
    <p:sldMasterId id="2147485447" r:id="rId6"/>
  </p:sldMasterIdLst>
  <p:notesMasterIdLst>
    <p:notesMasterId r:id="rId28"/>
  </p:notesMasterIdLst>
  <p:handoutMasterIdLst>
    <p:handoutMasterId r:id="rId29"/>
  </p:handoutMasterIdLst>
  <p:sldIdLst>
    <p:sldId id="2147479939" r:id="rId7"/>
    <p:sldId id="2147479907" r:id="rId8"/>
    <p:sldId id="2147479937" r:id="rId9"/>
    <p:sldId id="2147479921" r:id="rId10"/>
    <p:sldId id="2147479957" r:id="rId11"/>
    <p:sldId id="2147479958" r:id="rId12"/>
    <p:sldId id="2147479896" r:id="rId13"/>
    <p:sldId id="2147479908" r:id="rId14"/>
    <p:sldId id="2147479909" r:id="rId15"/>
    <p:sldId id="2147479941" r:id="rId16"/>
    <p:sldId id="2147479945" r:id="rId17"/>
    <p:sldId id="2147479949" r:id="rId18"/>
    <p:sldId id="2147479950" r:id="rId19"/>
    <p:sldId id="2147479948" r:id="rId20"/>
    <p:sldId id="2147479951" r:id="rId21"/>
    <p:sldId id="2147479953" r:id="rId22"/>
    <p:sldId id="2147479952" r:id="rId23"/>
    <p:sldId id="2147479954" r:id="rId24"/>
    <p:sldId id="2147479942" r:id="rId25"/>
    <p:sldId id="2147479922" r:id="rId26"/>
    <p:sldId id="2147479955" r:id="rId27"/>
  </p:sldIdLst>
  <p:sldSz cx="12192000" cy="6858000"/>
  <p:notesSz cx="6858000" cy="9313863"/>
  <p:custDataLst>
    <p:tags r:id="rId30"/>
  </p:custDataLst>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B419D1A-5A34-A8FB-41DF-871BDA005011}" name="Karim, Alim" initials="KA" userId="S::alim.karim@intel.com::e3df94a3-9cb7-4077-870b-fd53c1e26087" providerId="AD"/>
  <p188:author id="{78A18E26-A2F2-767C-1014-4B6658D497B1}" name="Hannibal, Stuart" initials="HS" userId="S::stuart.hannibal@intel.com::9f64857f-8fa7-445d-9fb9-c23ea1c9b7b6" providerId="AD"/>
  <p188:author id="{DC76982A-F215-AFE3-E775-BD5B4C60E132}" name="Rastogi, Aseem" initials="RA" userId="S::aseem.rastogi@intel.com::08128111-acf7-4b6f-b503-87ae1aeba5c0" providerId="AD"/>
  <p188:author id="{2BB12D2E-CEEB-1A6C-D187-AD2A191CC753}" name="Quinones Bonilla, Fabiola" initials="QBF" userId="S::fabiola.quinones.bonilla@intel.com::7c5dd723-dfbf-433f-a3dc-3cb3ec393d41" providerId="AD"/>
  <p188:author id="{D243B868-9ECF-12C3-AD5E-E5CD996DEE09}" name="Gladding, John" initials="GJ" userId="S::john.gladding@intel.com::f6a2c4d7-1529-4366-9974-f9637626accb" providerId="AD"/>
  <p188:author id="{2E28C772-78C5-FA98-EC0E-2E61A87D1BC0}" name="Gibbs, Andrea" initials="GA" userId="S::andrea.gibbs@intel.com::54e5c922-0561-48bb-a23d-ee4622b006ba" providerId="AD"/>
  <p188:author id="{B57E5473-BCDF-261E-DEBD-5C377D576C1F}" name="Shvil, Sarah" initials="SS" userId="S::sarah.shvil@intel.com::cd329774-7176-44dd-84f0-e804fa338f5c" providerId="AD"/>
  <p188:author id="{FC9F2D74-FF19-A3FB-CD1B-96385FE0C850}" name="Abrahams, Larry" initials="AL" userId="S::larry.abrahams@intel.com::09172a07-d7f0-446f-8973-c1c5d456caaa" providerId="AD"/>
  <p188:author id="{E9822979-4DBC-CC7A-8A01-9B4B0BE8C913}" name="Zuhayri, Fadi" initials="ZF" userId="S::fadi.zuhayri@intel.com::8d8817c8-4cd5-402b-a70a-0e768fe337e4" providerId="AD"/>
  <p188:author id="{77F3E787-B5D6-3C06-8916-81E5E7EC10E1}" name="Larry Abrahams" initials="LA" userId="Larry Abrahams" providerId="None"/>
  <p188:author id="{D30951A4-144F-B10E-4F43-0E3F0C8F2A32}" name="Gueta, Guy" initials="GG" userId="S::guy.gueta@intel.com::28fc2c9b-641e-4058-b35a-1c55bad5fb3a" providerId="AD"/>
  <p188:author id="{0353EBA8-741D-EE01-6F27-A376EE2D112E}" name="Sheth, Purnam" initials="SP" userId="S::purnam.sheth@intel.com::99faf352-d147-4836-a28f-ebd75456357e" providerId="AD"/>
  <p188:author id="{802AE9B6-963E-836D-C2D8-92FB679F4D05}" name="Lopez, Gloria A" initials="LA" userId="S::gloria.a.lopez@intel.com::262aa91f-cf90-4608-9d79-c3f59c1090a2" providerId="AD"/>
  <p188:author id="{EC7A16C1-0007-3AE9-A8C1-E705CD3C4AA2}" name="G Vane, Chelsea" initials="GVC" userId="S::chelsea.g.vane@intel.com::785aee96-f2cb-4e48-a164-f760f8bd6f3d" providerId="AD"/>
  <p188:author id="{AB3673E6-5130-9CFC-50D2-5A310867363E}" name="Nair, Sathi K" initials="SN" userId="S::sathi.k.nair@intel.com::0549f13e-1530-4e1a-92a1-b8f1f800602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4E88"/>
    <a:srgbClr val="0095BE"/>
    <a:srgbClr val="A1C7E4"/>
    <a:srgbClr val="002255"/>
    <a:srgbClr val="E96115"/>
    <a:srgbClr val="00C7FD"/>
    <a:srgbClr val="125A31"/>
    <a:srgbClr val="000D5E"/>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1C3173-9C54-4BA0-A488-8F478F828B3E}" v="21" dt="2026-01-29T04:21:23.23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268" autoAdjust="0"/>
    <p:restoredTop sz="95009" autoAdjust="0"/>
  </p:normalViewPr>
  <p:slideViewPr>
    <p:cSldViewPr snapToGrid="0">
      <p:cViewPr varScale="1">
        <p:scale>
          <a:sx n="69" d="100"/>
          <a:sy n="69" d="100"/>
        </p:scale>
        <p:origin x="2942" y="2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tags" Target="tags/tag1.xml"/><Relationship Id="rId35"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 krishnan" userId="746ada9dc9ba7cb7" providerId="LiveId" clId="{416D2906-BD35-4683-B3CE-AE302B644C3A}"/>
    <pc:docChg chg="undo custSel addSld delSld modSld sldOrd">
      <pc:chgData name="ram krishnan" userId="746ada9dc9ba7cb7" providerId="LiveId" clId="{416D2906-BD35-4683-B3CE-AE302B644C3A}" dt="2026-01-29T04:21:37.305" v="8747"/>
      <pc:docMkLst>
        <pc:docMk/>
      </pc:docMkLst>
      <pc:sldChg chg="modSp mod">
        <pc:chgData name="ram krishnan" userId="746ada9dc9ba7cb7" providerId="LiveId" clId="{416D2906-BD35-4683-B3CE-AE302B644C3A}" dt="2026-01-28T22:06:20.441" v="8430" actId="20577"/>
        <pc:sldMkLst>
          <pc:docMk/>
          <pc:sldMk cId="4221510456" sldId="2147479939"/>
        </pc:sldMkLst>
        <pc:spChg chg="mod">
          <ac:chgData name="ram krishnan" userId="746ada9dc9ba7cb7" providerId="LiveId" clId="{416D2906-BD35-4683-B3CE-AE302B644C3A}" dt="2026-01-28T22:06:20.441" v="8430" actId="20577"/>
          <ac:spMkLst>
            <pc:docMk/>
            <pc:sldMk cId="4221510456" sldId="2147479939"/>
            <ac:spMk id="2" creationId="{5DBAE83E-61C3-AB4C-2735-23AC967E1569}"/>
          </ac:spMkLst>
        </pc:spChg>
      </pc:sldChg>
      <pc:sldChg chg="addSp delSp modSp add del mod setBg">
        <pc:chgData name="ram krishnan" userId="746ada9dc9ba7cb7" providerId="LiveId" clId="{416D2906-BD35-4683-B3CE-AE302B644C3A}" dt="2026-01-28T22:15:15.048" v="8503" actId="47"/>
        <pc:sldMkLst>
          <pc:docMk/>
          <pc:sldMk cId="984865880" sldId="2147479956"/>
        </pc:sldMkLst>
        <pc:spChg chg="del">
          <ac:chgData name="ram krishnan" userId="746ada9dc9ba7cb7" providerId="LiveId" clId="{416D2906-BD35-4683-B3CE-AE302B644C3A}" dt="2026-01-28T22:07:01.289" v="8434" actId="478"/>
          <ac:spMkLst>
            <pc:docMk/>
            <pc:sldMk cId="984865880" sldId="2147479956"/>
            <ac:spMk id="3" creationId="{C971848F-9856-A29F-2325-7AE96386BF8A}"/>
          </ac:spMkLst>
        </pc:spChg>
        <pc:spChg chg="mod">
          <ac:chgData name="ram krishnan" userId="746ada9dc9ba7cb7" providerId="LiveId" clId="{416D2906-BD35-4683-B3CE-AE302B644C3A}" dt="2026-01-28T22:10:10.282" v="8461" actId="207"/>
          <ac:spMkLst>
            <pc:docMk/>
            <pc:sldMk cId="984865880" sldId="2147479956"/>
            <ac:spMk id="9" creationId="{BA9F6C9E-10D8-7D58-36A3-6895F09E8702}"/>
          </ac:spMkLst>
        </pc:spChg>
        <pc:graphicFrameChg chg="add mod modGraphic">
          <ac:chgData name="ram krishnan" userId="746ada9dc9ba7cb7" providerId="LiveId" clId="{416D2906-BD35-4683-B3CE-AE302B644C3A}" dt="2026-01-28T22:10:51.093" v="8462" actId="14734"/>
          <ac:graphicFrameMkLst>
            <pc:docMk/>
            <pc:sldMk cId="984865880" sldId="2147479956"/>
            <ac:graphicFrameMk id="2" creationId="{DB820FFC-3B09-96F6-E54B-9326D832A300}"/>
          </ac:graphicFrameMkLst>
        </pc:graphicFrameChg>
        <pc:picChg chg="del mod">
          <ac:chgData name="ram krishnan" userId="746ada9dc9ba7cb7" providerId="LiveId" clId="{416D2906-BD35-4683-B3CE-AE302B644C3A}" dt="2026-01-28T22:07:03.633" v="8436" actId="478"/>
          <ac:picMkLst>
            <pc:docMk/>
            <pc:sldMk cId="984865880" sldId="2147479956"/>
            <ac:picMk id="5" creationId="{853ADC17-0727-43A2-495E-DEEB9DCFB223}"/>
          </ac:picMkLst>
        </pc:picChg>
      </pc:sldChg>
      <pc:sldChg chg="addSp delSp modSp add mod setBg">
        <pc:chgData name="ram krishnan" userId="746ada9dc9ba7cb7" providerId="LiveId" clId="{416D2906-BD35-4683-B3CE-AE302B644C3A}" dt="2026-01-29T04:20:33.261" v="8733" actId="20577"/>
        <pc:sldMkLst>
          <pc:docMk/>
          <pc:sldMk cId="2069494326" sldId="2147479957"/>
        </pc:sldMkLst>
        <pc:spChg chg="mod">
          <ac:chgData name="ram krishnan" userId="746ada9dc9ba7cb7" providerId="LiveId" clId="{416D2906-BD35-4683-B3CE-AE302B644C3A}" dt="2026-01-29T04:18:53.200" v="8696" actId="20577"/>
          <ac:spMkLst>
            <pc:docMk/>
            <pc:sldMk cId="2069494326" sldId="2147479957"/>
            <ac:spMk id="9" creationId="{75920AD6-F96F-2C90-A5C6-3FF552594250}"/>
          </ac:spMkLst>
        </pc:spChg>
        <pc:graphicFrameChg chg="add mod">
          <ac:chgData name="ram krishnan" userId="746ada9dc9ba7cb7" providerId="LiveId" clId="{416D2906-BD35-4683-B3CE-AE302B644C3A}" dt="2026-01-29T04:13:23.992" v="8535"/>
          <ac:graphicFrameMkLst>
            <pc:docMk/>
            <pc:sldMk cId="2069494326" sldId="2147479957"/>
            <ac:graphicFrameMk id="2" creationId="{448EF0F3-57C2-58AB-5796-63C1DE48C356}"/>
          </ac:graphicFrameMkLst>
        </pc:graphicFrameChg>
        <pc:graphicFrameChg chg="del">
          <ac:chgData name="ram krishnan" userId="746ada9dc9ba7cb7" providerId="LiveId" clId="{416D2906-BD35-4683-B3CE-AE302B644C3A}" dt="2026-01-28T22:13:42.898" v="8464" actId="478"/>
          <ac:graphicFrameMkLst>
            <pc:docMk/>
            <pc:sldMk cId="2069494326" sldId="2147479957"/>
            <ac:graphicFrameMk id="2" creationId="{5E10F128-E898-D224-C607-D27D0ACC5E23}"/>
          </ac:graphicFrameMkLst>
        </pc:graphicFrameChg>
        <pc:graphicFrameChg chg="add del mod modGraphic">
          <ac:chgData name="ram krishnan" userId="746ada9dc9ba7cb7" providerId="LiveId" clId="{416D2906-BD35-4683-B3CE-AE302B644C3A}" dt="2026-01-29T04:13:39.270" v="8538" actId="478"/>
          <ac:graphicFrameMkLst>
            <pc:docMk/>
            <pc:sldMk cId="2069494326" sldId="2147479957"/>
            <ac:graphicFrameMk id="3" creationId="{7CAE64B9-6312-2917-E0C2-E8C3E667F04F}"/>
          </ac:graphicFrameMkLst>
        </pc:graphicFrameChg>
        <pc:graphicFrameChg chg="add del mod modGraphic">
          <ac:chgData name="ram krishnan" userId="746ada9dc9ba7cb7" providerId="LiveId" clId="{416D2906-BD35-4683-B3CE-AE302B644C3A}" dt="2026-01-29T04:14:25.413" v="8551" actId="478"/>
          <ac:graphicFrameMkLst>
            <pc:docMk/>
            <pc:sldMk cId="2069494326" sldId="2147479957"/>
            <ac:graphicFrameMk id="4" creationId="{36FD0F29-AC0B-85B1-331F-5B5691401DBE}"/>
          </ac:graphicFrameMkLst>
        </pc:graphicFrameChg>
        <pc:graphicFrameChg chg="add mod modGraphic">
          <ac:chgData name="ram krishnan" userId="746ada9dc9ba7cb7" providerId="LiveId" clId="{416D2906-BD35-4683-B3CE-AE302B644C3A}" dt="2026-01-29T04:20:33.261" v="8733" actId="20577"/>
          <ac:graphicFrameMkLst>
            <pc:docMk/>
            <pc:sldMk cId="2069494326" sldId="2147479957"/>
            <ac:graphicFrameMk id="5" creationId="{B8F1B1E7-AFF0-AA6B-E7AF-0405C163406C}"/>
          </ac:graphicFrameMkLst>
        </pc:graphicFrameChg>
      </pc:sldChg>
      <pc:sldChg chg="addSp delSp modSp add mod setBg">
        <pc:chgData name="ram krishnan" userId="746ada9dc9ba7cb7" providerId="LiveId" clId="{416D2906-BD35-4683-B3CE-AE302B644C3A}" dt="2026-01-29T04:21:37.305" v="8747"/>
        <pc:sldMkLst>
          <pc:docMk/>
          <pc:sldMk cId="1114259937" sldId="2147479958"/>
        </pc:sldMkLst>
        <pc:spChg chg="mod">
          <ac:chgData name="ram krishnan" userId="746ada9dc9ba7cb7" providerId="LiveId" clId="{416D2906-BD35-4683-B3CE-AE302B644C3A}" dt="2026-01-29T04:20:53.221" v="8744" actId="20577"/>
          <ac:spMkLst>
            <pc:docMk/>
            <pc:sldMk cId="1114259937" sldId="2147479958"/>
            <ac:spMk id="9" creationId="{E043B385-3E32-A311-7263-BE150730B424}"/>
          </ac:spMkLst>
        </pc:spChg>
        <pc:graphicFrameChg chg="add mod modGraphic">
          <ac:chgData name="ram krishnan" userId="746ada9dc9ba7cb7" providerId="LiveId" clId="{416D2906-BD35-4683-B3CE-AE302B644C3A}" dt="2026-01-29T04:21:37.305" v="8747"/>
          <ac:graphicFrameMkLst>
            <pc:docMk/>
            <pc:sldMk cId="1114259937" sldId="2147479958"/>
            <ac:graphicFrameMk id="2" creationId="{9B3FE8C2-56D9-A869-BC0D-9865221DC63E}"/>
          </ac:graphicFrameMkLst>
        </pc:graphicFrameChg>
        <pc:graphicFrameChg chg="del">
          <ac:chgData name="ram krishnan" userId="746ada9dc9ba7cb7" providerId="LiveId" clId="{416D2906-BD35-4683-B3CE-AE302B644C3A}" dt="2026-01-29T04:13:34.523" v="8537" actId="478"/>
          <ac:graphicFrameMkLst>
            <pc:docMk/>
            <pc:sldMk cId="1114259937" sldId="2147479958"/>
            <ac:graphicFrameMk id="3" creationId="{42CC29AD-96D6-4AA6-5393-91831DE19407}"/>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67311"/>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67311"/>
          </a:xfrm>
          <a:prstGeom prst="rect">
            <a:avLst/>
          </a:prstGeom>
        </p:spPr>
        <p:txBody>
          <a:bodyPr vert="horz" lIns="91440" tIns="45720" rIns="91440" bIns="45720" rtlCol="0"/>
          <a:lstStyle>
            <a:lvl1pPr algn="r">
              <a:defRPr sz="1200"/>
            </a:lvl1pPr>
          </a:lstStyle>
          <a:p>
            <a:fld id="{E10B726A-C477-6444-83BF-F1538D69AD12}" type="datetimeFigureOut">
              <a:rPr lang="en-US" smtClean="0"/>
              <a:t>1/28/2026</a:t>
            </a:fld>
            <a:endParaRPr lang="en-US" dirty="0"/>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846554"/>
            <a:ext cx="2971800" cy="46731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846554"/>
            <a:ext cx="2971800" cy="467310"/>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dirty="0"/>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25438" y="698500"/>
            <a:ext cx="6207125" cy="3492500"/>
          </a:xfrm>
          <a:prstGeom prst="rect">
            <a:avLst/>
          </a:prstGeom>
        </p:spPr>
        <p:txBody>
          <a:bodyPr/>
          <a:lstStyle/>
          <a:p>
            <a:endParaRPr dirty="0"/>
          </a:p>
        </p:txBody>
      </p:sp>
      <p:sp>
        <p:nvSpPr>
          <p:cNvPr id="1056" name="Shape 1056"/>
          <p:cNvSpPr>
            <a:spLocks noGrp="1"/>
          </p:cNvSpPr>
          <p:nvPr>
            <p:ph type="body" sz="quarter" idx="1"/>
          </p:nvPr>
        </p:nvSpPr>
        <p:spPr>
          <a:xfrm>
            <a:off x="914400" y="4424085"/>
            <a:ext cx="5029200" cy="4191238"/>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vpnalert.com/best-virtual-private-network/geo-spoofing/" TargetMode="External"/><Relationship Id="rId3" Type="http://schemas.openxmlformats.org/officeDocument/2006/relationships/hyperlink" Target="https://datatracker.ietf.org/doc/html/rfc6750" TargetMode="External"/><Relationship Id="rId7" Type="http://schemas.openxmlformats.org/officeDocument/2006/relationships/hyperlink" Target="https://learn.microsoft.com/en-us/azure/web-application-firewall/ag/geomatch-custom-rules"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owasp.org/Top10/A05_2021-Security_Misconfiguration/" TargetMode="External"/><Relationship Id="rId5" Type="http://schemas.openxmlformats.org/officeDocument/2006/relationships/hyperlink" Target="https://www.rfc-editor.org/rfc/rfc7800" TargetMode="External"/><Relationship Id="rId4" Type="http://schemas.openxmlformats.org/officeDocument/2006/relationships/hyperlink" Target="https://www.portnox.com/blog/cyber-attacks/unpacking-the-okta-data-breach/"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90000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285750" marR="0" lvl="0" indent="-285750" algn="l" defTabSz="457200" rtl="0" eaLnBrk="1" fontAlgn="auto" latinLnBrk="0" hangingPunct="1">
              <a:lnSpc>
                <a:spcPct val="100000"/>
              </a:lnSpc>
              <a:spcBef>
                <a:spcPts val="0"/>
              </a:spcBef>
              <a:spcAft>
                <a:spcPts val="600"/>
              </a:spcAft>
              <a:buClrTx/>
              <a:buSzTx/>
              <a:buFontTx/>
              <a:buChar char="-"/>
              <a:tabLst/>
              <a:defRPr/>
            </a:pPr>
            <a:r>
              <a:rPr lang="en-US" sz="1800" dirty="0">
                <a:solidFill>
                  <a:schemeClr val="tx1"/>
                </a:solidFill>
                <a:latin typeface="+mj-lt"/>
              </a:rPr>
              <a:t>Includes country local legal mandates on data localization (China, Russia, India etc.) - e.g., sensitive data like financial or personal data should not leave the country.</a:t>
            </a:r>
          </a:p>
          <a:p>
            <a:pPr marL="285750" marR="0" indent="-285750">
              <a:spcAft>
                <a:spcPts val="600"/>
              </a:spcAft>
              <a:buFontTx/>
              <a:buChar char="-"/>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In this deployment model:</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decryption key is securely stored in a Hardware Security Module (HSM)-based key vault located in data centers (DCs) with high physical security, usually in a central location.</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encrypted AI model is also stored in DCs with high physical security.</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inferencing application runs within a Confidential Computing (CC) environment, where the model is processed in memory. This application is distributed across DCs with moderate physical security, often located at the edge.</a:t>
            </a:r>
          </a:p>
          <a:p>
            <a:pPr marL="0" marR="0">
              <a:spcAft>
                <a:spcPts val="600"/>
              </a:spcAft>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Upon starting or restarting, the AI inferencing application follows three basic steps:</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Fetches the model decryption key from the HSM-based key vault.</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Retrieves the encrypted AI model from storage and decrypts it using the decryption key.</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The application is then ready to serve enterprise end users.</a:t>
            </a:r>
          </a:p>
          <a:p>
            <a:endParaRPr lang="en-US" dirty="0"/>
          </a:p>
        </p:txBody>
      </p:sp>
    </p:spTree>
    <p:extLst>
      <p:ext uri="{BB962C8B-B14F-4D97-AF65-F5344CB8AC3E}">
        <p14:creationId xmlns:p14="http://schemas.microsoft.com/office/powerpoint/2010/main" val="2132390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Supply chain security</a:t>
            </a:r>
            <a:br>
              <a:rPr lang="en-US" dirty="0"/>
            </a:br>
            <a:r>
              <a:rPr lang="en-US" dirty="0"/>
              <a:t>- ML supply chain provenance – which verifiable geolocation was the training data generated</a:t>
            </a:r>
          </a:p>
        </p:txBody>
      </p:sp>
    </p:spTree>
    <p:extLst>
      <p:ext uri="{BB962C8B-B14F-4D97-AF65-F5344CB8AC3E}">
        <p14:creationId xmlns:p14="http://schemas.microsoft.com/office/powerpoint/2010/main" val="1661322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CDD18-8A30-0143-F96A-F59774D46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E7ED4-31EB-3052-09C4-5248E69541E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861E8EF-40B5-6AF8-1297-603B3E907F96}"/>
              </a:ext>
            </a:extLst>
          </p:cNvPr>
          <p:cNvSpPr>
            <a:spLocks noGrp="1"/>
          </p:cNvSpPr>
          <p:nvPr>
            <p:ph type="body" idx="1"/>
          </p:nvPr>
        </p:nvSpPr>
        <p:spPr/>
        <p:txBody>
          <a:bodyPr/>
          <a:lstStyle/>
          <a:p>
            <a:r>
              <a:rPr lang="en-US" dirty="0"/>
              <a:t>Supply chain security</a:t>
            </a:r>
            <a:br>
              <a:rPr lang="en-US" dirty="0"/>
            </a:br>
            <a:r>
              <a:rPr lang="en-US" dirty="0"/>
              <a:t>- ML supply chain provenance – which verifiable geolocation was the training data generated</a:t>
            </a:r>
          </a:p>
        </p:txBody>
      </p:sp>
    </p:spTree>
    <p:extLst>
      <p:ext uri="{BB962C8B-B14F-4D97-AF65-F5344CB8AC3E}">
        <p14:creationId xmlns:p14="http://schemas.microsoft.com/office/powerpoint/2010/main" val="319774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E1D0A-D24B-EFCD-39D9-2636BB426E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974B5-2753-D19F-EDA2-37A2C2E9D22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751D174-26F1-EAE3-992F-F9D1D4614180}"/>
              </a:ext>
            </a:extLst>
          </p:cNvPr>
          <p:cNvSpPr>
            <a:spLocks noGrp="1"/>
          </p:cNvSpPr>
          <p:nvPr>
            <p:ph type="body" idx="1"/>
          </p:nvPr>
        </p:nvSpPr>
        <p:spPr/>
        <p:txBody>
          <a:bodyPr/>
          <a:lstStyle/>
          <a:p>
            <a:r>
              <a:rPr lang="en-US" dirty="0"/>
              <a:t>Supply chain security</a:t>
            </a:r>
            <a:br>
              <a:rPr lang="en-US" dirty="0"/>
            </a:br>
            <a:r>
              <a:rPr lang="en-US" dirty="0"/>
              <a:t>- ML supply chain provenance – which verifiable geolocation was the training data generated</a:t>
            </a:r>
          </a:p>
        </p:txBody>
      </p:sp>
    </p:spTree>
    <p:extLst>
      <p:ext uri="{BB962C8B-B14F-4D97-AF65-F5344CB8AC3E}">
        <p14:creationId xmlns:p14="http://schemas.microsoft.com/office/powerpoint/2010/main" val="1162661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31B0B-AFFA-3F2C-A127-97210B960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5E8D7B-D50B-4731-1F25-482B3C94229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4F7BC32-AF15-6149-054E-CA3DDADA2A9C}"/>
              </a:ext>
            </a:extLst>
          </p:cNvPr>
          <p:cNvSpPr>
            <a:spLocks noGrp="1"/>
          </p:cNvSpPr>
          <p:nvPr>
            <p:ph type="body" idx="1"/>
          </p:nvPr>
        </p:nvSpPr>
        <p:spPr/>
        <p:txBody>
          <a:bodyPr/>
          <a:lstStyle/>
          <a:p>
            <a:pPr marL="285750" indent="-285750">
              <a:spcBef>
                <a:spcPts val="0"/>
              </a:spcBef>
              <a:buFont typeface="Arial" panose="020B0604020202020204" pitchFamily="34" charset="0"/>
              <a:buChar char="•"/>
            </a:pPr>
            <a:r>
              <a:rPr lang="en-US" b="1" dirty="0">
                <a:solidFill>
                  <a:schemeClr val="tx1">
                    <a:lumMod val="50000"/>
                  </a:schemeClr>
                </a:solidFill>
                <a:ea typeface="Aptos" panose="020B0004020202020204" pitchFamily="34" charset="0"/>
                <a:cs typeface="Arial" panose="020B0604020202020204" pitchFamily="34" charset="0"/>
              </a:rPr>
              <a:t>Current host affinity realization  challenges</a:t>
            </a:r>
          </a:p>
          <a:p>
            <a:pPr marL="742950" lvl="1" indent="-285750">
              <a:spcBef>
                <a:spcPts val="0"/>
              </a:spcBef>
              <a:buFont typeface="Arial" panose="020B0604020202020204" pitchFamily="34" charset="0"/>
              <a:buChar char="•"/>
            </a:pPr>
            <a:endParaRPr lang="en-US" dirty="0">
              <a:solidFill>
                <a:schemeClr val="tx1">
                  <a:lumMod val="50000"/>
                </a:schemeClr>
              </a:solidFill>
              <a:ea typeface="Aptos" panose="020B0004020202020204" pitchFamily="34" charset="0"/>
              <a:cs typeface="Arial" panose="020B0604020202020204" pitchFamily="34" charset="0"/>
            </a:endParaRPr>
          </a:p>
          <a:p>
            <a:pPr marL="742950" lvl="1" indent="-285750">
              <a:spcBef>
                <a:spcPts val="0"/>
              </a:spcBef>
              <a:buFont typeface="Arial" panose="020B0604020202020204" pitchFamily="34" charset="0"/>
              <a:buChar char="•"/>
            </a:pPr>
            <a:r>
              <a:rPr lang="en-US" dirty="0">
                <a:solidFill>
                  <a:schemeClr val="tx1">
                    <a:lumMod val="50000"/>
                  </a:schemeClr>
                </a:solidFill>
                <a:ea typeface="Aptos" panose="020B0004020202020204" pitchFamily="34" charset="0"/>
                <a:cs typeface="Arial" panose="020B0604020202020204" pitchFamily="34" charset="0"/>
              </a:rPr>
              <a:t>Workload token </a:t>
            </a:r>
            <a:r>
              <a:rPr lang="en-US" dirty="0">
                <a:solidFill>
                  <a:srgbClr val="C00000"/>
                </a:solidFill>
                <a:ea typeface="Aptos" panose="020B0004020202020204" pitchFamily="34" charset="0"/>
                <a:cs typeface="Arial" panose="020B0604020202020204" pitchFamily="34" charset="0"/>
              </a:rPr>
              <a:t>(</a:t>
            </a:r>
            <a:r>
              <a:rPr lang="en-US" dirty="0">
                <a:solidFill>
                  <a:srgbClr val="C00000"/>
                </a:solidFill>
                <a:ea typeface="Aptos" panose="020B00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RFC 6750: bearer token</a:t>
            </a:r>
            <a:r>
              <a:rPr lang="en-US" dirty="0">
                <a:solidFill>
                  <a:srgbClr val="C00000"/>
                </a:solidFill>
                <a:ea typeface="Aptos" panose="020B0004020202020204" pitchFamily="34" charset="0"/>
                <a:cs typeface="Arial" panose="020B0604020202020204" pitchFamily="34" charset="0"/>
              </a:rPr>
              <a:t>) </a:t>
            </a:r>
            <a:r>
              <a:rPr lang="en-US" dirty="0">
                <a:solidFill>
                  <a:schemeClr val="tx1">
                    <a:lumMod val="50000"/>
                  </a:schemeClr>
                </a:solidFill>
                <a:ea typeface="Aptos" panose="020B0004020202020204" pitchFamily="34" charset="0"/>
                <a:cs typeface="Arial" panose="020B0604020202020204" pitchFamily="34" charset="0"/>
              </a:rPr>
              <a:t>used for access control of inference app, secret management, and model storage can be stolen </a:t>
            </a:r>
            <a:r>
              <a:rPr lang="en-US" dirty="0">
                <a:solidFill>
                  <a:srgbClr val="C00000"/>
                </a:solidFill>
                <a:ea typeface="Aptos" panose="020B0004020202020204" pitchFamily="34" charset="0"/>
                <a:cs typeface="Arial" panose="020B0604020202020204" pitchFamily="34" charset="0"/>
              </a:rPr>
              <a:t>(e.g., </a:t>
            </a:r>
            <a:r>
              <a:rPr lang="en-US" dirty="0">
                <a:solidFill>
                  <a:srgbClr val="C00000"/>
                </a:solidFill>
                <a:ea typeface="Aptos" panose="020B00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Okta breach</a:t>
            </a:r>
            <a:r>
              <a:rPr lang="en-US" dirty="0">
                <a:solidFill>
                  <a:srgbClr val="C00000"/>
                </a:solidFill>
                <a:ea typeface="Aptos" panose="020B0004020202020204" pitchFamily="34" charset="0"/>
                <a:cs typeface="Arial" panose="020B0604020202020204" pitchFamily="34" charset="0"/>
              </a:rPr>
              <a:t>) </a:t>
            </a:r>
            <a:r>
              <a:rPr lang="en-US" dirty="0">
                <a:solidFill>
                  <a:schemeClr val="tx1">
                    <a:lumMod val="50000"/>
                  </a:schemeClr>
                </a:solidFill>
                <a:ea typeface="Aptos" panose="020B0004020202020204" pitchFamily="34" charset="0"/>
                <a:cs typeface="Arial" panose="020B0604020202020204" pitchFamily="34" charset="0"/>
              </a:rPr>
              <a:t>and used from unauthorized workloads/hosts/regions.</a:t>
            </a:r>
          </a:p>
          <a:p>
            <a:pPr marL="742950" lvl="1" indent="-285750">
              <a:spcBef>
                <a:spcPts val="0"/>
              </a:spcBef>
              <a:buFont typeface="Arial" panose="020B0604020202020204" pitchFamily="34" charset="0"/>
              <a:buChar char="•"/>
            </a:pPr>
            <a:endParaRPr lang="en-US" dirty="0">
              <a:solidFill>
                <a:schemeClr val="tx1">
                  <a:lumMod val="50000"/>
                </a:schemeClr>
              </a:solidFill>
              <a:cs typeface="Arial" panose="020B0604020202020204" pitchFamily="34" charset="0"/>
            </a:endParaRPr>
          </a:p>
          <a:p>
            <a:pPr marL="742950" lvl="1" indent="-285750">
              <a:spcBef>
                <a:spcPts val="0"/>
              </a:spcBef>
              <a:buFont typeface="Arial" panose="020B0604020202020204" pitchFamily="34" charset="0"/>
              <a:buChar char="•"/>
            </a:pPr>
            <a:r>
              <a:rPr lang="en-US" dirty="0">
                <a:solidFill>
                  <a:schemeClr val="tx1">
                    <a:lumMod val="50000"/>
                  </a:schemeClr>
                </a:solidFill>
                <a:cs typeface="Arial" panose="020B0604020202020204" pitchFamily="34" charset="0"/>
              </a:rPr>
              <a:t>Workload private key bound to token </a:t>
            </a:r>
            <a:r>
              <a:rPr lang="en-US" dirty="0">
                <a:solidFill>
                  <a:srgbClr val="C00000"/>
                </a:solidFill>
                <a:cs typeface="Arial" panose="020B0604020202020204" pitchFamily="34" charset="0"/>
              </a:rPr>
              <a:t>(</a:t>
            </a:r>
            <a:r>
              <a:rPr lang="en-US" dirty="0">
                <a:solidFill>
                  <a:srgbClr val="C00000"/>
                </a:solidFill>
                <a:cs typeface="Arial" panose="020B0604020202020204" pitchFamily="34" charset="0"/>
                <a:hlinkClick r:id="rId5">
                  <a:extLst>
                    <a:ext uri="{A12FA001-AC4F-418D-AE19-62706E023703}">
                      <ahyp:hlinkClr xmlns:ahyp="http://schemas.microsoft.com/office/drawing/2018/hyperlinkcolor" val="tx"/>
                    </a:ext>
                  </a:extLst>
                </a:hlinkClick>
              </a:rPr>
              <a:t>RFC 7800: proof of possession token</a:t>
            </a:r>
            <a:r>
              <a:rPr lang="en-US" dirty="0">
                <a:solidFill>
                  <a:srgbClr val="C00000"/>
                </a:solidFill>
                <a:cs typeface="Arial" panose="020B0604020202020204" pitchFamily="34" charset="0"/>
              </a:rPr>
              <a:t>) </a:t>
            </a:r>
            <a:r>
              <a:rPr lang="en-US" dirty="0">
                <a:solidFill>
                  <a:schemeClr val="tx1">
                    <a:lumMod val="50000"/>
                  </a:schemeClr>
                </a:solidFill>
                <a:cs typeface="Arial" panose="020B0604020202020204" pitchFamily="34" charset="0"/>
              </a:rPr>
              <a:t>can be used from (1) unauthorized workloads (2) </a:t>
            </a:r>
            <a:r>
              <a:rPr lang="en-US" dirty="0">
                <a:solidFill>
                  <a:schemeClr val="tx1">
                    <a:lumMod val="50000"/>
                  </a:schemeClr>
                </a:solidFill>
                <a:ea typeface="Aptos" panose="020B0004020202020204" pitchFamily="34" charset="0"/>
                <a:cs typeface="Arial" panose="020B0604020202020204" pitchFamily="34" charset="0"/>
              </a:rPr>
              <a:t>authorized hosts in unauthorized regions due to misconfiguration </a:t>
            </a:r>
            <a:r>
              <a:rPr lang="en-US" dirty="0">
                <a:solidFill>
                  <a:srgbClr val="C00000"/>
                </a:solidFill>
                <a:ea typeface="Aptos" panose="020B0004020202020204" pitchFamily="34" charset="0"/>
                <a:cs typeface="Arial" panose="020B0604020202020204" pitchFamily="34" charset="0"/>
              </a:rPr>
              <a:t>(e.g., </a:t>
            </a:r>
            <a:r>
              <a:rPr lang="en-US" dirty="0">
                <a:solidFill>
                  <a:srgbClr val="C00000"/>
                </a:solidFill>
                <a:ea typeface="Aptos" panose="020B00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OWASP security misconfiguration </a:t>
            </a:r>
            <a:r>
              <a:rPr lang="en-US" dirty="0">
                <a:solidFill>
                  <a:srgbClr val="C00000"/>
                </a:solidFill>
                <a:ea typeface="Aptos" panose="020B0004020202020204" pitchFamily="34" charset="0"/>
                <a:cs typeface="Arial" panose="020B0604020202020204" pitchFamily="34" charset="0"/>
              </a:rPr>
              <a:t>of workload orchestrator)</a:t>
            </a:r>
            <a:r>
              <a:rPr lang="en-US" dirty="0">
                <a:solidFill>
                  <a:schemeClr val="tx1">
                    <a:lumMod val="50000"/>
                  </a:schemeClr>
                </a:solidFill>
                <a:ea typeface="Aptos" panose="020B0004020202020204" pitchFamily="34" charset="0"/>
                <a:cs typeface="Arial" panose="020B0604020202020204" pitchFamily="34" charset="0"/>
              </a:rPr>
              <a:t>.</a:t>
            </a:r>
            <a:endParaRPr lang="en-US" dirty="0">
              <a:solidFill>
                <a:schemeClr val="tx1">
                  <a:lumMod val="50000"/>
                </a:schemeClr>
              </a:solidFill>
              <a:cs typeface="Arial" panose="020B0604020202020204" pitchFamily="34" charset="0"/>
            </a:endParaRPr>
          </a:p>
          <a:p>
            <a:pPr>
              <a:spcBef>
                <a:spcPts val="0"/>
              </a:spcBef>
            </a:pPr>
            <a:endParaRPr lang="en-US" sz="2400" dirty="0">
              <a:solidFill>
                <a:schemeClr val="tx1">
                  <a:lumMod val="50000"/>
                </a:schemeClr>
              </a:solidFill>
              <a:ea typeface="Aptos" panose="020B0004020202020204" pitchFamily="34" charset="0"/>
              <a:cs typeface="Arial" panose="020B0604020202020204" pitchFamily="34" charset="0"/>
            </a:endParaRPr>
          </a:p>
          <a:p>
            <a:pPr marL="285750" indent="-285750">
              <a:spcBef>
                <a:spcPts val="0"/>
              </a:spcBef>
              <a:buFont typeface="Arial" panose="020B0604020202020204" pitchFamily="34" charset="0"/>
              <a:buChar char="•"/>
            </a:pPr>
            <a:endParaRPr lang="en-US" b="1" dirty="0">
              <a:solidFill>
                <a:schemeClr val="tx1">
                  <a:lumMod val="50000"/>
                </a:schemeClr>
              </a:solidFill>
              <a:ea typeface="Aptos" panose="020B0004020202020204" pitchFamily="34" charset="0"/>
              <a:cs typeface="Arial" panose="020B0604020202020204" pitchFamily="34" charset="0"/>
            </a:endParaRPr>
          </a:p>
          <a:p>
            <a:pPr marL="285750" indent="-285750">
              <a:spcBef>
                <a:spcPts val="0"/>
              </a:spcBef>
              <a:buFont typeface="Arial" panose="020B0604020202020204" pitchFamily="34" charset="0"/>
              <a:buChar char="•"/>
            </a:pPr>
            <a:r>
              <a:rPr lang="en-US" b="1" dirty="0">
                <a:solidFill>
                  <a:schemeClr val="tx1">
                    <a:lumMod val="50000"/>
                  </a:schemeClr>
                </a:solidFill>
                <a:ea typeface="Aptos" panose="020B0004020202020204" pitchFamily="34" charset="0"/>
                <a:cs typeface="Arial" panose="020B0604020202020204" pitchFamily="34" charset="0"/>
              </a:rPr>
              <a:t>Current geolocation affinity realization challenges</a:t>
            </a:r>
          </a:p>
          <a:p>
            <a:pPr marL="742950" lvl="1" indent="-285750">
              <a:spcBef>
                <a:spcPts val="0"/>
              </a:spcBef>
              <a:buFont typeface="Arial" panose="020B0604020202020204" pitchFamily="34" charset="0"/>
              <a:buChar char="•"/>
            </a:pPr>
            <a:r>
              <a:rPr lang="en-US" dirty="0">
                <a:solidFill>
                  <a:schemeClr val="tx1">
                    <a:lumMod val="50000"/>
                  </a:schemeClr>
                </a:solidFill>
                <a:ea typeface="Aptos" panose="020B0004020202020204" pitchFamily="34" charset="0"/>
                <a:cs typeface="Arial" panose="020B0604020202020204" pitchFamily="34" charset="0"/>
              </a:rPr>
              <a:t>Weak location sources like </a:t>
            </a:r>
            <a:r>
              <a:rPr lang="en-US" dirty="0">
                <a:solidFill>
                  <a:srgbClr val="C00000"/>
                </a:solidFill>
                <a:ea typeface="Aptos" panose="020B0004020202020204" pitchFamily="34" charset="0"/>
                <a:cs typeface="Arial" panose="020B0604020202020204" pitchFamily="34" charset="0"/>
              </a:rPr>
              <a:t>source IP address </a:t>
            </a:r>
            <a:r>
              <a:rPr lang="en-US" dirty="0">
                <a:solidFill>
                  <a:schemeClr val="tx1">
                    <a:lumMod val="50000"/>
                  </a:schemeClr>
                </a:solidFill>
                <a:ea typeface="Aptos" panose="020B0004020202020204" pitchFamily="34" charset="0"/>
                <a:cs typeface="Arial" panose="020B0604020202020204" pitchFamily="34" charset="0"/>
              </a:rPr>
              <a:t>(e.g., </a:t>
            </a:r>
            <a:r>
              <a:rPr lang="en-US" dirty="0">
                <a:solidFill>
                  <a:schemeClr val="tx1">
                    <a:lumMod val="50000"/>
                  </a:schemeClr>
                </a:solidFill>
                <a:ea typeface="Aptos" panose="020B00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current Firewall geofencing</a:t>
            </a:r>
            <a:r>
              <a:rPr lang="en-US" dirty="0">
                <a:solidFill>
                  <a:schemeClr val="tx1">
                    <a:lumMod val="50000"/>
                  </a:schemeClr>
                </a:solidFill>
                <a:ea typeface="Aptos" panose="020B0004020202020204" pitchFamily="34" charset="0"/>
                <a:cs typeface="Arial" panose="020B0604020202020204" pitchFamily="34" charset="0"/>
              </a:rPr>
              <a:t>) </a:t>
            </a:r>
            <a:r>
              <a:rPr lang="en-US" dirty="0">
                <a:solidFill>
                  <a:srgbClr val="C00000"/>
                </a:solidFill>
                <a:ea typeface="Aptos" panose="020B0004020202020204" pitchFamily="34" charset="0"/>
                <a:cs typeface="Arial" panose="020B0604020202020204" pitchFamily="34" charset="0"/>
              </a:rPr>
              <a:t>can be spoofed </a:t>
            </a:r>
            <a:r>
              <a:rPr lang="en-US" dirty="0">
                <a:solidFill>
                  <a:schemeClr val="tx1">
                    <a:lumMod val="50000"/>
                  </a:schemeClr>
                </a:solidFill>
                <a:ea typeface="Aptos" panose="020B0004020202020204" pitchFamily="34" charset="0"/>
                <a:cs typeface="Arial" panose="020B0604020202020204" pitchFamily="34" charset="0"/>
              </a:rPr>
              <a:t>(e.g., </a:t>
            </a:r>
            <a:r>
              <a:rPr lang="en-US" dirty="0">
                <a:solidFill>
                  <a:schemeClr val="tx1">
                    <a:lumMod val="50000"/>
                  </a:schemeClr>
                </a:solidFill>
                <a:ea typeface="Aptos" panose="020B00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VPN</a:t>
            </a:r>
            <a:r>
              <a:rPr lang="en-US" dirty="0">
                <a:solidFill>
                  <a:schemeClr val="tx1">
                    <a:lumMod val="50000"/>
                  </a:schemeClr>
                </a:solidFill>
                <a:ea typeface="Aptos" panose="020B00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600"/>
              </a:spcAft>
              <a:buClrTx/>
              <a:buSzTx/>
              <a:buFontTx/>
              <a:buNone/>
              <a:tabLst/>
              <a:defRPr/>
            </a:pPr>
            <a:endParaRPr lang="en-US" sz="1800" dirty="0"/>
          </a:p>
          <a:p>
            <a:pPr marL="285750" marR="0" lvl="0" indent="-285750" algn="l" defTabSz="457200" rtl="0" eaLnBrk="1" fontAlgn="auto" latinLnBrk="0" hangingPunct="1">
              <a:lnSpc>
                <a:spcPct val="100000"/>
              </a:lnSpc>
              <a:spcBef>
                <a:spcPts val="0"/>
              </a:spcBef>
              <a:spcAft>
                <a:spcPts val="600"/>
              </a:spcAft>
              <a:buClrTx/>
              <a:buSzTx/>
              <a:buFontTx/>
              <a:buChar char="-"/>
              <a:tabLst/>
              <a:defRPr/>
            </a:pPr>
            <a:r>
              <a:rPr lang="en-US" sz="1800" dirty="0"/>
              <a:t>Sensitive customer data (e.g., PII) is often pseudo anonymized from AI perspective for efficient anomaly detection (e.g., fraud detection); Original data can be recovered through a mapping key.</a:t>
            </a:r>
          </a:p>
          <a:p>
            <a:pPr marL="285750" marR="0" lvl="0" indent="-285750" algn="l" defTabSz="457200" rtl="0" eaLnBrk="1" fontAlgn="auto" latinLnBrk="0" hangingPunct="1">
              <a:lnSpc>
                <a:spcPct val="100000"/>
              </a:lnSpc>
              <a:spcBef>
                <a:spcPts val="0"/>
              </a:spcBef>
              <a:spcAft>
                <a:spcPts val="600"/>
              </a:spcAft>
              <a:buClrTx/>
              <a:buSzTx/>
              <a:buFontTx/>
              <a:buChar char="-"/>
              <a:tabLst/>
              <a:defRPr/>
            </a:pPr>
            <a:endParaRPr lang="en-US" sz="1800" dirty="0">
              <a:solidFill>
                <a:schemeClr val="tx1"/>
              </a:solidFill>
              <a:latin typeface="+mj-lt"/>
            </a:endParaRPr>
          </a:p>
          <a:p>
            <a:pPr marL="285750" marR="0" lvl="0" indent="-285750" algn="l" defTabSz="457200" rtl="0" eaLnBrk="1" fontAlgn="auto" latinLnBrk="0" hangingPunct="1">
              <a:lnSpc>
                <a:spcPct val="100000"/>
              </a:lnSpc>
              <a:spcBef>
                <a:spcPts val="0"/>
              </a:spcBef>
              <a:spcAft>
                <a:spcPts val="600"/>
              </a:spcAft>
              <a:buClrTx/>
              <a:buSzTx/>
              <a:buFontTx/>
              <a:buChar char="-"/>
              <a:tabLst/>
              <a:defRPr/>
            </a:pPr>
            <a:r>
              <a:rPr lang="en-US" sz="1800" dirty="0">
                <a:solidFill>
                  <a:schemeClr val="tx1"/>
                </a:solidFill>
                <a:latin typeface="+mj-lt"/>
              </a:rPr>
              <a:t>Includes country local legal mandates on data localization (China, Russia, India etc.) - e.g., sensitive data like financial or personal data should not leave the country.</a:t>
            </a:r>
          </a:p>
          <a:p>
            <a:pPr marL="285750" marR="0" lvl="0" indent="-285750" algn="l" defTabSz="457200" rtl="0" eaLnBrk="1" fontAlgn="auto" latinLnBrk="0" hangingPunct="1">
              <a:lnSpc>
                <a:spcPct val="100000"/>
              </a:lnSpc>
              <a:spcBef>
                <a:spcPts val="0"/>
              </a:spcBef>
              <a:spcAft>
                <a:spcPts val="600"/>
              </a:spcAft>
              <a:buClrTx/>
              <a:buSzTx/>
              <a:buFontTx/>
              <a:buChar char="-"/>
              <a:tabLst/>
              <a:defRPr/>
            </a:pPr>
            <a:endParaRPr lang="en-US" sz="1800" dirty="0">
              <a:solidFill>
                <a:schemeClr val="tx1"/>
              </a:solidFill>
              <a:latin typeface="+mj-lt"/>
            </a:endParaRPr>
          </a:p>
          <a:p>
            <a:r>
              <a:rPr lang="en-US" sz="1100" b="0" i="0" dirty="0">
                <a:effectLst/>
                <a:latin typeface="+mn-lt"/>
                <a:ea typeface="+mn-ea"/>
                <a:cs typeface="+mn-cs"/>
                <a:sym typeface="Helvetica Neue"/>
              </a:rPr>
              <a:t>2. Are Okta session tokens pre-authorized to access certain resources? </a:t>
            </a:r>
          </a:p>
          <a:p>
            <a:r>
              <a:rPr lang="en-US" sz="1100" b="0" i="0" dirty="0">
                <a:effectLst/>
                <a:latin typeface="+mn-lt"/>
                <a:ea typeface="+mn-ea"/>
                <a:cs typeface="+mn-cs"/>
                <a:sym typeface="Helvetica Neue"/>
              </a:rPr>
              <a:t>Yes, Okta session tokens, like other bearer tokens, grant access based on their existence and the permissions within them. The scope of a session token defines what actions the token holder can perform and which resources they can access. </a:t>
            </a:r>
          </a:p>
          <a:p>
            <a:r>
              <a:rPr lang="en-US" sz="1100" b="0" i="0" dirty="0">
                <a:effectLst/>
                <a:latin typeface="+mn-lt"/>
                <a:ea typeface="+mn-ea"/>
                <a:cs typeface="+mn-cs"/>
                <a:sym typeface="Helvetica Neue"/>
              </a:rPr>
              <a:t>An Okta access token (a bearer token) accesses protected resources, such as APIs hosted on the Okta platform. The token's scope parameter defines its permissions. For example, the okta.users.manage scope allows managing users with that token. </a:t>
            </a:r>
          </a:p>
          <a:p>
            <a:pPr marL="0" marR="0" lvl="0" indent="0" algn="l" defTabSz="457200" rtl="0" eaLnBrk="1" fontAlgn="auto" latinLnBrk="0" hangingPunct="1">
              <a:lnSpc>
                <a:spcPct val="100000"/>
              </a:lnSpc>
              <a:spcBef>
                <a:spcPts val="0"/>
              </a:spcBef>
              <a:spcAft>
                <a:spcPts val="600"/>
              </a:spcAft>
              <a:buClrTx/>
              <a:buSzTx/>
              <a:buFontTx/>
              <a:buNone/>
              <a:tabLst/>
              <a:defRPr/>
            </a:pPr>
            <a:endParaRPr lang="en-US" sz="1800" dirty="0">
              <a:solidFill>
                <a:schemeClr val="tx1"/>
              </a:solidFill>
              <a:latin typeface="+mj-lt"/>
            </a:endParaRPr>
          </a:p>
          <a:p>
            <a:pPr marL="285750" marR="0" indent="-285750">
              <a:spcAft>
                <a:spcPts val="600"/>
              </a:spcAft>
              <a:buFontTx/>
              <a:buChar char="-"/>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In this deployment model:</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decryption key is securely stored in a Hardware Security Module (HSM)-based key vault located in data centers (DCs) with high physical security, usually in a central location.</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encrypted AI model is also stored in DCs with high physical security.</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inferencing application runs within a Confidential Computing (CC) environment, where the model is processed in memory. This application is distributed across DCs with moderate physical security, often located at the edge.</a:t>
            </a:r>
          </a:p>
          <a:p>
            <a:pPr marL="0" marR="0">
              <a:spcAft>
                <a:spcPts val="600"/>
              </a:spcAft>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Upon starting or restarting, the AI inferencing application follows three basic steps:</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Fetches the model decryption key from the HSM-based key vault.</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Retrieves the encrypted AI model from storage and decrypts it using the decryption key.</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The application is then ready to serve enterprise end users.</a:t>
            </a:r>
          </a:p>
          <a:p>
            <a:endParaRPr lang="en-US" dirty="0"/>
          </a:p>
        </p:txBody>
      </p:sp>
    </p:spTree>
    <p:extLst>
      <p:ext uri="{BB962C8B-B14F-4D97-AF65-F5344CB8AC3E}">
        <p14:creationId xmlns:p14="http://schemas.microsoft.com/office/powerpoint/2010/main" val="1847121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DA340-3E37-AEEB-2C21-76F12678DB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5CB80-22E0-D14D-81D4-2895EE460FA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9291436-D6CD-4C9B-E8D8-1014F686A925}"/>
              </a:ext>
            </a:extLst>
          </p:cNvPr>
          <p:cNvSpPr>
            <a:spLocks noGrp="1"/>
          </p:cNvSpPr>
          <p:nvPr>
            <p:ph type="body" idx="1"/>
          </p:nvPr>
        </p:nvSpPr>
        <p:spPr/>
        <p:txBody>
          <a:bodyPr/>
          <a:lstStyle/>
          <a:p>
            <a:pPr marL="285750" marR="0" lvl="0" indent="-285750" algn="l" defTabSz="457200" rtl="0" eaLnBrk="1" fontAlgn="auto" latinLnBrk="0" hangingPunct="1">
              <a:lnSpc>
                <a:spcPct val="100000"/>
              </a:lnSpc>
              <a:spcBef>
                <a:spcPts val="0"/>
              </a:spcBef>
              <a:spcAft>
                <a:spcPts val="600"/>
              </a:spcAft>
              <a:buClrTx/>
              <a:buSzTx/>
              <a:buFontTx/>
              <a:buChar char="-"/>
              <a:tabLst/>
              <a:defRPr/>
            </a:pPr>
            <a:r>
              <a:rPr lang="en-US" sz="1800" dirty="0"/>
              <a:t>Sensitive customer data (e.g., PII) is often pseudo anonymized from AI perspective for efficient anomaly detection (e.g., fraud detection); Original data can be recovered through a mapping key.</a:t>
            </a:r>
          </a:p>
          <a:p>
            <a:pPr marL="285750" marR="0" lvl="0" indent="-285750" algn="l" defTabSz="457200" rtl="0" eaLnBrk="1" fontAlgn="auto" latinLnBrk="0" hangingPunct="1">
              <a:lnSpc>
                <a:spcPct val="100000"/>
              </a:lnSpc>
              <a:spcBef>
                <a:spcPts val="0"/>
              </a:spcBef>
              <a:spcAft>
                <a:spcPts val="600"/>
              </a:spcAft>
              <a:buClrTx/>
              <a:buSzTx/>
              <a:buFontTx/>
              <a:buChar char="-"/>
              <a:tabLst/>
              <a:defRPr/>
            </a:pPr>
            <a:endParaRPr lang="en-US" sz="1800" dirty="0">
              <a:solidFill>
                <a:schemeClr val="tx1"/>
              </a:solidFill>
              <a:latin typeface="+mj-lt"/>
            </a:endParaRPr>
          </a:p>
          <a:p>
            <a:pPr marL="285750" marR="0" lvl="0" indent="-285750" algn="l" defTabSz="457200" rtl="0" eaLnBrk="1" fontAlgn="auto" latinLnBrk="0" hangingPunct="1">
              <a:lnSpc>
                <a:spcPct val="100000"/>
              </a:lnSpc>
              <a:spcBef>
                <a:spcPts val="0"/>
              </a:spcBef>
              <a:spcAft>
                <a:spcPts val="600"/>
              </a:spcAft>
              <a:buClrTx/>
              <a:buSzTx/>
              <a:buFontTx/>
              <a:buChar char="-"/>
              <a:tabLst/>
              <a:defRPr/>
            </a:pPr>
            <a:r>
              <a:rPr lang="en-US" sz="1800" dirty="0">
                <a:solidFill>
                  <a:schemeClr val="tx1"/>
                </a:solidFill>
                <a:latin typeface="+mj-lt"/>
              </a:rPr>
              <a:t>Includes country local legal mandates on data localization (China, Russia, India etc.) - e.g., sensitive data like financial or personal data should not leave the country.</a:t>
            </a:r>
          </a:p>
          <a:p>
            <a:pPr marL="285750" marR="0" lvl="0" indent="-285750" algn="l" defTabSz="457200" rtl="0" eaLnBrk="1" fontAlgn="auto" latinLnBrk="0" hangingPunct="1">
              <a:lnSpc>
                <a:spcPct val="100000"/>
              </a:lnSpc>
              <a:spcBef>
                <a:spcPts val="0"/>
              </a:spcBef>
              <a:spcAft>
                <a:spcPts val="600"/>
              </a:spcAft>
              <a:buClrTx/>
              <a:buSzTx/>
              <a:buFontTx/>
              <a:buChar char="-"/>
              <a:tabLst/>
              <a:defRPr/>
            </a:pPr>
            <a:endParaRPr lang="en-US" sz="1800" dirty="0">
              <a:solidFill>
                <a:schemeClr val="tx1"/>
              </a:solidFill>
              <a:latin typeface="+mj-lt"/>
            </a:endParaRPr>
          </a:p>
          <a:p>
            <a:r>
              <a:rPr lang="en-US" sz="1100" b="0" i="0" dirty="0">
                <a:effectLst/>
                <a:latin typeface="+mn-lt"/>
                <a:ea typeface="+mn-ea"/>
                <a:cs typeface="+mn-cs"/>
                <a:sym typeface="Helvetica Neue"/>
              </a:rPr>
              <a:t>2. Are Okta session tokens pre-authorized to access certain resources? </a:t>
            </a:r>
          </a:p>
          <a:p>
            <a:r>
              <a:rPr lang="en-US" sz="1100" b="0" i="0" dirty="0">
                <a:effectLst/>
                <a:latin typeface="+mn-lt"/>
                <a:ea typeface="+mn-ea"/>
                <a:cs typeface="+mn-cs"/>
                <a:sym typeface="Helvetica Neue"/>
              </a:rPr>
              <a:t>Yes, Okta session tokens, like other bearer tokens, grant access based on their existence and the permissions within them. The scope of a session token defines what actions the token holder can perform and which resources they can access. </a:t>
            </a:r>
          </a:p>
          <a:p>
            <a:r>
              <a:rPr lang="en-US" sz="1100" b="0" i="0" dirty="0">
                <a:effectLst/>
                <a:latin typeface="+mn-lt"/>
                <a:ea typeface="+mn-ea"/>
                <a:cs typeface="+mn-cs"/>
                <a:sym typeface="Helvetica Neue"/>
              </a:rPr>
              <a:t>An Okta access token (a bearer token) accesses protected resources, such as APIs hosted on the Okta platform. The token's scope parameter defines its permissions. For example, the okta.users.manage scope allows managing users with that token. </a:t>
            </a:r>
          </a:p>
          <a:p>
            <a:pPr marL="0" marR="0" lvl="0" indent="0" algn="l" defTabSz="457200" rtl="0" eaLnBrk="1" fontAlgn="auto" latinLnBrk="0" hangingPunct="1">
              <a:lnSpc>
                <a:spcPct val="100000"/>
              </a:lnSpc>
              <a:spcBef>
                <a:spcPts val="0"/>
              </a:spcBef>
              <a:spcAft>
                <a:spcPts val="600"/>
              </a:spcAft>
              <a:buClrTx/>
              <a:buSzTx/>
              <a:buFontTx/>
              <a:buNone/>
              <a:tabLst/>
              <a:defRPr/>
            </a:pPr>
            <a:endParaRPr lang="en-US" sz="1800" dirty="0">
              <a:solidFill>
                <a:schemeClr val="tx1"/>
              </a:solidFill>
              <a:latin typeface="+mj-lt"/>
            </a:endParaRPr>
          </a:p>
          <a:p>
            <a:pPr marL="285750" marR="0" indent="-285750">
              <a:spcAft>
                <a:spcPts val="600"/>
              </a:spcAft>
              <a:buFontTx/>
              <a:buChar char="-"/>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In this deployment model:</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decryption key is securely stored in a Hardware Security Module (HSM)-based key vault located in data centers (DCs) with high physical security, usually in a central location.</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encrypted AI model is also stored in DCs with high physical security.</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inferencing application runs within a Confidential Computing (CC) environment, where the model is processed in memory. This application is distributed across DCs with moderate physical security, often located at the edge.</a:t>
            </a:r>
          </a:p>
          <a:p>
            <a:pPr marL="0" marR="0">
              <a:spcAft>
                <a:spcPts val="600"/>
              </a:spcAft>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Upon starting or restarting, the AI inferencing application follows three basic steps:</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Fetches the model decryption key from the HSM-based key vault.</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Retrieves the encrypted AI model from storage and decrypts it using the decryption key.</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The application is then ready to serve enterprise end users.</a:t>
            </a:r>
          </a:p>
          <a:p>
            <a:endParaRPr lang="en-US" dirty="0"/>
          </a:p>
        </p:txBody>
      </p:sp>
    </p:spTree>
    <p:extLst>
      <p:ext uri="{BB962C8B-B14F-4D97-AF65-F5344CB8AC3E}">
        <p14:creationId xmlns:p14="http://schemas.microsoft.com/office/powerpoint/2010/main" val="1211367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D6BB1-CD67-A04C-3F92-31AD53E99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DB021F-25A8-4CCD-FC9D-514582BFFA3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C2C418B-FC93-11FF-C48E-AF0DEFB9134A}"/>
              </a:ext>
            </a:extLst>
          </p:cNvPr>
          <p:cNvSpPr>
            <a:spLocks noGrp="1"/>
          </p:cNvSpPr>
          <p:nvPr>
            <p:ph type="body" idx="1"/>
          </p:nvPr>
        </p:nvSpPr>
        <p:spPr/>
        <p:txBody>
          <a:bodyPr/>
          <a:lstStyle/>
          <a:p>
            <a:r>
              <a:rPr lang="en-US" b="1" dirty="0"/>
              <a:t>Act 1: The Setup (Trusted Infrastructure)</a:t>
            </a:r>
          </a:p>
          <a:p>
            <a:r>
              <a:rPr lang="en-US" b="1" dirty="0"/>
              <a:t>Display Slide:</a:t>
            </a:r>
            <a:r>
              <a:rPr lang="en-US" dirty="0"/>
              <a:t> "Demo Act 1 - Trusted Infrastructure Setup" </a:t>
            </a:r>
          </a:p>
          <a:p>
            <a:r>
              <a:rPr lang="en-US" dirty="0"/>
              <a:t>"Let's look at the architecture for our PoC.</a:t>
            </a:r>
          </a:p>
          <a:p>
            <a:r>
              <a:rPr lang="en-US" dirty="0"/>
              <a:t>On the </a:t>
            </a:r>
            <a:r>
              <a:rPr lang="en-US" b="1" dirty="0"/>
              <a:t>Left</a:t>
            </a:r>
            <a:r>
              <a:rPr lang="en-US" dirty="0"/>
              <a:t>, we have the </a:t>
            </a:r>
            <a:r>
              <a:rPr lang="en-US" b="1" dirty="0"/>
              <a:t>Sovereign Public/Edge Cloud</a:t>
            </a:r>
            <a:r>
              <a:rPr lang="en-US" dirty="0"/>
              <a:t>. This is where our AI Inference Client will run.</a:t>
            </a:r>
          </a:p>
          <a:p>
            <a:r>
              <a:rPr lang="en-US" dirty="0"/>
              <a:t>On the </a:t>
            </a:r>
            <a:r>
              <a:rPr lang="en-US" b="1" dirty="0"/>
              <a:t>Right</a:t>
            </a:r>
            <a:r>
              <a:rPr lang="en-US" dirty="0"/>
              <a:t>, we have the </a:t>
            </a:r>
            <a:r>
              <a:rPr lang="en-US" b="1" dirty="0"/>
              <a:t>Customer On-Prem Private Cloud</a:t>
            </a:r>
            <a:r>
              <a:rPr lang="en-US" dirty="0"/>
              <a:t>. This holds the sensitive Key Vault and the Model.</a:t>
            </a:r>
          </a:p>
          <a:p>
            <a:r>
              <a:rPr lang="en-US" b="1" dirty="0"/>
              <a:t>The Control Plane:</a:t>
            </a:r>
            <a:r>
              <a:rPr lang="en-US" dirty="0"/>
              <a:t> We have initialized our trust foundation:</a:t>
            </a:r>
          </a:p>
          <a:p>
            <a:r>
              <a:rPr lang="en-US" b="1" dirty="0"/>
              <a:t>Host Identity:</a:t>
            </a:r>
            <a:r>
              <a:rPr lang="en-US" dirty="0"/>
              <a:t> The </a:t>
            </a:r>
            <a:r>
              <a:rPr lang="en-US" b="1" dirty="0"/>
              <a:t>Keylime Verifier &amp; Registrar</a:t>
            </a:r>
            <a:r>
              <a:rPr lang="en-US" dirty="0"/>
              <a:t> is running to validate hardware integrity.</a:t>
            </a:r>
          </a:p>
          <a:p>
            <a:r>
              <a:rPr lang="en-US" b="1" dirty="0"/>
              <a:t>Workload Identity:</a:t>
            </a:r>
            <a:r>
              <a:rPr lang="en-US" dirty="0"/>
              <a:t> The </a:t>
            </a:r>
            <a:r>
              <a:rPr lang="en-US" b="1" dirty="0"/>
              <a:t>SPIRE Server</a:t>
            </a:r>
            <a:r>
              <a:rPr lang="en-US" dirty="0"/>
              <a:t> is active.</a:t>
            </a:r>
          </a:p>
          <a:p>
            <a:r>
              <a:rPr lang="en-US" b="1" dirty="0"/>
              <a:t>The Gatekeeper:</a:t>
            </a:r>
            <a:r>
              <a:rPr lang="en-US" dirty="0"/>
              <a:t> The </a:t>
            </a:r>
            <a:r>
              <a:rPr lang="en-US" b="1" dirty="0"/>
              <a:t>Envoy Proxy</a:t>
            </a:r>
            <a:r>
              <a:rPr lang="en-US" dirty="0"/>
              <a:t> is deployed with our custom </a:t>
            </a:r>
            <a:r>
              <a:rPr lang="en-US" b="1" dirty="0"/>
              <a:t>WASM plugin</a:t>
            </a:r>
            <a:r>
              <a:rPr lang="en-US" dirty="0"/>
              <a:t>, ready to enforce sovereignty policies at the edge.</a:t>
            </a:r>
          </a:p>
          <a:p>
            <a:r>
              <a:rPr lang="en-US" i="1" dirty="0"/>
              <a:t>Action: I am confirming the Control Plane is healthy. We are now ready to onboard a sovereign workload.</a:t>
            </a:r>
            <a:r>
              <a:rPr lang="en-US" dirty="0"/>
              <a:t>"</a:t>
            </a:r>
          </a:p>
          <a:p>
            <a:endParaRPr lang="en-US" dirty="0"/>
          </a:p>
        </p:txBody>
      </p:sp>
    </p:spTree>
    <p:extLst>
      <p:ext uri="{BB962C8B-B14F-4D97-AF65-F5344CB8AC3E}">
        <p14:creationId xmlns:p14="http://schemas.microsoft.com/office/powerpoint/2010/main" val="2097721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E2604-86CC-5A3E-4CB2-E61703FCFE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C1062-1B3B-EDE7-9E33-DF013D0781B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78F6130-E3DC-A38C-68BD-DE1399D70AF3}"/>
              </a:ext>
            </a:extLst>
          </p:cNvPr>
          <p:cNvSpPr>
            <a:spLocks noGrp="1"/>
          </p:cNvSpPr>
          <p:nvPr>
            <p:ph type="body" idx="1"/>
          </p:nvPr>
        </p:nvSpPr>
        <p:spPr/>
        <p:txBody>
          <a:bodyPr/>
          <a:lstStyle/>
          <a:p>
            <a:r>
              <a:rPr lang="en-US" b="1" dirty="0"/>
              <a:t>Act 2: The Happy Path (Proof of Geofencing)</a:t>
            </a:r>
          </a:p>
          <a:p>
            <a:r>
              <a:rPr lang="en-US" b="1" dirty="0"/>
              <a:t>Display Slide:</a:t>
            </a:r>
            <a:r>
              <a:rPr lang="en-US" dirty="0"/>
              <a:t> "Demo Act 2 – The Happy Path..." </a:t>
            </a:r>
          </a:p>
          <a:p>
            <a:r>
              <a:rPr lang="en-US" dirty="0"/>
              <a:t>"Now, we bring up the </a:t>
            </a:r>
            <a:r>
              <a:rPr lang="en-US" b="1" dirty="0"/>
              <a:t>Location Anchor Host</a:t>
            </a:r>
            <a:r>
              <a:rPr lang="en-US" dirty="0"/>
              <a:t>. Note that it is equipped with a specific </a:t>
            </a:r>
            <a:r>
              <a:rPr lang="en-US" b="1" dirty="0"/>
              <a:t>Mobile Location Sensor (GNSS)</a:t>
            </a:r>
            <a:r>
              <a:rPr lang="en-US" dirty="0"/>
              <a:t>.</a:t>
            </a:r>
          </a:p>
          <a:p>
            <a:r>
              <a:rPr lang="en-US" b="1" dirty="0"/>
              <a:t>The Unified Identity:</a:t>
            </a:r>
            <a:r>
              <a:rPr lang="en-US" dirty="0"/>
              <a:t> Let's authorize the workload. In our </a:t>
            </a:r>
            <a:r>
              <a:rPr lang="en-US" b="1" dirty="0"/>
              <a:t>Phase II</a:t>
            </a:r>
            <a:r>
              <a:rPr lang="en-US" dirty="0"/>
              <a:t> solution , the identity is like a 'Russian Doll':</a:t>
            </a:r>
          </a:p>
          <a:p>
            <a:r>
              <a:rPr lang="en-US" b="1" dirty="0"/>
              <a:t>Outer Layer:</a:t>
            </a:r>
            <a:r>
              <a:rPr lang="en-US" dirty="0"/>
              <a:t> Workload ID (Software).</a:t>
            </a:r>
          </a:p>
          <a:p>
            <a:r>
              <a:rPr lang="en-US" b="1" dirty="0"/>
              <a:t>Middle Layer:</a:t>
            </a:r>
            <a:r>
              <a:rPr lang="en-US" dirty="0"/>
              <a:t> Host ID (TPM/Silicon).</a:t>
            </a:r>
          </a:p>
          <a:p>
            <a:r>
              <a:rPr lang="en-US" b="1" dirty="0"/>
              <a:t>Inner Core:</a:t>
            </a:r>
            <a:r>
              <a:rPr lang="en-US" dirty="0"/>
              <a:t> Location Sensor ID (Physics).</a:t>
            </a:r>
          </a:p>
          <a:p>
            <a:r>
              <a:rPr lang="en-US" b="1" dirty="0"/>
              <a:t>Display Slide:</a:t>
            </a:r>
            <a:r>
              <a:rPr lang="en-US" dirty="0"/>
              <a:t> "Appendix: Unified Identity Architecture Details" </a:t>
            </a:r>
          </a:p>
          <a:p>
            <a:r>
              <a:rPr lang="en-US" dirty="0"/>
              <a:t>"Look at </a:t>
            </a:r>
            <a:r>
              <a:rPr lang="en-US" b="1" dirty="0"/>
              <a:t>Step 9</a:t>
            </a:r>
            <a:r>
              <a:rPr lang="en-US" dirty="0"/>
              <a:t> in this architectural flow. The Agent fetches a </a:t>
            </a:r>
            <a:r>
              <a:rPr lang="en-US" b="1" dirty="0"/>
              <a:t>Unified SVID</a:t>
            </a:r>
            <a:r>
              <a:rPr lang="en-US" dirty="0"/>
              <a:t>. It is blocked until the </a:t>
            </a:r>
            <a:r>
              <a:rPr lang="en-US" b="1" dirty="0"/>
              <a:t>Keylime Agent Geolocation Plugin</a:t>
            </a:r>
            <a:r>
              <a:rPr lang="en-US" dirty="0"/>
              <a:t> provides the hardware proof.</a:t>
            </a:r>
          </a:p>
          <a:p>
            <a:r>
              <a:rPr lang="en-US" i="1" dirty="0"/>
              <a:t>Action: I am starting the SPIRE Agent. It connects to the Keylime Plugin, verifies the GNSS sensor, and receives the Unified SVID.</a:t>
            </a:r>
            <a:endParaRPr lang="en-US" dirty="0"/>
          </a:p>
          <a:p>
            <a:r>
              <a:rPr lang="en-US" b="1" dirty="0"/>
              <a:t>The Visual Proof:</a:t>
            </a:r>
            <a:r>
              <a:rPr lang="en-US" dirty="0"/>
              <a:t> I’m decoding the certificate now. You can see the </a:t>
            </a:r>
            <a:r>
              <a:rPr lang="en-US" b="1" dirty="0"/>
              <a:t>Proof of Residency (PoR)</a:t>
            </a:r>
            <a:r>
              <a:rPr lang="en-US" dirty="0"/>
              <a:t> embedded directly in the certificate extensions.</a:t>
            </a:r>
          </a:p>
          <a:p>
            <a:r>
              <a:rPr lang="en-US" i="1" dirty="0"/>
              <a:t>Action: The Client App calls the Server.</a:t>
            </a:r>
            <a:endParaRPr lang="en-US" dirty="0"/>
          </a:p>
          <a:p>
            <a:r>
              <a:rPr lang="en-US" dirty="0"/>
              <a:t>The </a:t>
            </a:r>
            <a:r>
              <a:rPr lang="en-US" b="1" dirty="0"/>
              <a:t>Envoy Proxy</a:t>
            </a:r>
            <a:r>
              <a:rPr lang="en-US" dirty="0"/>
              <a:t> in the On-Prem cloud verifies the signature and the </a:t>
            </a:r>
            <a:r>
              <a:rPr lang="en-US" b="1" dirty="0"/>
              <a:t>Proof of Geofencing (PoG)</a:t>
            </a:r>
            <a:r>
              <a:rPr lang="en-US" dirty="0"/>
              <a:t>. </a:t>
            </a:r>
            <a:r>
              <a:rPr lang="en-US" i="1" dirty="0"/>
              <a:t>Log Check: Envoy reports '200 OK'. The location is verified as compliant.</a:t>
            </a:r>
            <a:r>
              <a:rPr lang="en-US" dirty="0"/>
              <a:t>"</a:t>
            </a:r>
          </a:p>
          <a:p>
            <a:endParaRPr lang="en-US" dirty="0"/>
          </a:p>
        </p:txBody>
      </p:sp>
    </p:spTree>
    <p:extLst>
      <p:ext uri="{BB962C8B-B14F-4D97-AF65-F5344CB8AC3E}">
        <p14:creationId xmlns:p14="http://schemas.microsoft.com/office/powerpoint/2010/main" val="4010968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84F0-4ECB-0F1B-BFA6-4056A170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06756-FC3B-FE0B-2E8C-65D72003CE8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08E8E76-4EED-C59D-88ED-548156B9BE75}"/>
              </a:ext>
            </a:extLst>
          </p:cNvPr>
          <p:cNvSpPr>
            <a:spLocks noGrp="1"/>
          </p:cNvSpPr>
          <p:nvPr>
            <p:ph type="body" idx="1"/>
          </p:nvPr>
        </p:nvSpPr>
        <p:spPr/>
        <p:txBody>
          <a:bodyPr/>
          <a:lstStyle/>
          <a:p>
            <a:r>
              <a:rPr lang="en-US" b="1" dirty="0"/>
              <a:t>Act 2: The Happy Path (Proof of Geofencing)</a:t>
            </a:r>
          </a:p>
          <a:p>
            <a:r>
              <a:rPr lang="en-US" b="1" dirty="0"/>
              <a:t>Display Slide:</a:t>
            </a:r>
            <a:r>
              <a:rPr lang="en-US" dirty="0"/>
              <a:t> "Demo Act 2 – The Happy Path..." </a:t>
            </a:r>
          </a:p>
          <a:p>
            <a:r>
              <a:rPr lang="en-US" dirty="0"/>
              <a:t>"Now, we bring up the </a:t>
            </a:r>
            <a:r>
              <a:rPr lang="en-US" b="1" dirty="0"/>
              <a:t>Location Anchor Host</a:t>
            </a:r>
            <a:r>
              <a:rPr lang="en-US" dirty="0"/>
              <a:t>. Note that it is equipped with a specific </a:t>
            </a:r>
            <a:r>
              <a:rPr lang="en-US" b="1" dirty="0"/>
              <a:t>Mobile Location Sensor (GNSS)</a:t>
            </a:r>
            <a:r>
              <a:rPr lang="en-US" dirty="0"/>
              <a:t>.</a:t>
            </a:r>
          </a:p>
          <a:p>
            <a:r>
              <a:rPr lang="en-US" b="1" dirty="0"/>
              <a:t>The Unified Identity:</a:t>
            </a:r>
            <a:r>
              <a:rPr lang="en-US" dirty="0"/>
              <a:t> Let's authorize the workload. In our </a:t>
            </a:r>
            <a:r>
              <a:rPr lang="en-US" b="1" dirty="0"/>
              <a:t>Phase II</a:t>
            </a:r>
            <a:r>
              <a:rPr lang="en-US" dirty="0"/>
              <a:t> solution , the identity is like a 'Russian Doll':</a:t>
            </a:r>
          </a:p>
          <a:p>
            <a:r>
              <a:rPr lang="en-US" b="1" dirty="0"/>
              <a:t>Outer Layer:</a:t>
            </a:r>
            <a:r>
              <a:rPr lang="en-US" dirty="0"/>
              <a:t> Workload ID (Software).</a:t>
            </a:r>
          </a:p>
          <a:p>
            <a:r>
              <a:rPr lang="en-US" b="1" dirty="0"/>
              <a:t>Middle Layer:</a:t>
            </a:r>
            <a:r>
              <a:rPr lang="en-US" dirty="0"/>
              <a:t> Host ID (TPM/Silicon).</a:t>
            </a:r>
          </a:p>
          <a:p>
            <a:r>
              <a:rPr lang="en-US" b="1" dirty="0"/>
              <a:t>Inner Core:</a:t>
            </a:r>
            <a:r>
              <a:rPr lang="en-US" dirty="0"/>
              <a:t> Location Sensor ID (Physics).</a:t>
            </a:r>
          </a:p>
          <a:p>
            <a:r>
              <a:rPr lang="en-US" b="1" dirty="0"/>
              <a:t>Display Slide:</a:t>
            </a:r>
            <a:r>
              <a:rPr lang="en-US" dirty="0"/>
              <a:t> "Appendix: Unified Identity Architecture Details" </a:t>
            </a:r>
          </a:p>
          <a:p>
            <a:r>
              <a:rPr lang="en-US" dirty="0"/>
              <a:t>"Look at </a:t>
            </a:r>
            <a:r>
              <a:rPr lang="en-US" b="1" dirty="0"/>
              <a:t>Step 9</a:t>
            </a:r>
            <a:r>
              <a:rPr lang="en-US" dirty="0"/>
              <a:t> in this architectural flow. The Agent fetches a </a:t>
            </a:r>
            <a:r>
              <a:rPr lang="en-US" b="1" dirty="0"/>
              <a:t>Unified SVID</a:t>
            </a:r>
            <a:r>
              <a:rPr lang="en-US" dirty="0"/>
              <a:t>. It is blocked until the </a:t>
            </a:r>
            <a:r>
              <a:rPr lang="en-US" b="1" dirty="0"/>
              <a:t>Keylime Agent Geolocation Plugin</a:t>
            </a:r>
            <a:r>
              <a:rPr lang="en-US" dirty="0"/>
              <a:t> provides the hardware proof.</a:t>
            </a:r>
          </a:p>
          <a:p>
            <a:r>
              <a:rPr lang="en-US" i="1" dirty="0"/>
              <a:t>Action: I am starting the SPIRE Agent. It connects to the Keylime Plugin, verifies the GNSS sensor, and receives the Unified SVID.</a:t>
            </a:r>
            <a:endParaRPr lang="en-US" dirty="0"/>
          </a:p>
          <a:p>
            <a:r>
              <a:rPr lang="en-US" b="1" dirty="0"/>
              <a:t>The Visual Proof:</a:t>
            </a:r>
            <a:r>
              <a:rPr lang="en-US" dirty="0"/>
              <a:t> I’m decoding the certificate now. You can see the </a:t>
            </a:r>
            <a:r>
              <a:rPr lang="en-US" b="1" dirty="0"/>
              <a:t>Proof of Residency (PoR)</a:t>
            </a:r>
            <a:r>
              <a:rPr lang="en-US" dirty="0"/>
              <a:t> embedded directly in the certificate extensions.</a:t>
            </a:r>
          </a:p>
          <a:p>
            <a:r>
              <a:rPr lang="en-US" i="1" dirty="0"/>
              <a:t>Action: The Client App calls the Server.</a:t>
            </a:r>
            <a:endParaRPr lang="en-US" dirty="0"/>
          </a:p>
          <a:p>
            <a:r>
              <a:rPr lang="en-US" dirty="0"/>
              <a:t>The </a:t>
            </a:r>
            <a:r>
              <a:rPr lang="en-US" b="1" dirty="0"/>
              <a:t>Envoy Proxy</a:t>
            </a:r>
            <a:r>
              <a:rPr lang="en-US" dirty="0"/>
              <a:t> in the On-Prem cloud verifies the signature and the </a:t>
            </a:r>
            <a:r>
              <a:rPr lang="en-US" b="1" dirty="0"/>
              <a:t>Proof of Geofencing (PoG)</a:t>
            </a:r>
            <a:r>
              <a:rPr lang="en-US" dirty="0"/>
              <a:t>. </a:t>
            </a:r>
            <a:r>
              <a:rPr lang="en-US" i="1" dirty="0"/>
              <a:t>Log Check: Envoy reports '200 OK'. The location is verified as compliant.</a:t>
            </a:r>
            <a:r>
              <a:rPr lang="en-US" dirty="0"/>
              <a:t>"</a:t>
            </a:r>
          </a:p>
          <a:p>
            <a:endParaRPr lang="en-US" dirty="0"/>
          </a:p>
        </p:txBody>
      </p:sp>
    </p:spTree>
    <p:extLst>
      <p:ext uri="{BB962C8B-B14F-4D97-AF65-F5344CB8AC3E}">
        <p14:creationId xmlns:p14="http://schemas.microsoft.com/office/powerpoint/2010/main" val="1123009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09505-9E22-6D37-4607-21513E400D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1C03FF-5C42-1E5E-66CF-19438E6DBFD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8C6F9A1-2FDE-65EB-5C82-7B604FD8BBDD}"/>
              </a:ext>
            </a:extLst>
          </p:cNvPr>
          <p:cNvSpPr>
            <a:spLocks noGrp="1"/>
          </p:cNvSpPr>
          <p:nvPr>
            <p:ph type="body" idx="1"/>
          </p:nvPr>
        </p:nvSpPr>
        <p:spPr/>
        <p:txBody>
          <a:bodyPr/>
          <a:lstStyle/>
          <a:p>
            <a:r>
              <a:rPr lang="en-US" b="1" dirty="0"/>
              <a:t>Act 2: The Happy Path (Proof of Geofencing)</a:t>
            </a:r>
          </a:p>
          <a:p>
            <a:r>
              <a:rPr lang="en-US" b="1" dirty="0"/>
              <a:t>Display Slide:</a:t>
            </a:r>
            <a:r>
              <a:rPr lang="en-US" dirty="0"/>
              <a:t> "Demo Act 2 – The Happy Path..." </a:t>
            </a:r>
          </a:p>
          <a:p>
            <a:r>
              <a:rPr lang="en-US" dirty="0"/>
              <a:t>"Now, we bring up the </a:t>
            </a:r>
            <a:r>
              <a:rPr lang="en-US" b="1" dirty="0"/>
              <a:t>Location Anchor Host</a:t>
            </a:r>
            <a:r>
              <a:rPr lang="en-US" dirty="0"/>
              <a:t>. Note that it is equipped with a specific </a:t>
            </a:r>
            <a:r>
              <a:rPr lang="en-US" b="1" dirty="0"/>
              <a:t>Mobile Location Sensor (GNSS)</a:t>
            </a:r>
            <a:r>
              <a:rPr lang="en-US" dirty="0"/>
              <a:t>.</a:t>
            </a:r>
          </a:p>
          <a:p>
            <a:r>
              <a:rPr lang="en-US" b="1" dirty="0"/>
              <a:t>The Unified Identity:</a:t>
            </a:r>
            <a:r>
              <a:rPr lang="en-US" dirty="0"/>
              <a:t> Let's authorize the workload. In our </a:t>
            </a:r>
            <a:r>
              <a:rPr lang="en-US" b="1" dirty="0"/>
              <a:t>Phase II</a:t>
            </a:r>
            <a:r>
              <a:rPr lang="en-US" dirty="0"/>
              <a:t> solution , the identity is like a 'Russian Doll':</a:t>
            </a:r>
          </a:p>
          <a:p>
            <a:r>
              <a:rPr lang="en-US" b="1" dirty="0"/>
              <a:t>Outer Layer:</a:t>
            </a:r>
            <a:r>
              <a:rPr lang="en-US" dirty="0"/>
              <a:t> Workload ID (Software).</a:t>
            </a:r>
          </a:p>
          <a:p>
            <a:r>
              <a:rPr lang="en-US" b="1" dirty="0"/>
              <a:t>Middle Layer:</a:t>
            </a:r>
            <a:r>
              <a:rPr lang="en-US" dirty="0"/>
              <a:t> Host ID (TPM/Silicon).</a:t>
            </a:r>
          </a:p>
          <a:p>
            <a:r>
              <a:rPr lang="en-US" b="1" dirty="0"/>
              <a:t>Inner Core:</a:t>
            </a:r>
            <a:r>
              <a:rPr lang="en-US" dirty="0"/>
              <a:t> Location Sensor ID (Physics).</a:t>
            </a:r>
          </a:p>
          <a:p>
            <a:r>
              <a:rPr lang="en-US" b="1" dirty="0"/>
              <a:t>Display Slide:</a:t>
            </a:r>
            <a:r>
              <a:rPr lang="en-US" dirty="0"/>
              <a:t> "Appendix: Unified Identity Architecture Details" </a:t>
            </a:r>
          </a:p>
          <a:p>
            <a:r>
              <a:rPr lang="en-US" dirty="0"/>
              <a:t>"Look at </a:t>
            </a:r>
            <a:r>
              <a:rPr lang="en-US" b="1" dirty="0"/>
              <a:t>Step 9</a:t>
            </a:r>
            <a:r>
              <a:rPr lang="en-US" dirty="0"/>
              <a:t> in this architectural flow. The Agent fetches a </a:t>
            </a:r>
            <a:r>
              <a:rPr lang="en-US" b="1" dirty="0"/>
              <a:t>Unified SVID</a:t>
            </a:r>
            <a:r>
              <a:rPr lang="en-US" dirty="0"/>
              <a:t>. It is blocked until the </a:t>
            </a:r>
            <a:r>
              <a:rPr lang="en-US" b="1" dirty="0"/>
              <a:t>Keylime Agent Geolocation Plugin</a:t>
            </a:r>
            <a:r>
              <a:rPr lang="en-US" dirty="0"/>
              <a:t> provides the hardware proof.</a:t>
            </a:r>
          </a:p>
          <a:p>
            <a:r>
              <a:rPr lang="en-US" i="1" dirty="0"/>
              <a:t>Action: I am starting the SPIRE Agent. It connects to the Keylime Plugin, verifies the GNSS sensor, and receives the Unified SVID.</a:t>
            </a:r>
            <a:endParaRPr lang="en-US" dirty="0"/>
          </a:p>
          <a:p>
            <a:r>
              <a:rPr lang="en-US" b="1" dirty="0"/>
              <a:t>The Visual Proof:</a:t>
            </a:r>
            <a:r>
              <a:rPr lang="en-US" dirty="0"/>
              <a:t> I’m decoding the certificate now. You can see the </a:t>
            </a:r>
            <a:r>
              <a:rPr lang="en-US" b="1" dirty="0"/>
              <a:t>Proof of Residency (PoR)</a:t>
            </a:r>
            <a:r>
              <a:rPr lang="en-US" dirty="0"/>
              <a:t> embedded directly in the certificate extensions.</a:t>
            </a:r>
          </a:p>
          <a:p>
            <a:r>
              <a:rPr lang="en-US" i="1" dirty="0"/>
              <a:t>Action: The Client App calls the Server.</a:t>
            </a:r>
            <a:endParaRPr lang="en-US" dirty="0"/>
          </a:p>
          <a:p>
            <a:r>
              <a:rPr lang="en-US" dirty="0"/>
              <a:t>The </a:t>
            </a:r>
            <a:r>
              <a:rPr lang="en-US" b="1" dirty="0"/>
              <a:t>Envoy Proxy</a:t>
            </a:r>
            <a:r>
              <a:rPr lang="en-US" dirty="0"/>
              <a:t> in the On-Prem cloud verifies the signature and the </a:t>
            </a:r>
            <a:r>
              <a:rPr lang="en-US" b="1" dirty="0"/>
              <a:t>Proof of Geofencing (PoG)</a:t>
            </a:r>
            <a:r>
              <a:rPr lang="en-US" dirty="0"/>
              <a:t>. </a:t>
            </a:r>
            <a:r>
              <a:rPr lang="en-US" i="1" dirty="0"/>
              <a:t>Log Check: Envoy reports '200 OK'. The location is verified as compliant.</a:t>
            </a:r>
            <a:r>
              <a:rPr lang="en-US" dirty="0"/>
              <a:t>"</a:t>
            </a:r>
          </a:p>
          <a:p>
            <a:endParaRPr lang="en-US" dirty="0"/>
          </a:p>
        </p:txBody>
      </p:sp>
    </p:spTree>
    <p:extLst>
      <p:ext uri="{BB962C8B-B14F-4D97-AF65-F5344CB8AC3E}">
        <p14:creationId xmlns:p14="http://schemas.microsoft.com/office/powerpoint/2010/main" val="36729649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31BAF-7E00-84F7-775A-D1D368D56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74298-1E80-ADF9-6330-A78EAD703D3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E78ACA5-D53C-F65E-7F55-DB64E5C632C0}"/>
              </a:ext>
            </a:extLst>
          </p:cNvPr>
          <p:cNvSpPr>
            <a:spLocks noGrp="1"/>
          </p:cNvSpPr>
          <p:nvPr>
            <p:ph type="body" idx="1"/>
          </p:nvPr>
        </p:nvSpPr>
        <p:spPr/>
        <p:txBody>
          <a:bodyPr/>
          <a:lstStyle/>
          <a:p>
            <a:r>
              <a:rPr lang="en-US" b="1" dirty="0"/>
              <a:t>Act 3: The Defense (The Rogue Admin)</a:t>
            </a:r>
          </a:p>
          <a:p>
            <a:r>
              <a:rPr lang="en-US" b="1" dirty="0"/>
              <a:t>Display Slide:</a:t>
            </a:r>
            <a:r>
              <a:rPr lang="en-US" dirty="0"/>
              <a:t> "Demo Act 3 – The Defense (The Rogue Admin)" </a:t>
            </a:r>
          </a:p>
          <a:p>
            <a:r>
              <a:rPr lang="en-US" dirty="0"/>
              <a:t>"Now, let's test the system against the </a:t>
            </a:r>
            <a:r>
              <a:rPr lang="en-US" b="1" dirty="0"/>
              <a:t>Insider Threat</a:t>
            </a:r>
            <a:r>
              <a:rPr lang="en-US" dirty="0"/>
              <a:t>. We are simulating a rogue admin who wants to bypass the location tracking.</a:t>
            </a:r>
          </a:p>
          <a:p>
            <a:r>
              <a:rPr lang="en-US" dirty="0"/>
              <a:t>Action: I am acting as the rogue admin. I am physically disconnecting the USB Mobile Sensor from the host machine.</a:t>
            </a:r>
          </a:p>
          <a:p>
            <a:r>
              <a:rPr lang="en-US" b="1" dirty="0"/>
              <a:t>The Detection:</a:t>
            </a:r>
            <a:r>
              <a:rPr lang="en-US" dirty="0"/>
              <a:t> Because we rely on </a:t>
            </a:r>
            <a:r>
              <a:rPr lang="en-US" b="1" dirty="0"/>
              <a:t>Dynamic Hardware Integrity</a:t>
            </a:r>
            <a:r>
              <a:rPr lang="en-US" dirty="0"/>
              <a:t>, the Keylime Agent immediately detects the hardware change.</a:t>
            </a:r>
          </a:p>
          <a:p>
            <a:r>
              <a:rPr lang="en-US" b="1" dirty="0"/>
              <a:t>The Block (Degraded Identity):</a:t>
            </a:r>
            <a:r>
              <a:rPr lang="en-US" dirty="0"/>
              <a:t> The next time our workload attempts to refresh its identity, the attestation fails. The Policy Engine issues a </a:t>
            </a:r>
            <a:r>
              <a:rPr lang="en-US" b="1" dirty="0"/>
              <a:t>Degraded SVID</a:t>
            </a:r>
            <a:r>
              <a:rPr lang="en-US" dirty="0"/>
              <a:t>. It still has the Workload ID and Host ID, but the </a:t>
            </a:r>
            <a:r>
              <a:rPr lang="en-US" b="1" dirty="0"/>
              <a:t>Location ID is gone</a:t>
            </a:r>
            <a:r>
              <a:rPr lang="en-US" dirty="0"/>
              <a:t>.</a:t>
            </a:r>
          </a:p>
          <a:p>
            <a:r>
              <a:rPr lang="en-US" i="1" dirty="0"/>
              <a:t>Action: The Client App retries the request.</a:t>
            </a:r>
            <a:endParaRPr lang="en-US" dirty="0"/>
          </a:p>
          <a:p>
            <a:r>
              <a:rPr lang="en-US" dirty="0"/>
              <a:t>Log Check: Look at the Envoy logs. The TLS handshake succeeds—so the identity is valid for the network—but the WASM Plugin blocks the call with </a:t>
            </a:r>
            <a:r>
              <a:rPr lang="en-US" b="1" dirty="0"/>
              <a:t>403 Forbidden</a:t>
            </a:r>
            <a:r>
              <a:rPr lang="en-US" dirty="0"/>
              <a:t> because the 'Location Sensor ID' is absent."</a:t>
            </a:r>
          </a:p>
          <a:p>
            <a:endParaRPr lang="en-US" dirty="0"/>
          </a:p>
        </p:txBody>
      </p:sp>
    </p:spTree>
    <p:extLst>
      <p:ext uri="{BB962C8B-B14F-4D97-AF65-F5344CB8AC3E}">
        <p14:creationId xmlns:p14="http://schemas.microsoft.com/office/powerpoint/2010/main" val="697582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E94E1-20A0-42B1-4494-D6C66ED91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ED3D5-DE4A-DE97-0D1E-890AB05F2F8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3B16F94-0589-AC42-019C-F864C726A6EF}"/>
              </a:ext>
            </a:extLst>
          </p:cNvPr>
          <p:cNvSpPr>
            <a:spLocks noGrp="1"/>
          </p:cNvSpPr>
          <p:nvPr>
            <p:ph type="body" idx="1"/>
          </p:nvPr>
        </p:nvSpPr>
        <p:spPr/>
        <p:txBody>
          <a:bodyPr/>
          <a:lstStyle/>
          <a:p>
            <a:r>
              <a:rPr lang="en-US" b="1" dirty="0"/>
              <a:t>Act 3: The Defense (The Rogue Admin)</a:t>
            </a:r>
          </a:p>
          <a:p>
            <a:r>
              <a:rPr lang="en-US" b="1" dirty="0"/>
              <a:t>Display Slide:</a:t>
            </a:r>
            <a:r>
              <a:rPr lang="en-US" dirty="0"/>
              <a:t> "Demo Act 3 – The Defense (The Rogue Admin)" </a:t>
            </a:r>
          </a:p>
          <a:p>
            <a:r>
              <a:rPr lang="en-US" dirty="0"/>
              <a:t>"Now, let's test the system against the </a:t>
            </a:r>
            <a:r>
              <a:rPr lang="en-US" b="1" dirty="0"/>
              <a:t>Insider Threat</a:t>
            </a:r>
            <a:r>
              <a:rPr lang="en-US" dirty="0"/>
              <a:t>. We are simulating a rogue admin who wants to bypass the location tracking.</a:t>
            </a:r>
          </a:p>
          <a:p>
            <a:r>
              <a:rPr lang="en-US" dirty="0"/>
              <a:t>Action: I am acting as the rogue admin. I am physically disconnecting the USB Mobile Sensor from the host machine.</a:t>
            </a:r>
          </a:p>
          <a:p>
            <a:r>
              <a:rPr lang="en-US" b="1" dirty="0"/>
              <a:t>The Detection:</a:t>
            </a:r>
            <a:r>
              <a:rPr lang="en-US" dirty="0"/>
              <a:t> Because we rely on </a:t>
            </a:r>
            <a:r>
              <a:rPr lang="en-US" b="1" dirty="0"/>
              <a:t>Dynamic Hardware Integrity</a:t>
            </a:r>
            <a:r>
              <a:rPr lang="en-US" dirty="0"/>
              <a:t>, the Keylime Agent immediately detects the hardware change.</a:t>
            </a:r>
          </a:p>
          <a:p>
            <a:r>
              <a:rPr lang="en-US" b="1" dirty="0"/>
              <a:t>The Block (Degraded Identity):</a:t>
            </a:r>
            <a:r>
              <a:rPr lang="en-US" dirty="0"/>
              <a:t> The next time our workload attempts to refresh its identity, the attestation fails. The Policy Engine issues a </a:t>
            </a:r>
            <a:r>
              <a:rPr lang="en-US" b="1" dirty="0"/>
              <a:t>Degraded SVID</a:t>
            </a:r>
            <a:r>
              <a:rPr lang="en-US" dirty="0"/>
              <a:t>. It still has the Workload ID and Host ID, but the </a:t>
            </a:r>
            <a:r>
              <a:rPr lang="en-US" b="1" dirty="0"/>
              <a:t>Location ID is gone</a:t>
            </a:r>
            <a:r>
              <a:rPr lang="en-US" dirty="0"/>
              <a:t>.</a:t>
            </a:r>
          </a:p>
          <a:p>
            <a:r>
              <a:rPr lang="en-US" i="1" dirty="0"/>
              <a:t>Action: The Client App retries the request.</a:t>
            </a:r>
            <a:endParaRPr lang="en-US" dirty="0"/>
          </a:p>
          <a:p>
            <a:r>
              <a:rPr lang="en-US" dirty="0"/>
              <a:t>Log Check: Look at the Envoy logs. The TLS handshake succeeds—so the identity is valid for the network—but the WASM Plugin blocks the call with </a:t>
            </a:r>
            <a:r>
              <a:rPr lang="en-US" b="1" dirty="0"/>
              <a:t>403 Forbidden</a:t>
            </a:r>
            <a:r>
              <a:rPr lang="en-US" dirty="0"/>
              <a:t> because the 'Location Sensor ID' is absent."</a:t>
            </a:r>
          </a:p>
          <a:p>
            <a:endParaRPr lang="en-US" dirty="0"/>
          </a:p>
        </p:txBody>
      </p:sp>
    </p:spTree>
    <p:extLst>
      <p:ext uri="{BB962C8B-B14F-4D97-AF65-F5344CB8AC3E}">
        <p14:creationId xmlns:p14="http://schemas.microsoft.com/office/powerpoint/2010/main" val="2193106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705B4-4DC3-BC71-705C-F320E2D5E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A6072-CF13-8484-4DFE-004FB1AB1FD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DECA3AA-B041-AC4B-27CB-DF7FA764B948}"/>
              </a:ext>
            </a:extLst>
          </p:cNvPr>
          <p:cNvSpPr>
            <a:spLocks noGrp="1"/>
          </p:cNvSpPr>
          <p:nvPr>
            <p:ph type="body" idx="1"/>
          </p:nvPr>
        </p:nvSpPr>
        <p:spPr/>
        <p:txBody>
          <a:bodyPr/>
          <a:lstStyle/>
          <a:p>
            <a:pPr marL="285750" marR="0" lvl="0" indent="-285750" algn="l" defTabSz="457200" rtl="0" eaLnBrk="1" fontAlgn="auto" latinLnBrk="0" hangingPunct="1">
              <a:lnSpc>
                <a:spcPct val="100000"/>
              </a:lnSpc>
              <a:spcBef>
                <a:spcPts val="0"/>
              </a:spcBef>
              <a:spcAft>
                <a:spcPts val="600"/>
              </a:spcAft>
              <a:buClrTx/>
              <a:buSzTx/>
              <a:buFontTx/>
              <a:buChar char="-"/>
              <a:tabLst/>
              <a:defRPr/>
            </a:pPr>
            <a:r>
              <a:rPr lang="en-US" sz="1800" dirty="0">
                <a:solidFill>
                  <a:schemeClr val="tx1"/>
                </a:solidFill>
                <a:latin typeface="+mj-lt"/>
              </a:rPr>
              <a:t>Includes country local legal mandates on data localization (China, Russia, India etc.) - e.g., sensitive data like financial or personal data should not leave the country.</a:t>
            </a:r>
          </a:p>
          <a:p>
            <a:pPr marL="285750" marR="0" indent="-285750">
              <a:spcAft>
                <a:spcPts val="600"/>
              </a:spcAft>
              <a:buFontTx/>
              <a:buChar char="-"/>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In this deployment model:</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decryption key is securely stored in a Hardware Security Module (HSM)-based key vault located in data centers (DCs) with high physical security, usually in a central location.</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encrypted AI model is also stored in DCs with high physical security.</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inferencing application runs within a Confidential Computing (CC) environment, where the model is processed in memory. This application is distributed across DCs with moderate physical security, often located at the edge.</a:t>
            </a:r>
          </a:p>
          <a:p>
            <a:pPr marL="0" marR="0">
              <a:spcAft>
                <a:spcPts val="600"/>
              </a:spcAft>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Upon starting or restarting, the AI inferencing application follows three basic steps:</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Fetches the model decryption key from the HSM-based key vault.</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Retrieves the encrypted AI model from storage and decrypts it using the decryption key.</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The application is then ready to serve enterprise end users.</a:t>
            </a:r>
          </a:p>
          <a:p>
            <a:endParaRPr lang="en-US" dirty="0"/>
          </a:p>
        </p:txBody>
      </p:sp>
    </p:spTree>
    <p:extLst>
      <p:ext uri="{BB962C8B-B14F-4D97-AF65-F5344CB8AC3E}">
        <p14:creationId xmlns:p14="http://schemas.microsoft.com/office/powerpoint/2010/main" val="367540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92EA2-F8EC-8F4B-E925-F47A24A382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35B85-6C57-4710-56C6-761A410280D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0A56304-4520-4F81-50A2-9E0CABFB577F}"/>
              </a:ext>
            </a:extLst>
          </p:cNvPr>
          <p:cNvSpPr>
            <a:spLocks noGrp="1"/>
          </p:cNvSpPr>
          <p:nvPr>
            <p:ph type="body" idx="1"/>
          </p:nvPr>
        </p:nvSpPr>
        <p:spPr/>
        <p:txBody>
          <a:bodyPr/>
          <a:lstStyle/>
          <a:p>
            <a:pPr marL="285750" marR="0" lvl="0" indent="-285750" algn="l" defTabSz="457200" rtl="0" eaLnBrk="1" fontAlgn="auto" latinLnBrk="0" hangingPunct="1">
              <a:lnSpc>
                <a:spcPct val="100000"/>
              </a:lnSpc>
              <a:spcBef>
                <a:spcPts val="0"/>
              </a:spcBef>
              <a:spcAft>
                <a:spcPts val="600"/>
              </a:spcAft>
              <a:buClrTx/>
              <a:buSzTx/>
              <a:buFontTx/>
              <a:buChar char="-"/>
              <a:tabLst/>
              <a:defRPr/>
            </a:pPr>
            <a:r>
              <a:rPr lang="en-US" sz="1800" dirty="0">
                <a:solidFill>
                  <a:schemeClr val="tx1"/>
                </a:solidFill>
                <a:latin typeface="+mj-lt"/>
              </a:rPr>
              <a:t>Includes country local legal mandates on data localization (China, Russia, India etc.) - e.g., sensitive data like financial or personal data should not leave the country.</a:t>
            </a:r>
          </a:p>
          <a:p>
            <a:pPr marL="285750" marR="0" indent="-285750">
              <a:spcAft>
                <a:spcPts val="600"/>
              </a:spcAft>
              <a:buFontTx/>
              <a:buChar char="-"/>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In this deployment model:</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decryption key is securely stored in a Hardware Security Module (HSM)-based key vault located in data centers (DCs) with high physical security, usually in a central location.</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encrypted AI model is also stored in DCs with high physical security.</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inferencing application runs within a Confidential Computing (CC) environment, where the model is processed in memory. This application is distributed across DCs with moderate physical security, often located at the edge.</a:t>
            </a:r>
          </a:p>
          <a:p>
            <a:pPr marL="0" marR="0">
              <a:spcAft>
                <a:spcPts val="600"/>
              </a:spcAft>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Upon starting or restarting, the AI inferencing application follows three basic steps:</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Fetches the model decryption key from the HSM-based key vault.</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Retrieves the encrypted AI model from storage and decrypts it using the decryption key.</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The application is then ready to serve enterprise end users.</a:t>
            </a:r>
          </a:p>
          <a:p>
            <a:endParaRPr lang="en-US" dirty="0"/>
          </a:p>
        </p:txBody>
      </p:sp>
    </p:spTree>
    <p:extLst>
      <p:ext uri="{BB962C8B-B14F-4D97-AF65-F5344CB8AC3E}">
        <p14:creationId xmlns:p14="http://schemas.microsoft.com/office/powerpoint/2010/main" val="41624005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4916-5D19-40A5-4102-D66889AF13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F4BF2-F60A-C22D-B03F-6115ED59BF9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F760C55-2226-8AD9-212D-18E64DD4F71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lang="en-US" sz="1800" dirty="0">
                <a:solidFill>
                  <a:schemeClr val="tx1"/>
                </a:solidFill>
                <a:latin typeface="+mj-lt"/>
              </a:rPr>
              <a:t>https://developer.nvidia.com/dcgm libraries can be called from keylime agent gpu integrity plugin</a:t>
            </a:r>
          </a:p>
          <a:p>
            <a:pPr marL="0" marR="0" lvl="0" indent="0" algn="l" defTabSz="457200" rtl="0" eaLnBrk="1" fontAlgn="auto" latinLnBrk="0" hangingPunct="1">
              <a:lnSpc>
                <a:spcPct val="100000"/>
              </a:lnSpc>
              <a:spcBef>
                <a:spcPts val="0"/>
              </a:spcBef>
              <a:spcAft>
                <a:spcPts val="600"/>
              </a:spcAft>
              <a:buClrTx/>
              <a:buSzTx/>
              <a:buFontTx/>
              <a:buNone/>
              <a:tabLst/>
              <a:defRPr/>
            </a:pPr>
            <a:endParaRPr lang="en-US" sz="1800" dirty="0">
              <a:solidFill>
                <a:schemeClr val="tx1"/>
              </a:solidFill>
              <a:latin typeface="+mj-lt"/>
            </a:endParaRPr>
          </a:p>
          <a:p>
            <a:pPr marL="0" marR="0" lvl="0" indent="0" algn="l" defTabSz="457200" rtl="0" eaLnBrk="1" fontAlgn="auto" latinLnBrk="0" hangingPunct="1">
              <a:lnSpc>
                <a:spcPct val="100000"/>
              </a:lnSpc>
              <a:spcBef>
                <a:spcPts val="0"/>
              </a:spcBef>
              <a:spcAft>
                <a:spcPts val="600"/>
              </a:spcAft>
              <a:buClrTx/>
              <a:buSzTx/>
              <a:buFontTx/>
              <a:buNone/>
              <a:tabLst/>
              <a:defRPr/>
            </a:pPr>
            <a:r>
              <a:rPr lang="en-US" sz="1800" dirty="0">
                <a:solidFill>
                  <a:schemeClr val="tx1"/>
                </a:solidFill>
                <a:latin typeface="+mj-lt"/>
              </a:rPr>
              <a:t>On-prem ingress Firewall (Istio ingress gateway) which verifies HTTP request signature from app, fetches geolocation using mobile service provider API and enforces proof of residency aware geofencing policy; levearges Istio envoy proxy lua filter for rapid prototyping which needs to change for production</a:t>
            </a:r>
          </a:p>
          <a:p>
            <a:pPr marL="0" marR="0" lvl="0" indent="0" algn="l" defTabSz="457200" rtl="0" eaLnBrk="1" fontAlgn="auto" latinLnBrk="0" hangingPunct="1">
              <a:lnSpc>
                <a:spcPct val="100000"/>
              </a:lnSpc>
              <a:spcBef>
                <a:spcPts val="0"/>
              </a:spcBef>
              <a:spcAft>
                <a:spcPts val="600"/>
              </a:spcAft>
              <a:buClrTx/>
              <a:buSzTx/>
              <a:buFontTx/>
              <a:buNone/>
              <a:tabLst/>
              <a:defRPr/>
            </a:pPr>
            <a:endParaRPr lang="en-US" sz="1800" dirty="0">
              <a:solidFill>
                <a:schemeClr val="tx1"/>
              </a:solidFill>
              <a:latin typeface="+mj-lt"/>
            </a:endParaRPr>
          </a:p>
          <a:p>
            <a:pPr marL="0" marR="0" lvl="0" indent="0" algn="l" defTabSz="457200" rtl="0" eaLnBrk="1" fontAlgn="auto" latinLnBrk="0" hangingPunct="1">
              <a:lnSpc>
                <a:spcPct val="100000"/>
              </a:lnSpc>
              <a:spcBef>
                <a:spcPts val="0"/>
              </a:spcBef>
              <a:spcAft>
                <a:spcPts val="600"/>
              </a:spcAft>
              <a:buClrTx/>
              <a:buSzTx/>
              <a:buFontTx/>
              <a:buNone/>
              <a:tabLst/>
              <a:defRPr/>
            </a:pPr>
            <a:r>
              <a:rPr lang="en-US" sz="1800" dirty="0">
                <a:solidFill>
                  <a:schemeClr val="tx1"/>
                </a:solidFill>
                <a:latin typeface="+mj-lt"/>
              </a:rPr>
              <a:t>https://keylime.readthedocs.io/en/latest/design/overview.html#registrar</a:t>
            </a:r>
          </a:p>
          <a:p>
            <a:pPr marL="0" marR="0" lvl="0" indent="0" algn="l" defTabSz="457200" rtl="0" eaLnBrk="1" fontAlgn="auto" latinLnBrk="0" hangingPunct="1">
              <a:lnSpc>
                <a:spcPct val="100000"/>
              </a:lnSpc>
              <a:spcBef>
                <a:spcPts val="0"/>
              </a:spcBef>
              <a:spcAft>
                <a:spcPts val="600"/>
              </a:spcAft>
              <a:buClrTx/>
              <a:buSzTx/>
              <a:buFontTx/>
              <a:buNone/>
              <a:tabLst/>
              <a:defRPr/>
            </a:pPr>
            <a:endParaRPr lang="en-US" sz="1800" dirty="0">
              <a:solidFill>
                <a:schemeClr val="tx1"/>
              </a:solidFill>
              <a:latin typeface="+mj-lt"/>
            </a:endParaRPr>
          </a:p>
          <a:p>
            <a:pPr marL="0" marR="0" lvl="0" indent="0" algn="l" defTabSz="457200" rtl="0" eaLnBrk="1" fontAlgn="auto" latinLnBrk="0" hangingPunct="1">
              <a:lnSpc>
                <a:spcPct val="100000"/>
              </a:lnSpc>
              <a:spcBef>
                <a:spcPts val="0"/>
              </a:spcBef>
              <a:spcAft>
                <a:spcPts val="600"/>
              </a:spcAft>
              <a:buClrTx/>
              <a:buSzTx/>
              <a:buFontTx/>
              <a:buNone/>
              <a:tabLst/>
              <a:defRPr/>
            </a:pPr>
            <a:r>
              <a:rPr lang="en-US" sz="1800" dirty="0">
                <a:solidFill>
                  <a:schemeClr val="tx1"/>
                </a:solidFill>
                <a:latin typeface="+mj-lt"/>
              </a:rPr>
              <a:t>https://learn.microsoft.com/en-us/azure/confidential-computing/concept-skr-attestation</a:t>
            </a:r>
          </a:p>
          <a:p>
            <a:pPr marL="0" marR="0" lvl="0" indent="0" algn="l" defTabSz="457200" rtl="0" eaLnBrk="1" fontAlgn="auto" latinLnBrk="0" hangingPunct="1">
              <a:lnSpc>
                <a:spcPct val="100000"/>
              </a:lnSpc>
              <a:spcBef>
                <a:spcPts val="0"/>
              </a:spcBef>
              <a:spcAft>
                <a:spcPts val="600"/>
              </a:spcAft>
              <a:buClrTx/>
              <a:buSzTx/>
              <a:buFontTx/>
              <a:buNone/>
              <a:tabLst/>
              <a:defRPr/>
            </a:pPr>
            <a:endParaRPr lang="en-US" sz="1800" dirty="0">
              <a:solidFill>
                <a:schemeClr val="tx1"/>
              </a:solidFill>
              <a:latin typeface="+mj-lt"/>
            </a:endParaRPr>
          </a:p>
          <a:p>
            <a:pPr marL="0" marR="0" lvl="0" indent="0" algn="l" defTabSz="457200" rtl="0" eaLnBrk="1" fontAlgn="auto" latinLnBrk="0" hangingPunct="1">
              <a:lnSpc>
                <a:spcPct val="100000"/>
              </a:lnSpc>
              <a:spcBef>
                <a:spcPts val="0"/>
              </a:spcBef>
              <a:spcAft>
                <a:spcPts val="600"/>
              </a:spcAft>
              <a:buClrTx/>
              <a:buSzTx/>
              <a:buFontTx/>
              <a:buNone/>
              <a:tabLst/>
              <a:defRPr/>
            </a:pPr>
            <a:r>
              <a:rPr lang="en-US" sz="1800" dirty="0">
                <a:solidFill>
                  <a:schemeClr val="tx1"/>
                </a:solidFill>
                <a:latin typeface="+mj-lt"/>
              </a:rPr>
              <a:t>Includes country local legal mandates on data localization (China, Russia, India etc.) - e.g., sensitive data like financial or personal data should not leave the country.</a:t>
            </a:r>
          </a:p>
          <a:p>
            <a:pPr marL="285750" marR="0" indent="-285750">
              <a:spcAft>
                <a:spcPts val="600"/>
              </a:spcAft>
              <a:buFontTx/>
              <a:buChar char="-"/>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In this deployment model:</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decryption key is securely stored in a Hardware Security Module (HSM)-based key vault located in data centers (DCs) with high physical security, usually in a central location.</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encrypted AI model is also stored in DCs with high physical security.</a:t>
            </a:r>
          </a:p>
          <a:p>
            <a:pPr marL="342900" marR="0" lvl="0" indent="-342900">
              <a:spcAft>
                <a:spcPts val="600"/>
              </a:spcAft>
              <a:buSzPts val="1000"/>
              <a:buFont typeface="Symbol" pitchFamily="2" charset="2"/>
              <a:buChar char=""/>
              <a:tabLst>
                <a:tab pos="2286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AI model inferencing application runs within a Confidential Computing (CC) environment, where the model is processed in memory. This application is distributed across DCs with moderate physical security, often located at the edge.</a:t>
            </a:r>
          </a:p>
          <a:p>
            <a:pPr marL="0" marR="0">
              <a:spcAft>
                <a:spcPts val="600"/>
              </a:spcAft>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spcAft>
                <a:spcPts val="6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Upon starting or restarting, the AI inferencing application follows three basic steps:</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Fetches the model decryption key from the HSM-based key vault.</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Retrieves the encrypted AI model from storage and decrypts it using the decryption key.</a:t>
            </a:r>
          </a:p>
          <a:p>
            <a:pPr marL="342900" marR="0" lvl="0" indent="-342900">
              <a:spcAft>
                <a:spcPts val="600"/>
              </a:spcAft>
              <a:buFont typeface="+mj-lt"/>
              <a:buAutoNum type="arabicPeriod"/>
            </a:pPr>
            <a:r>
              <a:rPr lang="en-US" sz="1800" kern="100" dirty="0">
                <a:effectLst/>
                <a:latin typeface="Aptos" panose="020B0004020202020204" pitchFamily="34" charset="0"/>
                <a:ea typeface="Aptos" panose="020B0004020202020204" pitchFamily="34" charset="0"/>
                <a:cs typeface="Arial" panose="020B0604020202020204" pitchFamily="34" charset="0"/>
              </a:rPr>
              <a:t>The application is then ready to serve enterprise end users.</a:t>
            </a:r>
          </a:p>
          <a:p>
            <a:endParaRPr lang="en-US" dirty="0"/>
          </a:p>
        </p:txBody>
      </p:sp>
    </p:spTree>
    <p:extLst>
      <p:ext uri="{BB962C8B-B14F-4D97-AF65-F5344CB8AC3E}">
        <p14:creationId xmlns:p14="http://schemas.microsoft.com/office/powerpoint/2010/main" val="18623946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0E540-E7B6-978B-511F-41C3D6B97A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545BC-EFB7-6A33-68DF-EC8376BE3AD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4C0F7F0-7D45-1D32-D237-BC1DE9DD2232}"/>
              </a:ext>
            </a:extLst>
          </p:cNvPr>
          <p:cNvSpPr>
            <a:spLocks noGrp="1"/>
          </p:cNvSpPr>
          <p:nvPr>
            <p:ph type="body" idx="1"/>
          </p:nvPr>
        </p:nvSpPr>
        <p:spPr/>
        <p:txBody>
          <a:bodyPr/>
          <a:lstStyle/>
          <a:p>
            <a:r>
              <a:rPr lang="en-US" b="1" dirty="0"/>
              <a:t>Act 2: The Happy Path (Proof of Geofencing)</a:t>
            </a:r>
          </a:p>
          <a:p>
            <a:r>
              <a:rPr lang="en-US" b="1" dirty="0"/>
              <a:t>Display Slide:</a:t>
            </a:r>
            <a:r>
              <a:rPr lang="en-US" dirty="0"/>
              <a:t> "Demo Act 2 – The Happy Path..." </a:t>
            </a:r>
          </a:p>
          <a:p>
            <a:r>
              <a:rPr lang="en-US" dirty="0"/>
              <a:t>"Now, we bring up the </a:t>
            </a:r>
            <a:r>
              <a:rPr lang="en-US" b="1" dirty="0"/>
              <a:t>Location Anchor Host</a:t>
            </a:r>
            <a:r>
              <a:rPr lang="en-US" dirty="0"/>
              <a:t>. Note that it is equipped with a specific </a:t>
            </a:r>
            <a:r>
              <a:rPr lang="en-US" b="1" dirty="0"/>
              <a:t>Mobile Location Sensor (GNSS)</a:t>
            </a:r>
            <a:r>
              <a:rPr lang="en-US" dirty="0"/>
              <a:t>.</a:t>
            </a:r>
          </a:p>
          <a:p>
            <a:r>
              <a:rPr lang="en-US" b="1" dirty="0"/>
              <a:t>The Unified Identity:</a:t>
            </a:r>
            <a:r>
              <a:rPr lang="en-US" dirty="0"/>
              <a:t> Let's authorize the workload. In our </a:t>
            </a:r>
            <a:r>
              <a:rPr lang="en-US" b="1" dirty="0"/>
              <a:t>Phase II</a:t>
            </a:r>
            <a:r>
              <a:rPr lang="en-US" dirty="0"/>
              <a:t> solution , the identity is like a 'Russian Doll':</a:t>
            </a:r>
          </a:p>
          <a:p>
            <a:r>
              <a:rPr lang="en-US" b="1" dirty="0"/>
              <a:t>Outer Layer:</a:t>
            </a:r>
            <a:r>
              <a:rPr lang="en-US" dirty="0"/>
              <a:t> Workload ID (Software).</a:t>
            </a:r>
          </a:p>
          <a:p>
            <a:r>
              <a:rPr lang="en-US" b="1" dirty="0"/>
              <a:t>Middle Layer:</a:t>
            </a:r>
            <a:r>
              <a:rPr lang="en-US" dirty="0"/>
              <a:t> Host ID (TPM/Silicon).</a:t>
            </a:r>
          </a:p>
          <a:p>
            <a:r>
              <a:rPr lang="en-US" b="1" dirty="0"/>
              <a:t>Inner Core:</a:t>
            </a:r>
            <a:r>
              <a:rPr lang="en-US" dirty="0"/>
              <a:t> Location Sensor ID (Physics).</a:t>
            </a:r>
          </a:p>
          <a:p>
            <a:r>
              <a:rPr lang="en-US" b="1" dirty="0"/>
              <a:t>Display Slide:</a:t>
            </a:r>
            <a:r>
              <a:rPr lang="en-US" dirty="0"/>
              <a:t> "Appendix: Unified Identity Architecture Details" </a:t>
            </a:r>
          </a:p>
          <a:p>
            <a:r>
              <a:rPr lang="en-US" dirty="0"/>
              <a:t>"Look at </a:t>
            </a:r>
            <a:r>
              <a:rPr lang="en-US" b="1" dirty="0"/>
              <a:t>Step 9</a:t>
            </a:r>
            <a:r>
              <a:rPr lang="en-US" dirty="0"/>
              <a:t> in this architectural flow. The Agent fetches a </a:t>
            </a:r>
            <a:r>
              <a:rPr lang="en-US" b="1" dirty="0"/>
              <a:t>Unified SVID</a:t>
            </a:r>
            <a:r>
              <a:rPr lang="en-US" dirty="0"/>
              <a:t>. It is blocked until the </a:t>
            </a:r>
            <a:r>
              <a:rPr lang="en-US" b="1" dirty="0"/>
              <a:t>Keylime Agent Geolocation Plugin</a:t>
            </a:r>
            <a:r>
              <a:rPr lang="en-US" dirty="0"/>
              <a:t> provides the hardware proof.</a:t>
            </a:r>
          </a:p>
          <a:p>
            <a:r>
              <a:rPr lang="en-US" i="1" dirty="0"/>
              <a:t>Action: I am starting the SPIRE Agent. It connects to the Keylime Plugin, verifies the GNSS sensor, and receives the Unified SVID.</a:t>
            </a:r>
            <a:endParaRPr lang="en-US" dirty="0"/>
          </a:p>
          <a:p>
            <a:r>
              <a:rPr lang="en-US" b="1" dirty="0"/>
              <a:t>The Visual Proof:</a:t>
            </a:r>
            <a:r>
              <a:rPr lang="en-US" dirty="0"/>
              <a:t> I’m decoding the certificate now. You can see the </a:t>
            </a:r>
            <a:r>
              <a:rPr lang="en-US" b="1" dirty="0"/>
              <a:t>Proof of Residency (PoR)</a:t>
            </a:r>
            <a:r>
              <a:rPr lang="en-US" dirty="0"/>
              <a:t> embedded directly in the certificate extensions.</a:t>
            </a:r>
          </a:p>
          <a:p>
            <a:r>
              <a:rPr lang="en-US" i="1" dirty="0"/>
              <a:t>Action: The Client App calls the Server.</a:t>
            </a:r>
            <a:endParaRPr lang="en-US" dirty="0"/>
          </a:p>
          <a:p>
            <a:r>
              <a:rPr lang="en-US" dirty="0"/>
              <a:t>The </a:t>
            </a:r>
            <a:r>
              <a:rPr lang="en-US" b="1" dirty="0"/>
              <a:t>Envoy Proxy</a:t>
            </a:r>
            <a:r>
              <a:rPr lang="en-US" dirty="0"/>
              <a:t> in the On-Prem cloud verifies the signature and the </a:t>
            </a:r>
            <a:r>
              <a:rPr lang="en-US" b="1" dirty="0"/>
              <a:t>Proof of Geofencing (PoG)</a:t>
            </a:r>
            <a:r>
              <a:rPr lang="en-US" dirty="0"/>
              <a:t>. </a:t>
            </a:r>
            <a:r>
              <a:rPr lang="en-US" i="1" dirty="0"/>
              <a:t>Log Check: Envoy reports '200 OK'. The location is verified as compliant.</a:t>
            </a:r>
            <a:r>
              <a:rPr lang="en-US" dirty="0"/>
              <a:t>"</a:t>
            </a:r>
          </a:p>
          <a:p>
            <a:endParaRPr lang="en-US" dirty="0"/>
          </a:p>
        </p:txBody>
      </p:sp>
    </p:spTree>
    <p:extLst>
      <p:ext uri="{BB962C8B-B14F-4D97-AF65-F5344CB8AC3E}">
        <p14:creationId xmlns:p14="http://schemas.microsoft.com/office/powerpoint/2010/main" val="42079976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Blue A">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hasCustomPrompt="1"/>
          </p:nvPr>
        </p:nvSpPr>
        <p:spPr>
          <a:xfrm>
            <a:off x="1530416" y="944163"/>
            <a:ext cx="9130624" cy="627700"/>
          </a:xfrm>
        </p:spPr>
        <p:txBody>
          <a:bodyPr anchor="b" anchorCtr="0">
            <a:normAutofit/>
          </a:bodyPr>
          <a:lstStyle>
            <a:lvl1pPr marL="0" indent="0">
              <a:buFontTx/>
              <a:buNone/>
              <a:defRPr sz="1600">
                <a:solidFill>
                  <a:schemeClr val="accent2"/>
                </a:solidFill>
                <a:latin typeface="+mn-lt"/>
              </a:defRPr>
            </a:lvl1pPr>
          </a:lstStyle>
          <a:p>
            <a:pPr lvl="0"/>
            <a:r>
              <a:rPr lang="en-US"/>
              <a:t>Click to edit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hasCustomPrompt="1"/>
          </p:nvPr>
        </p:nvSpPr>
        <p:spPr>
          <a:xfrm>
            <a:off x="1529542" y="1635111"/>
            <a:ext cx="9110749" cy="1874852"/>
          </a:xfrm>
        </p:spPr>
        <p:txBody>
          <a:bodyPr anchor="b"/>
          <a:lstStyle>
            <a:lvl1pPr algn="l">
              <a:defRPr sz="6000">
                <a:solidFill>
                  <a:schemeClr val="tx1"/>
                </a:solidFill>
              </a:defRPr>
            </a:lvl1pPr>
          </a:lstStyle>
          <a:p>
            <a:r>
              <a:rPr lang="en-US"/>
              <a:t>Click to edit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hasCustomPrompt="1"/>
          </p:nvPr>
        </p:nvSpPr>
        <p:spPr>
          <a:xfrm>
            <a:off x="1529542" y="3602038"/>
            <a:ext cx="9110749" cy="1655762"/>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847612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15AA-229D-4A6C-90C6-57CFD374E6F1}"/>
              </a:ext>
            </a:extLst>
          </p:cNvPr>
          <p:cNvSpPr>
            <a:spLocks noGrp="1"/>
          </p:cNvSpPr>
          <p:nvPr>
            <p:ph type="title" hasCustomPrompt="1"/>
          </p:nvPr>
        </p:nvSpPr>
        <p:spPr/>
        <p:txBody>
          <a:bodyPr/>
          <a:lstStyle/>
          <a:p>
            <a:r>
              <a:rPr lang="en-US"/>
              <a:t>Click to edit title style</a:t>
            </a:r>
          </a:p>
        </p:txBody>
      </p:sp>
    </p:spTree>
    <p:extLst>
      <p:ext uri="{BB962C8B-B14F-4D97-AF65-F5344CB8AC3E}">
        <p14:creationId xmlns:p14="http://schemas.microsoft.com/office/powerpoint/2010/main" val="263364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368BF-F1E4-4683-BA9A-72115B1D9783}"/>
              </a:ext>
            </a:extLst>
          </p:cNvPr>
          <p:cNvSpPr>
            <a:spLocks noGrp="1"/>
          </p:cNvSpPr>
          <p:nvPr>
            <p:ph type="title" hasCustomPrompt="1"/>
          </p:nvPr>
        </p:nvSpPr>
        <p:spPr/>
        <p:txBody>
          <a:bodyPr/>
          <a:lstStyle/>
          <a:p>
            <a:r>
              <a:rPr lang="en-US"/>
              <a:t>Click to edit title style</a:t>
            </a:r>
          </a:p>
        </p:txBody>
      </p:sp>
      <p:sp>
        <p:nvSpPr>
          <p:cNvPr id="4" name="Content Placeholder 3">
            <a:extLst>
              <a:ext uri="{FF2B5EF4-FFF2-40B4-BE49-F238E27FC236}">
                <a16:creationId xmlns:a16="http://schemas.microsoft.com/office/drawing/2014/main" id="{EDB16C5C-41A7-48AD-AE8C-9CD787615F4E}"/>
              </a:ext>
            </a:extLst>
          </p:cNvPr>
          <p:cNvSpPr>
            <a:spLocks noGrp="1"/>
          </p:cNvSpPr>
          <p:nvPr>
            <p:ph sz="quarter" idx="10" hasCustomPrompt="1"/>
          </p:nvPr>
        </p:nvSpPr>
        <p:spPr>
          <a:xfrm>
            <a:off x="614363" y="1496350"/>
            <a:ext cx="10971212" cy="4705350"/>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1705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56198"/>
            <a:ext cx="10972800" cy="1199822"/>
          </a:xfrm>
        </p:spPr>
        <p:txBody>
          <a:bodyPr>
            <a:normAutofit/>
          </a:bodyPr>
          <a:lstStyle>
            <a:lvl1pPr>
              <a:defRPr sz="36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1487056"/>
            <a:ext cx="10972800" cy="4689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7463510"/>
      </p:ext>
    </p:extLst>
  </p:cSld>
  <p:clrMapOvr>
    <a:masterClrMapping/>
  </p:clrMapOvr>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Sub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a:xfrm>
            <a:off x="381000" y="238991"/>
            <a:ext cx="10972800" cy="113260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5923935"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p:nvPr>
        </p:nvSpPr>
        <p:spPr>
          <a:xfrm>
            <a:off x="381000" y="1495361"/>
            <a:ext cx="10972800" cy="530454"/>
          </a:xfrm>
        </p:spPr>
        <p:txBody>
          <a:bodyPr>
            <a:noAutofit/>
          </a:bodyPr>
          <a:lstStyle>
            <a:lvl1pPr marL="0" indent="0">
              <a:buNone/>
              <a:defRPr sz="3200" b="0" i="0">
                <a:solidFill>
                  <a:srgbClr val="0070C0"/>
                </a:solidFill>
                <a:latin typeface="IntelOne Text" panose="020B0503020203020204" pitchFamily="34" charset="77"/>
              </a:defRPr>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2713425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p:nvPr>
        </p:nvSpPr>
        <p:spPr>
          <a:xfrm>
            <a:off x="381000" y="221694"/>
            <a:ext cx="11433464" cy="119982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p:nvPr>
        </p:nvSpPr>
        <p:spPr>
          <a:xfrm>
            <a:off x="380999" y="1496292"/>
            <a:ext cx="5429865" cy="4686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p:nvPr>
        </p:nvSpPr>
        <p:spPr>
          <a:xfrm>
            <a:off x="6384599" y="1496292"/>
            <a:ext cx="5429865" cy="4686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67652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9_Title Slide Blue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1C9A7C7-82DB-2122-E89A-15903BB53059}"/>
              </a:ext>
            </a:extLst>
          </p:cNvPr>
          <p:cNvSpPr/>
          <p:nvPr userDrawn="1"/>
        </p:nvSpPr>
        <p:spPr>
          <a:xfrm>
            <a:off x="0" y="0"/>
            <a:ext cx="12192000" cy="6858000"/>
          </a:xfrm>
          <a:prstGeom prst="rect">
            <a:avLst/>
          </a:prstGeom>
          <a:blipFill dpi="0" rotWithShape="1">
            <a:blip r:embed="rId3">
              <a:alphaModFix amt="5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F200040-B841-47B7-8555-E0299CDC24FA}"/>
              </a:ext>
            </a:extLst>
          </p:cNvPr>
          <p:cNvSpPr/>
          <p:nvPr/>
        </p:nvSpPr>
        <p:spPr>
          <a:xfrm>
            <a:off x="1839771" y="1886810"/>
            <a:ext cx="8488394" cy="3399123"/>
          </a:xfrm>
          <a:prstGeom prst="rect">
            <a:avLst/>
          </a:prstGeom>
          <a:solidFill>
            <a:srgbClr val="002060">
              <a:alpha val="80000"/>
            </a:srgbClr>
          </a:solidFill>
          <a:ln w="1270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Tree>
    <p:extLst>
      <p:ext uri="{BB962C8B-B14F-4D97-AF65-F5344CB8AC3E}">
        <p14:creationId xmlns:p14="http://schemas.microsoft.com/office/powerpoint/2010/main" val="226157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2_Title Slide Blue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D1E94A-A59C-E5E4-AA73-E38DF7C5D0E1}"/>
              </a:ext>
            </a:extLst>
          </p:cNvPr>
          <p:cNvSpPr/>
          <p:nvPr userDrawn="1"/>
        </p:nvSpPr>
        <p:spPr>
          <a:xfrm>
            <a:off x="0" y="0"/>
            <a:ext cx="12192000" cy="6858000"/>
          </a:xfrm>
          <a:prstGeom prst="rect">
            <a:avLst/>
          </a:prstGeom>
          <a:blipFill dpi="0" rotWithShape="1">
            <a:blip r:embed="rId3">
              <a:alphaModFix amt="5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F200040-B841-47B7-8555-E0299CDC24FA}"/>
              </a:ext>
            </a:extLst>
          </p:cNvPr>
          <p:cNvSpPr/>
          <p:nvPr/>
        </p:nvSpPr>
        <p:spPr>
          <a:xfrm>
            <a:off x="1839771" y="1886810"/>
            <a:ext cx="8488394" cy="3399123"/>
          </a:xfrm>
          <a:prstGeom prst="rect">
            <a:avLst/>
          </a:prstGeom>
          <a:solidFill>
            <a:srgbClr val="002060">
              <a:alpha val="80000"/>
            </a:srgbClr>
          </a:solidFill>
          <a:ln w="1270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Tree>
    <p:extLst>
      <p:ext uri="{BB962C8B-B14F-4D97-AF65-F5344CB8AC3E}">
        <p14:creationId xmlns:p14="http://schemas.microsoft.com/office/powerpoint/2010/main" val="1951767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E6FF81-1360-2DCD-CF0B-E4B537780F7C}"/>
              </a:ext>
            </a:extLst>
          </p:cNvPr>
          <p:cNvSpPr/>
          <p:nvPr userDrawn="1"/>
        </p:nvSpPr>
        <p:spPr>
          <a:xfrm>
            <a:off x="0" y="0"/>
            <a:ext cx="12192000" cy="6400800"/>
          </a:xfrm>
          <a:prstGeom prst="rect">
            <a:avLst/>
          </a:prstGeom>
          <a:blipFill dpi="0" rotWithShape="1">
            <a:blip r:embed="rId3">
              <a:alphaModFix amt="34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0179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Only">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E6FF81-1360-2DCD-CF0B-E4B537780F7C}"/>
              </a:ext>
            </a:extLst>
          </p:cNvPr>
          <p:cNvSpPr/>
          <p:nvPr userDrawn="1"/>
        </p:nvSpPr>
        <p:spPr>
          <a:xfrm>
            <a:off x="0" y="0"/>
            <a:ext cx="12192000" cy="6400800"/>
          </a:xfrm>
          <a:prstGeom prst="rect">
            <a:avLst/>
          </a:prstGeom>
          <a:blipFill dpi="0" rotWithShape="1">
            <a:blip r:embed="rId3">
              <a:alphaModFix amt="9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29701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Only">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E6FF81-1360-2DCD-CF0B-E4B537780F7C}"/>
              </a:ext>
            </a:extLst>
          </p:cNvPr>
          <p:cNvSpPr/>
          <p:nvPr userDrawn="1"/>
        </p:nvSpPr>
        <p:spPr>
          <a:xfrm>
            <a:off x="0" y="0"/>
            <a:ext cx="12192000" cy="6400800"/>
          </a:xfrm>
          <a:prstGeom prst="rect">
            <a:avLst/>
          </a:prstGeom>
          <a:blipFill dpi="0" rotWithShape="1">
            <a:blip r:embed="rId3">
              <a:alphaModFix amt="34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F4FB9D17-E75E-8F54-409A-081DA6239046}"/>
              </a:ext>
            </a:extLst>
          </p:cNvPr>
          <p:cNvSpPr>
            <a:spLocks noGrp="1"/>
          </p:cNvSpPr>
          <p:nvPr>
            <p:ph type="title"/>
          </p:nvPr>
        </p:nvSpPr>
        <p:spPr>
          <a:xfrm>
            <a:off x="609600" y="1924378"/>
            <a:ext cx="10972800" cy="1199822"/>
          </a:xfrm>
        </p:spPr>
        <p:txBody>
          <a:bodyPr anchor="b" anchorCtr="0">
            <a:normAutofit/>
          </a:bodyPr>
          <a:lstStyle>
            <a:lvl1pPr algn="ctr">
              <a:defRPr sz="5400"/>
            </a:lvl1pPr>
          </a:lstStyle>
          <a:p>
            <a:r>
              <a:rPr lang="en-US"/>
              <a:t>Click to edit Master title style</a:t>
            </a:r>
          </a:p>
        </p:txBody>
      </p:sp>
      <p:sp>
        <p:nvSpPr>
          <p:cNvPr id="5" name="Text Placeholder 3">
            <a:extLst>
              <a:ext uri="{FF2B5EF4-FFF2-40B4-BE49-F238E27FC236}">
                <a16:creationId xmlns:a16="http://schemas.microsoft.com/office/drawing/2014/main" id="{7ED6E685-2EF5-CF9B-6994-A441A67E6F64}"/>
              </a:ext>
            </a:extLst>
          </p:cNvPr>
          <p:cNvSpPr>
            <a:spLocks noGrp="1"/>
          </p:cNvSpPr>
          <p:nvPr>
            <p:ph type="body" sz="quarter" idx="10"/>
          </p:nvPr>
        </p:nvSpPr>
        <p:spPr>
          <a:xfrm>
            <a:off x="609600" y="3144517"/>
            <a:ext cx="10972800" cy="681935"/>
          </a:xfrm>
        </p:spPr>
        <p:txBody>
          <a:bodyPr>
            <a:normAutofit/>
          </a:bodyPr>
          <a:lstStyle>
            <a:lvl1pPr marL="0" indent="0" algn="ctr">
              <a:buNone/>
              <a:defRPr sz="3600">
                <a:solidFill>
                  <a:schemeClr val="tx1"/>
                </a:solidFill>
                <a:effectLst>
                  <a:outerShdw blurRad="38100" dist="38100" dir="2700000" algn="tl">
                    <a:srgbClr val="000000">
                      <a:alpha val="43137"/>
                    </a:srgbClr>
                  </a:outerShdw>
                </a:effectLst>
                <a:latin typeface="IntelOne Display Bold" panose="020B0803020203020204" pitchFamily="34" charset="0"/>
              </a:defRPr>
            </a:lvl1pPr>
          </a:lstStyle>
          <a:p>
            <a:pPr lvl="0"/>
            <a:r>
              <a:rPr lang="en-US"/>
              <a:t>Click to edit Master text styles</a:t>
            </a:r>
          </a:p>
        </p:txBody>
      </p:sp>
    </p:spTree>
    <p:extLst>
      <p:ext uri="{BB962C8B-B14F-4D97-AF65-F5344CB8AC3E}">
        <p14:creationId xmlns:p14="http://schemas.microsoft.com/office/powerpoint/2010/main" val="362515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435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dirty="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Tree>
    <p:extLst>
      <p:ext uri="{BB962C8B-B14F-4D97-AF65-F5344CB8AC3E}">
        <p14:creationId xmlns:p14="http://schemas.microsoft.com/office/powerpoint/2010/main" val="2807538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4_Title Slide Blue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F200040-B841-47B7-8555-E0299CDC24FA}"/>
              </a:ext>
            </a:extLst>
          </p:cNvPr>
          <p:cNvSpPr/>
          <p:nvPr/>
        </p:nvSpPr>
        <p:spPr>
          <a:xfrm>
            <a:off x="2225326" y="1285647"/>
            <a:ext cx="8198834" cy="3826230"/>
          </a:xfrm>
          <a:prstGeom prst="rect">
            <a:avLst/>
          </a:prstGeom>
          <a:solidFill>
            <a:srgbClr val="002060">
              <a:alpha val="76000"/>
            </a:srgbClr>
          </a:solidFill>
          <a:ln w="12700" cap="flat">
            <a:solidFill>
              <a:srgbClr val="0070C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6" tIns="50796" rIns="50796" bIns="50796" numCol="1" spcCol="38100" rtlCol="0" anchor="ctr">
            <a:noAutofit/>
          </a:bodyPr>
          <a:lstStyle/>
          <a:p>
            <a:pPr marL="0" marR="0" indent="0" algn="ctr" defTabSz="825462"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2343672" y="2275045"/>
            <a:ext cx="7962143" cy="1857595"/>
          </a:xfrm>
        </p:spPr>
        <p:txBody>
          <a:bodyPr anchor="b">
            <a:normAutofit/>
          </a:bodyPr>
          <a:lstStyle>
            <a:lvl1pPr algn="l">
              <a:defRPr sz="5400">
                <a:solidFill>
                  <a:schemeClr val="tx1"/>
                </a:solidFill>
                <a:latin typeface="+mn-lt"/>
              </a:defRPr>
            </a:lvl1pPr>
          </a:lstStyle>
          <a:p>
            <a:r>
              <a:rPr lang="en-US"/>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2343672" y="4203720"/>
            <a:ext cx="7962143" cy="736600"/>
          </a:xfrm>
        </p:spPr>
        <p:txBody>
          <a:bodyPr/>
          <a:lstStyle>
            <a:lvl1pPr marL="0" indent="0" algn="l">
              <a:buNone/>
              <a:defRPr sz="2400">
                <a:solidFill>
                  <a:schemeClr val="tx1"/>
                </a:solidFill>
              </a:defRPr>
            </a:lvl1pPr>
            <a:lvl2pPr marL="457179" indent="0" algn="ctr">
              <a:buNone/>
              <a:defRPr sz="2000"/>
            </a:lvl2pPr>
            <a:lvl3pPr marL="914358" indent="0" algn="ctr">
              <a:buNone/>
              <a:defRPr sz="1800"/>
            </a:lvl3pPr>
            <a:lvl4pPr marL="1371536" indent="0" algn="ctr">
              <a:buNone/>
              <a:defRPr sz="1600"/>
            </a:lvl4pPr>
            <a:lvl5pPr marL="1828715" indent="0" algn="ctr">
              <a:buNone/>
              <a:defRPr sz="1600"/>
            </a:lvl5pPr>
            <a:lvl6pPr marL="2285894" indent="0" algn="ctr">
              <a:buNone/>
              <a:defRPr sz="1600"/>
            </a:lvl6pPr>
            <a:lvl7pPr marL="2743073" indent="0" algn="ctr">
              <a:buNone/>
              <a:defRPr sz="1600"/>
            </a:lvl7pPr>
            <a:lvl8pPr marL="3200252" indent="0" algn="ctr">
              <a:buNone/>
              <a:defRPr sz="1600"/>
            </a:lvl8pPr>
            <a:lvl9pPr marL="3657430" indent="0" algn="ctr">
              <a:buNone/>
              <a:defRPr sz="1600"/>
            </a:lvl9pPr>
          </a:lstStyle>
          <a:p>
            <a:r>
              <a:rPr lang="en-US"/>
              <a:t>Click to edit Master subtitle style</a:t>
            </a:r>
          </a:p>
        </p:txBody>
      </p:sp>
    </p:spTree>
    <p:extLst>
      <p:ext uri="{BB962C8B-B14F-4D97-AF65-F5344CB8AC3E}">
        <p14:creationId xmlns:p14="http://schemas.microsoft.com/office/powerpoint/2010/main" val="418931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6_Title Slide Blue A">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C260326-D75F-4C3E-87F5-FE4631D9CB88}"/>
              </a:ext>
            </a:extLst>
          </p:cNvPr>
          <p:cNvSpPr/>
          <p:nvPr userDrawn="1"/>
        </p:nvSpPr>
        <p:spPr>
          <a:xfrm>
            <a:off x="0" y="0"/>
            <a:ext cx="12192000" cy="6858000"/>
          </a:xfrm>
          <a:prstGeom prst="rect">
            <a:avLst/>
          </a:prstGeom>
          <a:solidFill>
            <a:srgbClr val="002060">
              <a:alpha val="4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F200040-B841-47B7-8555-E0299CDC24FA}"/>
              </a:ext>
            </a:extLst>
          </p:cNvPr>
          <p:cNvSpPr/>
          <p:nvPr/>
        </p:nvSpPr>
        <p:spPr>
          <a:xfrm>
            <a:off x="2918345" y="1559293"/>
            <a:ext cx="6693707" cy="3552583"/>
          </a:xfrm>
          <a:prstGeom prst="rect">
            <a:avLst/>
          </a:prstGeom>
          <a:solidFill>
            <a:srgbClr val="00285A">
              <a:alpha val="76000"/>
            </a:srgbClr>
          </a:solidFill>
          <a:ln w="12700" cap="flat">
            <a:solidFill>
              <a:srgbClr val="0070C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796" tIns="50796" rIns="50796" bIns="50796" numCol="1" spcCol="38100" rtlCol="0" anchor="ctr">
            <a:noAutofit/>
          </a:bodyPr>
          <a:lstStyle/>
          <a:p>
            <a:pPr marL="0" marR="0" indent="0" algn="ctr" defTabSz="825462"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p:nvPr>
        </p:nvSpPr>
        <p:spPr>
          <a:xfrm>
            <a:off x="3123319" y="1955006"/>
            <a:ext cx="6290189" cy="1857595"/>
          </a:xfrm>
        </p:spPr>
        <p:txBody>
          <a:bodyPr anchor="b">
            <a:normAutofit/>
          </a:bodyPr>
          <a:lstStyle>
            <a:lvl1pPr algn="l">
              <a:defRPr sz="5400">
                <a:solidFill>
                  <a:schemeClr val="tx1"/>
                </a:solidFill>
                <a:latin typeface="+mn-lt"/>
              </a:defRPr>
            </a:lvl1pPr>
          </a:lstStyle>
          <a:p>
            <a:r>
              <a:rPr lang="en-US"/>
              <a:t>Click to edit Master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p:nvPr>
        </p:nvSpPr>
        <p:spPr>
          <a:xfrm>
            <a:off x="3123319" y="3883681"/>
            <a:ext cx="6290189" cy="736600"/>
          </a:xfrm>
        </p:spPr>
        <p:txBody>
          <a:bodyPr/>
          <a:lstStyle>
            <a:lvl1pPr marL="0" indent="0" algn="l">
              <a:buNone/>
              <a:defRPr sz="2400">
                <a:solidFill>
                  <a:schemeClr val="tx1"/>
                </a:solidFill>
              </a:defRPr>
            </a:lvl1pPr>
            <a:lvl2pPr marL="457179" indent="0" algn="ctr">
              <a:buNone/>
              <a:defRPr sz="2000"/>
            </a:lvl2pPr>
            <a:lvl3pPr marL="914358" indent="0" algn="ctr">
              <a:buNone/>
              <a:defRPr sz="1800"/>
            </a:lvl3pPr>
            <a:lvl4pPr marL="1371536" indent="0" algn="ctr">
              <a:buNone/>
              <a:defRPr sz="1600"/>
            </a:lvl4pPr>
            <a:lvl5pPr marL="1828715" indent="0" algn="ctr">
              <a:buNone/>
              <a:defRPr sz="1600"/>
            </a:lvl5pPr>
            <a:lvl6pPr marL="2285894" indent="0" algn="ctr">
              <a:buNone/>
              <a:defRPr sz="1600"/>
            </a:lvl6pPr>
            <a:lvl7pPr marL="2743073" indent="0" algn="ctr">
              <a:buNone/>
              <a:defRPr sz="1600"/>
            </a:lvl7pPr>
            <a:lvl8pPr marL="3200252" indent="0" algn="ctr">
              <a:buNone/>
              <a:defRPr sz="1600"/>
            </a:lvl8pPr>
            <a:lvl9pPr marL="3657430" indent="0" algn="ctr">
              <a:buNone/>
              <a:defRPr sz="1600"/>
            </a:lvl9pPr>
          </a:lstStyle>
          <a:p>
            <a:r>
              <a:rPr lang="en-US"/>
              <a:t>Click to edit Master subtitle style</a:t>
            </a:r>
          </a:p>
        </p:txBody>
      </p:sp>
    </p:spTree>
    <p:extLst>
      <p:ext uri="{BB962C8B-B14F-4D97-AF65-F5344CB8AC3E}">
        <p14:creationId xmlns:p14="http://schemas.microsoft.com/office/powerpoint/2010/main" val="1500034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p:nvPr>
        </p:nvSpPr>
        <p:spPr>
          <a:xfrm>
            <a:off x="381000" y="221694"/>
            <a:ext cx="11430000" cy="1199822"/>
          </a:xfrm>
        </p:spPr>
        <p:txBody>
          <a:bodyPr>
            <a:normAutofit/>
          </a:bodyPr>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p:nvPr>
        </p:nvSpPr>
        <p:spPr>
          <a:xfrm>
            <a:off x="381000" y="1487056"/>
            <a:ext cx="11430000" cy="4689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1198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15AA-229D-4A6C-90C6-57CFD374E6F1}"/>
              </a:ext>
            </a:extLst>
          </p:cNvPr>
          <p:cNvSpPr>
            <a:spLocks noGrp="1"/>
          </p:cNvSpPr>
          <p:nvPr>
            <p:ph type="title"/>
          </p:nvPr>
        </p:nvSpPr>
        <p:spPr/>
        <p:txBody>
          <a:bodyPr>
            <a:normAutofit/>
          </a:bodyPr>
          <a:lstStyle>
            <a:lvl1pPr>
              <a:defRPr sz="4800"/>
            </a:lvl1pPr>
          </a:lstStyle>
          <a:p>
            <a:r>
              <a:rPr lang="en-US"/>
              <a:t>Click to edit Master title style</a:t>
            </a:r>
          </a:p>
        </p:txBody>
      </p:sp>
    </p:spTree>
    <p:extLst>
      <p:ext uri="{BB962C8B-B14F-4D97-AF65-F5344CB8AC3E}">
        <p14:creationId xmlns:p14="http://schemas.microsoft.com/office/powerpoint/2010/main" val="728297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gu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p:nvPr>
        </p:nvSpPr>
        <p:spPr>
          <a:xfrm>
            <a:off x="609600" y="2229178"/>
            <a:ext cx="10972800" cy="1199822"/>
          </a:xfrm>
        </p:spPr>
        <p:txBody>
          <a:bodyPr anchor="b" anchorCtr="0">
            <a:normAutofit/>
          </a:bodyPr>
          <a:lstStyle>
            <a:lvl1pPr algn="ctr">
              <a:defRPr sz="4800"/>
            </a:lvl1pPr>
          </a:lstStyle>
          <a:p>
            <a:r>
              <a:rPr lang="en-US"/>
              <a:t>Click to edit Master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p:nvPr>
        </p:nvSpPr>
        <p:spPr>
          <a:xfrm>
            <a:off x="609600" y="3449318"/>
            <a:ext cx="10972800" cy="681935"/>
          </a:xfrm>
        </p:spPr>
        <p:txBody>
          <a:bodyPr>
            <a:normAutofit/>
          </a:bodyPr>
          <a:lstStyle>
            <a:lvl1pPr marL="0" indent="0" algn="ctr">
              <a:buNone/>
              <a:defRPr sz="2800">
                <a:solidFill>
                  <a:schemeClr val="accent2"/>
                </a:solidFill>
                <a:latin typeface="+mn-lt"/>
              </a:defRPr>
            </a:lvl1pPr>
          </a:lstStyle>
          <a:p>
            <a:pPr lvl="0"/>
            <a:r>
              <a:rPr lang="en-US"/>
              <a:t>Click to edit Master text styles</a:t>
            </a:r>
          </a:p>
        </p:txBody>
      </p:sp>
    </p:spTree>
    <p:extLst>
      <p:ext uri="{BB962C8B-B14F-4D97-AF65-F5344CB8AC3E}">
        <p14:creationId xmlns:p14="http://schemas.microsoft.com/office/powerpoint/2010/main" val="167090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E4233-628B-C84A-8553-7F40B166B458}"/>
              </a:ext>
            </a:extLst>
          </p:cNvPr>
          <p:cNvSpPr>
            <a:spLocks noGrp="1"/>
          </p:cNvSpPr>
          <p:nvPr>
            <p:ph type="title"/>
          </p:nvPr>
        </p:nvSpPr>
        <p:spPr/>
        <p:txBody>
          <a:bodyPr/>
          <a:lstStyle/>
          <a:p>
            <a:r>
              <a:rPr lang="en-GB"/>
              <a:t>Click to edit Master title style</a:t>
            </a:r>
            <a:endParaRPr lang="en-NL"/>
          </a:p>
        </p:txBody>
      </p:sp>
      <p:sp>
        <p:nvSpPr>
          <p:cNvPr id="3" name="Slide Number Placeholder 22">
            <a:extLst>
              <a:ext uri="{FF2B5EF4-FFF2-40B4-BE49-F238E27FC236}">
                <a16:creationId xmlns:a16="http://schemas.microsoft.com/office/drawing/2014/main" id="{535CB53C-5DEF-40F2-AAC2-F1C358B32390}"/>
              </a:ext>
            </a:extLst>
          </p:cNvPr>
          <p:cNvSpPr>
            <a:spLocks noGrp="1"/>
          </p:cNvSpPr>
          <p:nvPr>
            <p:ph type="sldNum" sz="quarter" idx="4"/>
          </p:nvPr>
        </p:nvSpPr>
        <p:spPr>
          <a:xfrm>
            <a:off x="11731200" y="6397199"/>
            <a:ext cx="460800" cy="460801"/>
          </a:xfrm>
          <a:prstGeom prst="rect">
            <a:avLst/>
          </a:prstGeom>
        </p:spPr>
        <p:txBody>
          <a:bodyPr anchor="ctr" anchorCtr="0"/>
          <a:lstStyle>
            <a:lvl1pPr algn="ctr">
              <a:defRPr sz="1100">
                <a:solidFill>
                  <a:schemeClr val="tx1"/>
                </a:solidFill>
                <a:latin typeface="TT Norms Pro" panose="02000503030000020003" pitchFamily="2" charset="0"/>
              </a:defRPr>
            </a:lvl1pPr>
          </a:lstStyle>
          <a:p>
            <a:fld id="{D0601341-1E48-8E48-BCBB-49D78633D3AC}" type="slidenum">
              <a:rPr lang="en-US" smtClean="0"/>
              <a:pPr/>
              <a:t>‹#›</a:t>
            </a:fld>
            <a:endParaRPr lang="en-US" dirty="0"/>
          </a:p>
        </p:txBody>
      </p:sp>
    </p:spTree>
    <p:extLst>
      <p:ext uri="{BB962C8B-B14F-4D97-AF65-F5344CB8AC3E}">
        <p14:creationId xmlns:p14="http://schemas.microsoft.com/office/powerpoint/2010/main" val="20162890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Slide Whit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C945F3-F3DB-8FBA-4D2E-81F9124D32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0800000">
            <a:off x="0" y="-1"/>
            <a:ext cx="12192000" cy="6857999"/>
          </a:xfrm>
          <a:prstGeom prst="rect">
            <a:avLst/>
          </a:prstGeom>
        </p:spPr>
      </p:pic>
      <p:pic>
        <p:nvPicPr>
          <p:cNvPr id="6" name="Picture 5">
            <a:extLst>
              <a:ext uri="{FF2B5EF4-FFF2-40B4-BE49-F238E27FC236}">
                <a16:creationId xmlns:a16="http://schemas.microsoft.com/office/drawing/2014/main" id="{C10F15D3-0010-488C-2254-1410F4F625B1}"/>
              </a:ext>
            </a:extLst>
          </p:cNvPr>
          <p:cNvPicPr>
            <a:picLocks noChangeAspect="1"/>
          </p:cNvPicPr>
          <p:nvPr userDrawn="1"/>
        </p:nvPicPr>
        <p:blipFill>
          <a:blip r:embed="rId3">
            <a:alphaModFix amt="82000"/>
            <a:extLst>
              <a:ext uri="{28A0092B-C50C-407E-A947-70E740481C1C}">
                <a14:useLocalDpi xmlns:a14="http://schemas.microsoft.com/office/drawing/2010/main" val="0"/>
              </a:ext>
            </a:extLst>
          </a:blip>
          <a:stretch>
            <a:fillRect/>
          </a:stretch>
        </p:blipFill>
        <p:spPr>
          <a:xfrm>
            <a:off x="6147680" y="-2"/>
            <a:ext cx="6044320" cy="4333768"/>
          </a:xfrm>
          <a:prstGeom prst="rect">
            <a:avLst/>
          </a:prstGeom>
        </p:spPr>
      </p:pic>
      <p:sp>
        <p:nvSpPr>
          <p:cNvPr id="26" name="Rectangle 25">
            <a:extLst>
              <a:ext uri="{FF2B5EF4-FFF2-40B4-BE49-F238E27FC236}">
                <a16:creationId xmlns:a16="http://schemas.microsoft.com/office/drawing/2014/main" id="{42E5CB85-BB71-CC9F-CB7E-8567A3B6BC2B}"/>
              </a:ext>
            </a:extLst>
          </p:cNvPr>
          <p:cNvSpPr/>
          <p:nvPr userDrawn="1"/>
        </p:nvSpPr>
        <p:spPr>
          <a:xfrm>
            <a:off x="2017985" y="952140"/>
            <a:ext cx="8012711" cy="4534006"/>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13">
            <a:extLst>
              <a:ext uri="{FF2B5EF4-FFF2-40B4-BE49-F238E27FC236}">
                <a16:creationId xmlns:a16="http://schemas.microsoft.com/office/drawing/2014/main" id="{22825262-3F6E-4DC6-AA53-E30B25B15839}"/>
              </a:ext>
            </a:extLst>
          </p:cNvPr>
          <p:cNvSpPr>
            <a:spLocks noGrp="1"/>
          </p:cNvSpPr>
          <p:nvPr>
            <p:ph type="body" sz="quarter" idx="10" hasCustomPrompt="1"/>
          </p:nvPr>
        </p:nvSpPr>
        <p:spPr>
          <a:xfrm>
            <a:off x="3130938" y="1039413"/>
            <a:ext cx="5626161" cy="627700"/>
          </a:xfrm>
        </p:spPr>
        <p:txBody>
          <a:bodyPr anchor="b" anchorCtr="0">
            <a:normAutofit/>
          </a:bodyPr>
          <a:lstStyle>
            <a:lvl1pPr marL="0" indent="0">
              <a:buFontTx/>
              <a:buNone/>
              <a:defRPr sz="1600">
                <a:solidFill>
                  <a:schemeClr val="bg1"/>
                </a:solidFill>
                <a:latin typeface="IntelOne Text" panose="020B0503020203020204" pitchFamily="34" charset="77"/>
              </a:defRPr>
            </a:lvl1pPr>
          </a:lstStyle>
          <a:p>
            <a:pPr lvl="0"/>
            <a:r>
              <a:rPr lang="en-US"/>
              <a:t>Click to edit text styles</a:t>
            </a:r>
          </a:p>
        </p:txBody>
      </p:sp>
      <p:sp>
        <p:nvSpPr>
          <p:cNvPr id="2" name="Title 1">
            <a:extLst>
              <a:ext uri="{FF2B5EF4-FFF2-40B4-BE49-F238E27FC236}">
                <a16:creationId xmlns:a16="http://schemas.microsoft.com/office/drawing/2014/main" id="{A0E6BC2F-544E-4727-A6CC-2BE3B3E01B51}"/>
              </a:ext>
            </a:extLst>
          </p:cNvPr>
          <p:cNvSpPr>
            <a:spLocks noGrp="1"/>
          </p:cNvSpPr>
          <p:nvPr>
            <p:ph type="ctrTitle" hasCustomPrompt="1"/>
          </p:nvPr>
        </p:nvSpPr>
        <p:spPr>
          <a:xfrm>
            <a:off x="3143185" y="1999839"/>
            <a:ext cx="5613914" cy="1874852"/>
          </a:xfrm>
        </p:spPr>
        <p:txBody>
          <a:bodyPr anchor="b">
            <a:normAutofit/>
          </a:bodyPr>
          <a:lstStyle>
            <a:lvl1pPr algn="l">
              <a:lnSpc>
                <a:spcPts val="5800"/>
              </a:lnSpc>
              <a:defRPr sz="5400">
                <a:solidFill>
                  <a:schemeClr val="bg1"/>
                </a:solidFill>
                <a:latin typeface="IntelOne Display Medium" panose="020B0703020203020204" pitchFamily="34" charset="0"/>
              </a:defRPr>
            </a:lvl1pPr>
          </a:lstStyle>
          <a:p>
            <a:r>
              <a:rPr lang="en-US"/>
              <a:t>Click to edit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p:ph type="subTitle" idx="1" hasCustomPrompt="1"/>
          </p:nvPr>
        </p:nvSpPr>
        <p:spPr>
          <a:xfrm>
            <a:off x="3130037" y="4704930"/>
            <a:ext cx="5613914" cy="64812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1012612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410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15AA-229D-4A6C-90C6-57CFD374E6F1}"/>
              </a:ext>
            </a:extLst>
          </p:cNvPr>
          <p:cNvSpPr>
            <a:spLocks noGrp="1"/>
          </p:cNvSpPr>
          <p:nvPr>
            <p:ph type="title" hasCustomPrompt="1"/>
          </p:nvPr>
        </p:nvSpPr>
        <p:spPr/>
        <p:txBody>
          <a:bodyPr/>
          <a:lstStyle/>
          <a:p>
            <a:r>
              <a:rPr lang="en-US"/>
              <a:t>Click to edit title style</a:t>
            </a:r>
          </a:p>
        </p:txBody>
      </p:sp>
    </p:spTree>
    <p:extLst>
      <p:ext uri="{BB962C8B-B14F-4D97-AF65-F5344CB8AC3E}">
        <p14:creationId xmlns:p14="http://schemas.microsoft.com/office/powerpoint/2010/main" val="158810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768FF6-8FD0-4E13-A01B-AB7AF941CB42}"/>
              </a:ext>
            </a:extLst>
          </p:cNvPr>
          <p:cNvSpPr>
            <a:spLocks noGrp="1"/>
          </p:cNvSpPr>
          <p:nvPr>
            <p:ph idx="1" hasCustomPrompt="1"/>
          </p:nvPr>
        </p:nvSpPr>
        <p:spPr>
          <a:xfrm>
            <a:off x="381000" y="1487056"/>
            <a:ext cx="10972800" cy="4689908"/>
          </a:xfrm>
        </p:spPr>
        <p:txBody>
          <a:bodyPr/>
          <a:lstStyle>
            <a:lvl1pPr>
              <a:defRPr sz="1800" b="0" i="0">
                <a:latin typeface="IntelOne Display Regular" panose="020B0503020203020204" pitchFamily="34" charset="77"/>
              </a:defRPr>
            </a:lvl1pPr>
            <a:lvl2pPr>
              <a:defRPr sz="1600" b="0" i="0">
                <a:latin typeface="IntelOne Display Regular" panose="020B0503020203020204" pitchFamily="34" charset="77"/>
              </a:defRPr>
            </a:lvl2pPr>
            <a:lvl3pPr>
              <a:defRPr sz="1400" b="0" i="0">
                <a:latin typeface="IntelOne Display Regular" panose="020B0503020203020204" pitchFamily="34" charset="77"/>
              </a:defRPr>
            </a:lvl3pPr>
            <a:lvl4pPr>
              <a:defRPr sz="1200" b="0" i="0">
                <a:latin typeface="IntelOne Display Regular" panose="020B0503020203020204" pitchFamily="34" charset="77"/>
              </a:defRPr>
            </a:lvl4pPr>
            <a:lvl5pPr>
              <a:defRPr sz="1000" b="0" i="0">
                <a:latin typeface="IntelOne Display Regular" panose="020B0503020203020204" pitchFamily="34" charset="77"/>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29FA5B67-D5B0-D77D-71F4-37494117CDE0}"/>
              </a:ext>
            </a:extLst>
          </p:cNvPr>
          <p:cNvSpPr>
            <a:spLocks noGrp="1"/>
          </p:cNvSpPr>
          <p:nvPr>
            <p:ph type="title"/>
          </p:nvPr>
        </p:nvSpPr>
        <p:spPr/>
        <p:txBody>
          <a:bodyPr>
            <a:normAutofit/>
          </a:bodyPr>
          <a:lstStyle>
            <a:lvl1pPr>
              <a:defRPr lang="en-US" sz="2800" b="1" kern="1200" dirty="0">
                <a:solidFill>
                  <a:schemeClr val="tx2"/>
                </a:solidFill>
                <a:latin typeface="IntelOne Display Medium" panose="020B0703020203020204" pitchFamily="34" charset="0"/>
                <a:ea typeface="+mj-ea"/>
                <a:cs typeface="+mj-cs"/>
              </a:defRPr>
            </a:lvl1pPr>
          </a:lstStyle>
          <a:p>
            <a:r>
              <a:rPr lang="en-US"/>
              <a:t>Click to edit Master title style</a:t>
            </a:r>
          </a:p>
        </p:txBody>
      </p:sp>
    </p:spTree>
    <p:extLst>
      <p:ext uri="{BB962C8B-B14F-4D97-AF65-F5344CB8AC3E}">
        <p14:creationId xmlns:p14="http://schemas.microsoft.com/office/powerpoint/2010/main" val="3041979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160">
          <p15:clr>
            <a:srgbClr val="FBAE40"/>
          </p15:clr>
        </p15:guide>
        <p15:guide id="5" pos="240">
          <p15:clr>
            <a:srgbClr val="FBAE40"/>
          </p15:clr>
        </p15:guide>
        <p15:guide id="6" pos="71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A7416-C44D-4788-AE82-AF3D1327DA37}"/>
              </a:ext>
            </a:extLst>
          </p:cNvPr>
          <p:cNvSpPr>
            <a:spLocks noGrp="1"/>
          </p:cNvSpPr>
          <p:nvPr>
            <p:ph type="title" hasCustomPrompt="1"/>
          </p:nvPr>
        </p:nvSpPr>
        <p:spPr>
          <a:xfrm>
            <a:off x="381000" y="221694"/>
            <a:ext cx="10972800" cy="1199822"/>
          </a:xfrm>
        </p:spPr>
        <p:txBody>
          <a:bodyPr>
            <a:normAutofit/>
          </a:bodyPr>
          <a:lstStyle>
            <a:lvl1pPr>
              <a:defRPr sz="2500"/>
            </a:lvl1pPr>
          </a:lstStyle>
          <a:p>
            <a:r>
              <a:rPr lang="en-US"/>
              <a:t>Click to edit title style</a:t>
            </a:r>
          </a:p>
        </p:txBody>
      </p:sp>
      <p:sp>
        <p:nvSpPr>
          <p:cNvPr id="5" name="Text Placeholder 4">
            <a:extLst>
              <a:ext uri="{FF2B5EF4-FFF2-40B4-BE49-F238E27FC236}">
                <a16:creationId xmlns:a16="http://schemas.microsoft.com/office/drawing/2014/main" id="{22C827E3-834F-40BA-9518-B0648BD536F2}"/>
              </a:ext>
            </a:extLst>
          </p:cNvPr>
          <p:cNvSpPr>
            <a:spLocks noGrp="1"/>
          </p:cNvSpPr>
          <p:nvPr>
            <p:ph type="body" sz="quarter" idx="10" hasCustomPrompt="1"/>
          </p:nvPr>
        </p:nvSpPr>
        <p:spPr>
          <a:xfrm>
            <a:off x="381000" y="1494289"/>
            <a:ext cx="10972800" cy="525462"/>
          </a:xfrm>
        </p:spPr>
        <p:txBody>
          <a:bodyPr>
            <a:noAutofit/>
          </a:bodyPr>
          <a:lstStyle>
            <a:lvl1pPr marL="0" indent="0">
              <a:buFontTx/>
              <a:buNone/>
              <a:defRPr sz="3200" b="0" i="0">
                <a:solidFill>
                  <a:schemeClr val="accent1"/>
                </a:solidFill>
                <a:latin typeface="IntelOne Text" panose="020B0503020203020204" pitchFamily="34" charset="77"/>
              </a:defRPr>
            </a:lvl1pPr>
          </a:lstStyle>
          <a:p>
            <a:pPr lvl="0"/>
            <a:r>
              <a:rPr lang="en-US"/>
              <a:t>Click to edit text styles</a:t>
            </a:r>
          </a:p>
        </p:txBody>
      </p:sp>
      <p:sp>
        <p:nvSpPr>
          <p:cNvPr id="3" name="Content Placeholder 2">
            <a:extLst>
              <a:ext uri="{FF2B5EF4-FFF2-40B4-BE49-F238E27FC236}">
                <a16:creationId xmlns:a16="http://schemas.microsoft.com/office/drawing/2014/main" id="{F4768FF6-8FD0-4E13-A01B-AB7AF941CB42}"/>
              </a:ext>
            </a:extLst>
          </p:cNvPr>
          <p:cNvSpPr>
            <a:spLocks noGrp="1"/>
          </p:cNvSpPr>
          <p:nvPr>
            <p:ph idx="1" hasCustomPrompt="1"/>
          </p:nvPr>
        </p:nvSpPr>
        <p:spPr>
          <a:xfrm>
            <a:off x="381000" y="2110067"/>
            <a:ext cx="10972800" cy="4084256"/>
          </a:xfrm>
        </p:spPr>
        <p:txBody>
          <a:bodyPr/>
          <a:lstStyle>
            <a:lvl1pPr>
              <a:defRPr b="0" i="0">
                <a:latin typeface="IntelOne Display Regular" panose="020B0503020203020204" pitchFamily="34" charset="77"/>
              </a:defRPr>
            </a:lvl1pPr>
            <a:lvl2pPr>
              <a:defRPr b="0" i="0">
                <a:latin typeface="IntelOne Display Regular" panose="020B0503020203020204" pitchFamily="34" charset="77"/>
              </a:defRPr>
            </a:lvl2pPr>
            <a:lvl3pPr>
              <a:defRPr b="0" i="0">
                <a:latin typeface="IntelOne Display Regular" panose="020B0503020203020204" pitchFamily="34" charset="77"/>
              </a:defRPr>
            </a:lvl3pPr>
            <a:lvl4pPr>
              <a:defRPr b="0" i="0">
                <a:latin typeface="IntelOne Display Regular" panose="020B0503020203020204" pitchFamily="34" charset="77"/>
              </a:defRPr>
            </a:lvl4pPr>
            <a:lvl5pPr>
              <a:defRPr b="0" i="0">
                <a:latin typeface="IntelOne Display Regular" panose="020B0503020203020204" pitchFamily="34" charset="77"/>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
          <p15:clr>
            <a:srgbClr val="FBAE40"/>
          </p15:clr>
        </p15:guide>
        <p15:guide id="3" pos="71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hasCustomPrompt="1"/>
          </p:nvPr>
        </p:nvSpPr>
        <p:spPr/>
        <p:txBody>
          <a:bodyPr/>
          <a:lstStyle/>
          <a:p>
            <a:r>
              <a:rPr lang="en-US"/>
              <a:t>Click to edit title style</a:t>
            </a:r>
          </a:p>
        </p:txBody>
      </p:sp>
      <p:sp>
        <p:nvSpPr>
          <p:cNvPr id="6" name="Text Placeholder 5">
            <a:extLst>
              <a:ext uri="{FF2B5EF4-FFF2-40B4-BE49-F238E27FC236}">
                <a16:creationId xmlns:a16="http://schemas.microsoft.com/office/drawing/2014/main" id="{5C66EBB2-584E-4CD8-BAAE-06D480D3A0CB}"/>
              </a:ext>
            </a:extLst>
          </p:cNvPr>
          <p:cNvSpPr>
            <a:spLocks noGrp="1"/>
          </p:cNvSpPr>
          <p:nvPr>
            <p:ph type="body" sz="quarter" idx="10" hasCustomPrompt="1"/>
          </p:nvPr>
        </p:nvSpPr>
        <p:spPr>
          <a:xfrm>
            <a:off x="381000" y="1495361"/>
            <a:ext cx="10972800" cy="530454"/>
          </a:xfrm>
        </p:spPr>
        <p:txBody>
          <a:bodyPr>
            <a:noAutofit/>
          </a:bodyPr>
          <a:lstStyle>
            <a:lvl1pPr marL="0" indent="0">
              <a:buNone/>
              <a:defRPr sz="3200" b="0" i="0">
                <a:solidFill>
                  <a:schemeClr val="accent1"/>
                </a:solidFill>
                <a:latin typeface="IntelOne Text" panose="020B0503020203020204" pitchFamily="34" charset="77"/>
              </a:defRPr>
            </a:lvl1pPr>
            <a:lvl2pPr marL="457200" indent="0">
              <a:buNone/>
              <a:defRPr/>
            </a:lvl2pPr>
          </a:lstStyle>
          <a:p>
            <a:pPr lvl="0"/>
            <a:r>
              <a:rPr lang="en-US"/>
              <a:t>Click to edit text styles</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380999" y="2105680"/>
            <a:ext cx="5429865" cy="4095774"/>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hasCustomPrompt="1"/>
          </p:nvPr>
        </p:nvSpPr>
        <p:spPr>
          <a:xfrm>
            <a:off x="5923935" y="2105680"/>
            <a:ext cx="5429865" cy="4095774"/>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1245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35A4-51BC-4EA4-8E63-8A7D09FB8A18}"/>
              </a:ext>
            </a:extLst>
          </p:cNvPr>
          <p:cNvSpPr>
            <a:spLocks noGrp="1"/>
          </p:cNvSpPr>
          <p:nvPr>
            <p:ph type="title" hasCustomPrompt="1"/>
          </p:nvPr>
        </p:nvSpPr>
        <p:spPr/>
        <p:txBody>
          <a:bodyPr/>
          <a:lstStyle/>
          <a:p>
            <a:r>
              <a:rPr lang="en-US"/>
              <a:t>Click to edit title style</a:t>
            </a:r>
          </a:p>
        </p:txBody>
      </p:sp>
      <p:sp>
        <p:nvSpPr>
          <p:cNvPr id="3" name="Content Placeholder 2">
            <a:extLst>
              <a:ext uri="{FF2B5EF4-FFF2-40B4-BE49-F238E27FC236}">
                <a16:creationId xmlns:a16="http://schemas.microsoft.com/office/drawing/2014/main" id="{8C46AEA0-8A4A-4395-842E-1588A8A29D4C}"/>
              </a:ext>
            </a:extLst>
          </p:cNvPr>
          <p:cNvSpPr>
            <a:spLocks noGrp="1"/>
          </p:cNvSpPr>
          <p:nvPr>
            <p:ph sz="half" idx="1" hasCustomPrompt="1"/>
          </p:nvPr>
        </p:nvSpPr>
        <p:spPr>
          <a:xfrm>
            <a:off x="380999" y="1496292"/>
            <a:ext cx="5429865" cy="468668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29D013-C7B6-4628-B2EF-9C1967AE6122}"/>
              </a:ext>
            </a:extLst>
          </p:cNvPr>
          <p:cNvSpPr>
            <a:spLocks noGrp="1"/>
          </p:cNvSpPr>
          <p:nvPr>
            <p:ph sz="half" idx="2" hasCustomPrompt="1"/>
          </p:nvPr>
        </p:nvSpPr>
        <p:spPr>
          <a:xfrm>
            <a:off x="5923935" y="1496292"/>
            <a:ext cx="5429865" cy="468668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0246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egu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a:xfrm>
            <a:off x="381000" y="2229178"/>
            <a:ext cx="10972800" cy="1199822"/>
          </a:xfrm>
        </p:spPr>
        <p:txBody>
          <a:bodyPr anchor="b" anchorCtr="0">
            <a:normAutofit/>
          </a:bodyPr>
          <a:lstStyle>
            <a:lvl1pPr>
              <a:defRPr sz="4800"/>
            </a:lvl1pPr>
          </a:lstStyle>
          <a:p>
            <a:r>
              <a:rPr lang="en-US"/>
              <a:t>Click to edit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381000" y="3449317"/>
            <a:ext cx="10972800" cy="681935"/>
          </a:xfrm>
        </p:spPr>
        <p:txBody>
          <a:bodyPr>
            <a:normAutofit/>
          </a:bodyPr>
          <a:lstStyle>
            <a:lvl1pPr marL="0" indent="0">
              <a:buNone/>
              <a:defRPr sz="2800">
                <a:solidFill>
                  <a:schemeClr val="accent1"/>
                </a:solidFill>
                <a:latin typeface="IntelOne Text" panose="020B0503020203020204" pitchFamily="34" charset="77"/>
              </a:defRPr>
            </a:lvl1pPr>
          </a:lstStyle>
          <a:p>
            <a:pPr lvl="0"/>
            <a:r>
              <a:rPr lang="en-US"/>
              <a:t>Click to edit text styles</a:t>
            </a:r>
          </a:p>
        </p:txBody>
      </p:sp>
    </p:spTree>
    <p:extLst>
      <p:ext uri="{BB962C8B-B14F-4D97-AF65-F5344CB8AC3E}">
        <p14:creationId xmlns:p14="http://schemas.microsoft.com/office/powerpoint/2010/main" val="2464608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Segue Blu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a:xfrm>
            <a:off x="381000" y="2229178"/>
            <a:ext cx="10972800" cy="1199822"/>
          </a:xfrm>
        </p:spPr>
        <p:txBody>
          <a:bodyPr anchor="b" anchorCtr="0">
            <a:normAutofit/>
          </a:bodyPr>
          <a:lstStyle>
            <a:lvl1pPr>
              <a:defRPr sz="4800">
                <a:solidFill>
                  <a:schemeClr val="bg1"/>
                </a:solidFill>
              </a:defRPr>
            </a:lvl1pPr>
          </a:lstStyle>
          <a:p>
            <a:r>
              <a:rPr lang="en-US"/>
              <a:t>Click to edit title style</a:t>
            </a: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381000" y="3449317"/>
            <a:ext cx="10972800" cy="681935"/>
          </a:xfrm>
        </p:spPr>
        <p:txBody>
          <a:bodyPr>
            <a:normAutofit/>
          </a:bodyPr>
          <a:lstStyle>
            <a:lvl1pPr marL="0" indent="0">
              <a:buNone/>
              <a:defRPr sz="2800">
                <a:solidFill>
                  <a:schemeClr val="bg1"/>
                </a:solidFill>
                <a:latin typeface="IntelOne Text" panose="020B0503020203020204" pitchFamily="34" charset="77"/>
              </a:defRPr>
            </a:lvl1pPr>
          </a:lstStyle>
          <a:p>
            <a:pPr lvl="0"/>
            <a:r>
              <a:rPr lang="en-US"/>
              <a:t>Click to edit text styles</a:t>
            </a:r>
          </a:p>
        </p:txBody>
      </p:sp>
      <p:sp>
        <p:nvSpPr>
          <p:cNvPr id="20" name="TextBox 19" descr="page number">
            <a:extLst>
              <a:ext uri="{FF2B5EF4-FFF2-40B4-BE49-F238E27FC236}">
                <a16:creationId xmlns:a16="http://schemas.microsoft.com/office/drawing/2014/main" id="{05F51801-543D-13D8-0C65-E83DC7101887}"/>
              </a:ext>
            </a:extLst>
          </p:cNvPr>
          <p:cNvSpPr txBox="1"/>
          <p:nvPr userDrawn="1"/>
        </p:nvSpPr>
        <p:spPr>
          <a:xfrm>
            <a:off x="11886783" y="6553045"/>
            <a:ext cx="166713"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a:ln>
                <a:noFill/>
              </a:ln>
              <a:solidFill>
                <a:schemeClr val="tx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endParaRPr>
          </a:p>
        </p:txBody>
      </p:sp>
      <p:sp>
        <p:nvSpPr>
          <p:cNvPr id="24" name="TextBox 23" descr="page number">
            <a:extLst>
              <a:ext uri="{FF2B5EF4-FFF2-40B4-BE49-F238E27FC236}">
                <a16:creationId xmlns:a16="http://schemas.microsoft.com/office/drawing/2014/main" id="{73F931B3-46F7-5857-3334-7B267E1B5B9F}"/>
              </a:ext>
            </a:extLst>
          </p:cNvPr>
          <p:cNvSpPr txBox="1"/>
          <p:nvPr userDrawn="1"/>
        </p:nvSpPr>
        <p:spPr>
          <a:xfrm>
            <a:off x="11886783" y="6553045"/>
            <a:ext cx="166713"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a:ln>
                <a:noFill/>
              </a:ln>
              <a:solidFill>
                <a:schemeClr val="bg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3477224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and Content Blue A">
    <p:bg>
      <p:bgPr>
        <a:solidFill>
          <a:schemeClr val="tx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A368D64-A019-4399-A672-206E0E3B7414}"/>
              </a:ext>
              <a:ext uri="{C183D7F6-B498-43B3-948B-1728B52AA6E4}">
                <adec:decorative xmlns:adec="http://schemas.microsoft.com/office/drawing/2017/decorative" val="1"/>
              </a:ext>
            </a:extLst>
          </p:cNvPr>
          <p:cNvSpPr/>
          <p:nvPr userDrawn="1"/>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a:xfrm>
            <a:off x="925220" y="2614497"/>
            <a:ext cx="4838270" cy="1782383"/>
          </a:xfrm>
        </p:spPr>
        <p:txBody>
          <a:bodyPr anchor="t" anchorCtr="0">
            <a:normAutofit/>
          </a:bodyPr>
          <a:lstStyle>
            <a:lvl1pPr>
              <a:defRPr sz="4800">
                <a:solidFill>
                  <a:schemeClr val="bg1"/>
                </a:solidFill>
              </a:defRPr>
            </a:lvl1pPr>
          </a:lstStyle>
          <a:p>
            <a:r>
              <a:rPr lang="en-US"/>
              <a:t>Click to edit title style</a:t>
            </a: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5867399" y="402558"/>
            <a:ext cx="5874297" cy="6003471"/>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6087623" y="546389"/>
            <a:ext cx="5433848" cy="1118706"/>
          </a:xfrm>
        </p:spPr>
        <p:txBody>
          <a:bodyPr anchor="ctr" anchorCtr="0">
            <a:noAutofit/>
          </a:bodyPr>
          <a:lstStyle>
            <a:lvl1pPr marL="0" indent="0">
              <a:buNone/>
              <a:defRPr sz="3200">
                <a:solidFill>
                  <a:schemeClr val="bg1"/>
                </a:solidFill>
              </a:defRPr>
            </a:lvl1pPr>
          </a:lstStyle>
          <a:p>
            <a:pPr lvl="0"/>
            <a:r>
              <a:rPr lang="en-US"/>
              <a:t>Click to edit text styles</a:t>
            </a:r>
          </a:p>
        </p:txBody>
      </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hasCustomPrompt="1"/>
          </p:nvPr>
        </p:nvSpPr>
        <p:spPr>
          <a:xfrm>
            <a:off x="6087623" y="1813801"/>
            <a:ext cx="5433848" cy="437679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341B807F-E5A0-4B47-8126-0798D03DDEEE}"/>
              </a:ext>
              <a:ext uri="{C183D7F6-B498-43B3-948B-1728B52AA6E4}">
                <adec:decorative xmlns:adec="http://schemas.microsoft.com/office/drawing/2017/decorative" val="1"/>
              </a:ext>
            </a:extLst>
          </p:cNvPr>
          <p:cNvGrpSpPr/>
          <p:nvPr/>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grpSp>
        <p:nvGrpSpPr>
          <p:cNvPr id="23" name="Group 22">
            <a:extLst>
              <a:ext uri="{FF2B5EF4-FFF2-40B4-BE49-F238E27FC236}">
                <a16:creationId xmlns:a16="http://schemas.microsoft.com/office/drawing/2014/main" id="{A2426B1C-8B0F-44A4-8250-F1D8598549E8}"/>
              </a:ext>
              <a:ext uri="{C183D7F6-B498-43B3-948B-1728B52AA6E4}">
                <adec:decorative xmlns:adec="http://schemas.microsoft.com/office/drawing/2017/decorative" val="1"/>
              </a:ext>
            </a:extLst>
          </p:cNvPr>
          <p:cNvGrpSpPr/>
          <p:nvPr userDrawn="1"/>
        </p:nvGrpSpPr>
        <p:grpSpPr>
          <a:xfrm>
            <a:off x="536812" y="2023074"/>
            <a:ext cx="492319" cy="591423"/>
            <a:chOff x="536812" y="2023074"/>
            <a:chExt cx="492319" cy="591423"/>
          </a:xfrm>
        </p:grpSpPr>
        <p:sp>
          <p:nvSpPr>
            <p:cNvPr id="24" name="Rectangle 23">
              <a:extLst>
                <a:ext uri="{FF2B5EF4-FFF2-40B4-BE49-F238E27FC236}">
                  <a16:creationId xmlns:a16="http://schemas.microsoft.com/office/drawing/2014/main" id="{45D4EF16-2639-4F0C-B7CE-3B49694D7462}"/>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5" name="Rectangle 24">
              <a:extLst>
                <a:ext uri="{FF2B5EF4-FFF2-40B4-BE49-F238E27FC236}">
                  <a16:creationId xmlns:a16="http://schemas.microsoft.com/office/drawing/2014/main" id="{8FFEF9D7-E955-4747-98A8-A3CDA0B2EA11}"/>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6" name="Rectangle 25">
              <a:extLst>
                <a:ext uri="{FF2B5EF4-FFF2-40B4-BE49-F238E27FC236}">
                  <a16:creationId xmlns:a16="http://schemas.microsoft.com/office/drawing/2014/main" id="{1C53175F-9DFF-470F-9639-8993D337BE4A}"/>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sp>
        <p:nvSpPr>
          <p:cNvPr id="57" name="Rectangle 56">
            <a:extLst>
              <a:ext uri="{FF2B5EF4-FFF2-40B4-BE49-F238E27FC236}">
                <a16:creationId xmlns:a16="http://schemas.microsoft.com/office/drawing/2014/main" id="{CDF72B68-7D4D-182F-7C55-68D5455CD40F}"/>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58" name="Rectangle 57" descr="Intel Confidential">
            <a:extLst>
              <a:ext uri="{FF2B5EF4-FFF2-40B4-BE49-F238E27FC236}">
                <a16:creationId xmlns:a16="http://schemas.microsoft.com/office/drawing/2014/main" id="{2D30CA7C-C0EA-E30A-3BCA-5B10684D3AF7}"/>
              </a:ext>
            </a:extLst>
          </p:cNvPr>
          <p:cNvSpPr/>
          <p:nvPr userDrawn="1"/>
        </p:nvSpPr>
        <p:spPr>
          <a:xfrm>
            <a:off x="5489103" y="6510549"/>
            <a:ext cx="1213795" cy="246221"/>
          </a:xfrm>
          <a:prstGeom prst="rect">
            <a:avLst/>
          </a:prstGeom>
        </p:spPr>
        <p:txBody>
          <a:bodyPr wrap="none">
            <a:spAutoFit/>
          </a:bodyPr>
          <a:lstStyle/>
          <a:p>
            <a:pPr algn="ctr"/>
            <a:r>
              <a:rPr lang="en-US" sz="1000" b="0" i="0" dirty="0">
                <a:solidFill>
                  <a:schemeClr val="tx1"/>
                </a:solidFill>
                <a:latin typeface="IntelOne Text" panose="020B0503020203020204" pitchFamily="34" charset="77"/>
                <a:ea typeface="Intel Clear" panose="020B0604020203020204" pitchFamily="34" charset="0"/>
                <a:cs typeface="Times New Roman" panose="02020603050405020304" pitchFamily="18" charset="0"/>
              </a:rPr>
              <a:t>Intel Confidential</a:t>
            </a:r>
          </a:p>
        </p:txBody>
      </p:sp>
      <p:sp>
        <p:nvSpPr>
          <p:cNvPr id="59" name="Rectangle 58" descr="Department or Event Name">
            <a:extLst>
              <a:ext uri="{FF2B5EF4-FFF2-40B4-BE49-F238E27FC236}">
                <a16:creationId xmlns:a16="http://schemas.microsoft.com/office/drawing/2014/main" id="{C915C77A-5906-46DB-96F7-768CE69B8993}"/>
              </a:ext>
            </a:extLst>
          </p:cNvPr>
          <p:cNvSpPr/>
          <p:nvPr userDrawn="1"/>
        </p:nvSpPr>
        <p:spPr>
          <a:xfrm>
            <a:off x="286365" y="6510549"/>
            <a:ext cx="2172390" cy="276999"/>
          </a:xfrm>
          <a:prstGeom prst="rect">
            <a:avLst/>
          </a:prstGeom>
        </p:spPr>
        <p:txBody>
          <a:bodyPr wrap="none">
            <a:spAutoFit/>
          </a:bodyPr>
          <a:lstStyle/>
          <a:p>
            <a:pPr algn="l"/>
            <a:r>
              <a:rPr lang="en-US" sz="1200" b="0" i="0" dirty="0">
                <a:solidFill>
                  <a:schemeClr val="tx1"/>
                </a:solidFill>
                <a:latin typeface="IntelOne Text" panose="020B0503020203020204" pitchFamily="34" charset="77"/>
                <a:ea typeface="Intel Clear" panose="020B0604020203020204" pitchFamily="34" charset="0"/>
                <a:cs typeface="Times New Roman" panose="02020603050405020304" pitchFamily="18" charset="0"/>
              </a:rPr>
              <a:t>Department or Event Name</a:t>
            </a:r>
          </a:p>
        </p:txBody>
      </p:sp>
      <p:pic>
        <p:nvPicPr>
          <p:cNvPr id="60" name="Graphic 59">
            <a:extLst>
              <a:ext uri="{FF2B5EF4-FFF2-40B4-BE49-F238E27FC236}">
                <a16:creationId xmlns:a16="http://schemas.microsoft.com/office/drawing/2014/main" id="{B84FD69E-FB8C-0E31-9BDD-E3839D037CC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7466" y="6554735"/>
            <a:ext cx="476084" cy="177524"/>
          </a:xfrm>
          <a:prstGeom prst="rect">
            <a:avLst/>
          </a:prstGeom>
        </p:spPr>
      </p:pic>
      <p:sp>
        <p:nvSpPr>
          <p:cNvPr id="61" name="TextBox 60" descr="page number">
            <a:extLst>
              <a:ext uri="{FF2B5EF4-FFF2-40B4-BE49-F238E27FC236}">
                <a16:creationId xmlns:a16="http://schemas.microsoft.com/office/drawing/2014/main" id="{FDF061F6-FA9E-5E3B-D671-D08E547E7907}"/>
              </a:ext>
            </a:extLst>
          </p:cNvPr>
          <p:cNvSpPr txBox="1"/>
          <p:nvPr userDrawn="1"/>
        </p:nvSpPr>
        <p:spPr>
          <a:xfrm>
            <a:off x="11886783" y="6553045"/>
            <a:ext cx="166713"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a:ln>
                <a:noFill/>
              </a:ln>
              <a:solidFill>
                <a:schemeClr val="tx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endParaRPr>
          </a:p>
        </p:txBody>
      </p:sp>
      <p:sp>
        <p:nvSpPr>
          <p:cNvPr id="62" name="Rectangle 61">
            <a:extLst>
              <a:ext uri="{FF2B5EF4-FFF2-40B4-BE49-F238E27FC236}">
                <a16:creationId xmlns:a16="http://schemas.microsoft.com/office/drawing/2014/main" id="{F3E8C224-684A-0504-B517-C0A55906AE94}"/>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00206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63" name="Rectangle 62" descr="Intel Confidential">
            <a:extLst>
              <a:ext uri="{FF2B5EF4-FFF2-40B4-BE49-F238E27FC236}">
                <a16:creationId xmlns:a16="http://schemas.microsoft.com/office/drawing/2014/main" id="{6966AF61-6469-0C27-09FD-C41AC4BE047A}"/>
              </a:ext>
            </a:extLst>
          </p:cNvPr>
          <p:cNvSpPr/>
          <p:nvPr userDrawn="1"/>
        </p:nvSpPr>
        <p:spPr>
          <a:xfrm>
            <a:off x="5489103" y="6510549"/>
            <a:ext cx="1213795" cy="246221"/>
          </a:xfrm>
          <a:prstGeom prst="rect">
            <a:avLst/>
          </a:prstGeom>
        </p:spPr>
        <p:txBody>
          <a:bodyPr wrap="none">
            <a:spAutoFit/>
          </a:bodyPr>
          <a:lstStyle/>
          <a:p>
            <a:pPr algn="ctr"/>
            <a:r>
              <a:rPr lang="en-US" sz="1000" b="0" i="0" dirty="0">
                <a:solidFill>
                  <a:schemeClr val="bg1"/>
                </a:solidFill>
                <a:latin typeface="IntelOne Text" panose="020B0503020203020204" pitchFamily="34" charset="77"/>
                <a:ea typeface="Intel Clear" panose="020B0604020203020204" pitchFamily="34" charset="0"/>
                <a:cs typeface="Times New Roman" panose="02020603050405020304" pitchFamily="18" charset="0"/>
              </a:rPr>
              <a:t>Intel Confidential</a:t>
            </a:r>
          </a:p>
        </p:txBody>
      </p:sp>
      <p:sp>
        <p:nvSpPr>
          <p:cNvPr id="64" name="Rectangle 63" descr="Department or Event Name">
            <a:extLst>
              <a:ext uri="{FF2B5EF4-FFF2-40B4-BE49-F238E27FC236}">
                <a16:creationId xmlns:a16="http://schemas.microsoft.com/office/drawing/2014/main" id="{393CF0CB-02DE-E7CB-29E3-B0FB4205955F}"/>
              </a:ext>
            </a:extLst>
          </p:cNvPr>
          <p:cNvSpPr/>
          <p:nvPr userDrawn="1"/>
        </p:nvSpPr>
        <p:spPr>
          <a:xfrm>
            <a:off x="838228" y="6510549"/>
            <a:ext cx="2337499" cy="276999"/>
          </a:xfrm>
          <a:prstGeom prst="rect">
            <a:avLst/>
          </a:prstGeom>
        </p:spPr>
        <p:txBody>
          <a:bodyPr wrap="none">
            <a:spAutoFit/>
          </a:bodyPr>
          <a:lstStyle/>
          <a:p>
            <a:pPr algn="l"/>
            <a:r>
              <a:rPr lang="en-US" sz="1200" b="0" i="0" dirty="0">
                <a:solidFill>
                  <a:schemeClr val="bg1"/>
                </a:solidFill>
                <a:latin typeface="IntelOne Text" panose="020B0503020203020204" pitchFamily="34" charset="77"/>
                <a:ea typeface="Intel Clear" panose="020B0604020203020204" pitchFamily="34" charset="0"/>
                <a:cs typeface="Times New Roman" panose="02020603050405020304" pitchFamily="18" charset="0"/>
              </a:rPr>
              <a:t>Trusted Platform Engineering</a:t>
            </a:r>
            <a:endParaRPr lang="en-US" sz="1200" b="0" i="0" dirty="0">
              <a:solidFill>
                <a:schemeClr val="bg1"/>
              </a:solidFill>
              <a:latin typeface="IntelOne Display CY Bold" panose="020B0803020203020204" pitchFamily="34" charset="0"/>
              <a:ea typeface="Intel Clear" panose="020B0604020203020204" pitchFamily="34" charset="0"/>
              <a:cs typeface="Times New Roman" panose="02020603050405020304" pitchFamily="18" charset="0"/>
            </a:endParaRPr>
          </a:p>
        </p:txBody>
      </p:sp>
      <p:sp>
        <p:nvSpPr>
          <p:cNvPr id="65" name="TextBox 64" descr="page number">
            <a:extLst>
              <a:ext uri="{FF2B5EF4-FFF2-40B4-BE49-F238E27FC236}">
                <a16:creationId xmlns:a16="http://schemas.microsoft.com/office/drawing/2014/main" id="{0ADBC3C6-F40F-F575-741A-813B6711D326}"/>
              </a:ext>
            </a:extLst>
          </p:cNvPr>
          <p:cNvSpPr txBox="1"/>
          <p:nvPr userDrawn="1"/>
        </p:nvSpPr>
        <p:spPr>
          <a:xfrm>
            <a:off x="11886783" y="6553045"/>
            <a:ext cx="166713"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bg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a:ln>
                <a:noFill/>
              </a:ln>
              <a:solidFill>
                <a:schemeClr val="bg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endParaRPr>
          </a:p>
        </p:txBody>
      </p:sp>
      <p:grpSp>
        <p:nvGrpSpPr>
          <p:cNvPr id="66" name="Group 65">
            <a:extLst>
              <a:ext uri="{FF2B5EF4-FFF2-40B4-BE49-F238E27FC236}">
                <a16:creationId xmlns:a16="http://schemas.microsoft.com/office/drawing/2014/main" id="{73798D74-F204-5B7F-3FA4-F8D26D69E35D}"/>
              </a:ext>
            </a:extLst>
          </p:cNvPr>
          <p:cNvGrpSpPr/>
          <p:nvPr userDrawn="1"/>
        </p:nvGrpSpPr>
        <p:grpSpPr>
          <a:xfrm>
            <a:off x="10924794" y="6476357"/>
            <a:ext cx="748912" cy="280413"/>
            <a:chOff x="1314450" y="6391094"/>
            <a:chExt cx="1123377" cy="420623"/>
          </a:xfrm>
        </p:grpSpPr>
        <p:sp>
          <p:nvSpPr>
            <p:cNvPr id="67" name="Freeform: Shape 66">
              <a:extLst>
                <a:ext uri="{FF2B5EF4-FFF2-40B4-BE49-F238E27FC236}">
                  <a16:creationId xmlns:a16="http://schemas.microsoft.com/office/drawing/2014/main" id="{5EB7EA9F-0E91-13FC-9FA2-59EEAD043D7F}"/>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68" name="Freeform: Shape 67">
              <a:extLst>
                <a:ext uri="{FF2B5EF4-FFF2-40B4-BE49-F238E27FC236}">
                  <a16:creationId xmlns:a16="http://schemas.microsoft.com/office/drawing/2014/main" id="{2A0812AA-60E8-4812-A71A-81B33895BD97}"/>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69" name="Freeform: Shape 68">
              <a:extLst>
                <a:ext uri="{FF2B5EF4-FFF2-40B4-BE49-F238E27FC236}">
                  <a16:creationId xmlns:a16="http://schemas.microsoft.com/office/drawing/2014/main" id="{0659C251-19D6-8E5B-2C85-3EA47A4F6EFF}"/>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sp>
          <p:nvSpPr>
            <p:cNvPr id="70" name="Freeform: Shape 69">
              <a:extLst>
                <a:ext uri="{FF2B5EF4-FFF2-40B4-BE49-F238E27FC236}">
                  <a16:creationId xmlns:a16="http://schemas.microsoft.com/office/drawing/2014/main" id="{39036A61-B364-1CE8-257B-3608A02E551A}"/>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dirty="0">
                <a:ea typeface="Intel Clear" panose="020B0604020203020204" pitchFamily="34" charset="0"/>
                <a:cs typeface="Times New Roman" panose="02020603050405020304" pitchFamily="18" charset="0"/>
              </a:endParaRPr>
            </a:p>
          </p:txBody>
        </p:sp>
      </p:grpSp>
      <p:sp>
        <p:nvSpPr>
          <p:cNvPr id="71" name="TextBox 70">
            <a:extLst>
              <a:ext uri="{FF2B5EF4-FFF2-40B4-BE49-F238E27FC236}">
                <a16:creationId xmlns:a16="http://schemas.microsoft.com/office/drawing/2014/main" id="{19542E96-B927-9E24-D491-E76DE02B3F1F}"/>
              </a:ext>
            </a:extLst>
          </p:cNvPr>
          <p:cNvSpPr txBox="1"/>
          <p:nvPr userDrawn="1"/>
        </p:nvSpPr>
        <p:spPr>
          <a:xfrm>
            <a:off x="138504" y="6458831"/>
            <a:ext cx="840347" cy="369332"/>
          </a:xfrm>
          <a:prstGeom prst="rect">
            <a:avLst/>
          </a:prstGeom>
          <a:noFill/>
        </p:spPr>
        <p:txBody>
          <a:bodyPr wrap="square">
            <a:spAutoFit/>
          </a:bodyPr>
          <a:lstStyle/>
          <a:p>
            <a:pPr algn="ctr"/>
            <a:r>
              <a:rPr lang="en-US" sz="1800" b="0" i="0" dirty="0">
                <a:solidFill>
                  <a:srgbClr val="7BDEFF"/>
                </a:solidFill>
                <a:latin typeface="IntelOne Display CY Bold" panose="020B0803020203020204" pitchFamily="34" charset="0"/>
                <a:ea typeface="Intel Clear" panose="020B0604020203020204" pitchFamily="34" charset="0"/>
                <a:cs typeface="Times New Roman" panose="02020603050405020304" pitchFamily="18" charset="0"/>
              </a:rPr>
              <a:t>TPE</a:t>
            </a:r>
            <a:endParaRPr lang="en-US" dirty="0">
              <a:solidFill>
                <a:srgbClr val="7BDEFF"/>
              </a:solidFill>
            </a:endParaRPr>
          </a:p>
        </p:txBody>
      </p:sp>
      <p:cxnSp>
        <p:nvCxnSpPr>
          <p:cNvPr id="72" name="Straight Connector 71">
            <a:extLst>
              <a:ext uri="{FF2B5EF4-FFF2-40B4-BE49-F238E27FC236}">
                <a16:creationId xmlns:a16="http://schemas.microsoft.com/office/drawing/2014/main" id="{2FE68CCD-843C-56FA-E2F7-E68E24DC1186}"/>
              </a:ext>
            </a:extLst>
          </p:cNvPr>
          <p:cNvCxnSpPr/>
          <p:nvPr userDrawn="1"/>
        </p:nvCxnSpPr>
        <p:spPr>
          <a:xfrm>
            <a:off x="870090" y="6482999"/>
            <a:ext cx="0" cy="295145"/>
          </a:xfrm>
          <a:prstGeom prst="line">
            <a:avLst/>
          </a:prstGeom>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065650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nd Content White">
    <p:bg>
      <p:bgPr>
        <a:solidFill>
          <a:schemeClr val="bg1">
            <a:lumMod val="95000"/>
          </a:schemeClr>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9E57986-E823-49CC-B8D3-C5A2AD9415DB}"/>
              </a:ext>
              <a:ext uri="{C183D7F6-B498-43B3-948B-1728B52AA6E4}">
                <adec:decorative xmlns:adec="http://schemas.microsoft.com/office/drawing/2017/decorative" val="1"/>
              </a:ext>
            </a:extLst>
          </p:cNvPr>
          <p:cNvSpPr/>
          <p:nvPr userDrawn="1"/>
        </p:nvSpPr>
        <p:spPr>
          <a:xfrm>
            <a:off x="5867399" y="402558"/>
            <a:ext cx="5874297" cy="60034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B1EA8C51-69D0-4653-9DD4-C9657C8565BF}"/>
              </a:ext>
            </a:extLst>
          </p:cNvPr>
          <p:cNvSpPr>
            <a:spLocks noGrp="1"/>
          </p:cNvSpPr>
          <p:nvPr>
            <p:ph type="title" hasCustomPrompt="1"/>
          </p:nvPr>
        </p:nvSpPr>
        <p:spPr>
          <a:xfrm>
            <a:off x="925220" y="2614497"/>
            <a:ext cx="4838270" cy="1782383"/>
          </a:xfrm>
        </p:spPr>
        <p:txBody>
          <a:bodyPr anchor="t" anchorCtr="0">
            <a:normAutofit/>
          </a:bodyPr>
          <a:lstStyle>
            <a:lvl1pPr>
              <a:defRPr sz="4800">
                <a:solidFill>
                  <a:schemeClr val="tx1"/>
                </a:solidFill>
              </a:defRPr>
            </a:lvl1pPr>
          </a:lstStyle>
          <a:p>
            <a:r>
              <a:rPr lang="en-US"/>
              <a:t>Click to edit title style</a:t>
            </a:r>
          </a:p>
        </p:txBody>
      </p:sp>
      <p:sp>
        <p:nvSpPr>
          <p:cNvPr id="17" name="Rectangle 16">
            <a:extLst>
              <a:ext uri="{FF2B5EF4-FFF2-40B4-BE49-F238E27FC236}">
                <a16:creationId xmlns:a16="http://schemas.microsoft.com/office/drawing/2014/main" id="{E32B7E3E-B537-4EE3-BA97-B90982F6C31B}"/>
              </a:ext>
            </a:extLst>
          </p:cNvPr>
          <p:cNvSpPr/>
          <p:nvPr/>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757C7E27-4D13-40CC-BD02-3CD7453D0B8C}"/>
              </a:ext>
              <a:ext uri="{C183D7F6-B498-43B3-948B-1728B52AA6E4}">
                <adec:decorative xmlns:adec="http://schemas.microsoft.com/office/drawing/2017/decorative" val="1"/>
              </a:ext>
            </a:extLst>
          </p:cNvPr>
          <p:cNvSpPr/>
          <p:nvPr/>
        </p:nvSpPr>
        <p:spPr>
          <a:xfrm>
            <a:off x="5867399" y="402558"/>
            <a:ext cx="5874297" cy="60034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4" name="Text Placeholder 3">
            <a:extLst>
              <a:ext uri="{FF2B5EF4-FFF2-40B4-BE49-F238E27FC236}">
                <a16:creationId xmlns:a16="http://schemas.microsoft.com/office/drawing/2014/main" id="{510A8B5C-DC90-4F60-9A7A-08826CF80830}"/>
              </a:ext>
            </a:extLst>
          </p:cNvPr>
          <p:cNvSpPr>
            <a:spLocks noGrp="1"/>
          </p:cNvSpPr>
          <p:nvPr>
            <p:ph type="body" sz="quarter" idx="10" hasCustomPrompt="1"/>
          </p:nvPr>
        </p:nvSpPr>
        <p:spPr>
          <a:xfrm>
            <a:off x="6087623" y="546389"/>
            <a:ext cx="5433848" cy="1118706"/>
          </a:xfrm>
        </p:spPr>
        <p:txBody>
          <a:bodyPr anchor="ctr" anchorCtr="0">
            <a:noAutofit/>
          </a:bodyPr>
          <a:lstStyle>
            <a:lvl1pPr marL="0" indent="0">
              <a:buNone/>
              <a:defRPr sz="3200">
                <a:solidFill>
                  <a:schemeClr val="tx1"/>
                </a:solidFill>
              </a:defRPr>
            </a:lvl1pPr>
          </a:lstStyle>
          <a:p>
            <a:pPr lvl="0"/>
            <a:r>
              <a:rPr lang="en-US"/>
              <a:t>Click to edit text styles</a:t>
            </a:r>
          </a:p>
        </p:txBody>
      </p:sp>
      <p:grpSp>
        <p:nvGrpSpPr>
          <p:cNvPr id="3" name="Group 2">
            <a:extLst>
              <a:ext uri="{FF2B5EF4-FFF2-40B4-BE49-F238E27FC236}">
                <a16:creationId xmlns:a16="http://schemas.microsoft.com/office/drawing/2014/main" id="{3506BD04-B5E7-422F-B321-54907EFDFDD8}"/>
              </a:ext>
              <a:ext uri="{C183D7F6-B498-43B3-948B-1728B52AA6E4}">
                <adec:decorative xmlns:adec="http://schemas.microsoft.com/office/drawing/2017/decorative" val="1"/>
              </a:ext>
            </a:extLst>
          </p:cNvPr>
          <p:cNvGrpSpPr/>
          <p:nvPr/>
        </p:nvGrpSpPr>
        <p:grpSpPr>
          <a:xfrm>
            <a:off x="536812" y="2023074"/>
            <a:ext cx="492319" cy="591423"/>
            <a:chOff x="536812" y="2023074"/>
            <a:chExt cx="492319" cy="591423"/>
          </a:xfrm>
        </p:grpSpPr>
        <p:sp>
          <p:nvSpPr>
            <p:cNvPr id="11" name="Rectangle 10">
              <a:extLst>
                <a:ext uri="{FF2B5EF4-FFF2-40B4-BE49-F238E27FC236}">
                  <a16:creationId xmlns:a16="http://schemas.microsoft.com/office/drawing/2014/main" id="{22EB94AE-1165-4C66-B976-C2E168859D49}"/>
                </a:ext>
              </a:extLst>
            </p:cNvPr>
            <p:cNvSpPr/>
            <p:nvPr/>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E9F8E51D-DCA9-46A9-A882-29E595D6A99F}"/>
                </a:ext>
              </a:extLst>
            </p:cNvPr>
            <p:cNvSpPr/>
            <p:nvPr/>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7E74772E-29C4-4337-A397-0F1232F1F1FE}"/>
                </a:ext>
              </a:extLst>
            </p:cNvPr>
            <p:cNvSpPr/>
            <p:nvPr/>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sp>
        <p:nvSpPr>
          <p:cNvPr id="16" name="Content Placeholder 15">
            <a:extLst>
              <a:ext uri="{FF2B5EF4-FFF2-40B4-BE49-F238E27FC236}">
                <a16:creationId xmlns:a16="http://schemas.microsoft.com/office/drawing/2014/main" id="{5706ADC8-E536-415C-9589-A82AD6F7BDD1}"/>
              </a:ext>
            </a:extLst>
          </p:cNvPr>
          <p:cNvSpPr>
            <a:spLocks noGrp="1"/>
          </p:cNvSpPr>
          <p:nvPr>
            <p:ph sz="quarter" idx="11" hasCustomPrompt="1"/>
          </p:nvPr>
        </p:nvSpPr>
        <p:spPr>
          <a:xfrm>
            <a:off x="6087623" y="1813801"/>
            <a:ext cx="5433848" cy="4376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8" name="TextBox 17">
            <a:extLst>
              <a:ext uri="{FF2B5EF4-FFF2-40B4-BE49-F238E27FC236}">
                <a16:creationId xmlns:a16="http://schemas.microsoft.com/office/drawing/2014/main" id="{E175E17D-D74E-461D-9994-21701E9CF3FE}"/>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
        <p:nvSpPr>
          <p:cNvPr id="15" name="Rectangle 14">
            <a:extLst>
              <a:ext uri="{FF2B5EF4-FFF2-40B4-BE49-F238E27FC236}">
                <a16:creationId xmlns:a16="http://schemas.microsoft.com/office/drawing/2014/main" id="{165D4340-FCEE-4743-A648-5DB311031F75}"/>
              </a:ext>
            </a:extLst>
          </p:cNvPr>
          <p:cNvSpPr/>
          <p:nvPr userDrawn="1"/>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nvGrpSpPr>
          <p:cNvPr id="20" name="Group 19">
            <a:extLst>
              <a:ext uri="{FF2B5EF4-FFF2-40B4-BE49-F238E27FC236}">
                <a16:creationId xmlns:a16="http://schemas.microsoft.com/office/drawing/2014/main" id="{8C35DA17-DFF2-467C-A710-877908080517}"/>
              </a:ext>
              <a:ext uri="{C183D7F6-B498-43B3-948B-1728B52AA6E4}">
                <adec:decorative xmlns:adec="http://schemas.microsoft.com/office/drawing/2017/decorative" val="1"/>
              </a:ext>
            </a:extLst>
          </p:cNvPr>
          <p:cNvGrpSpPr/>
          <p:nvPr userDrawn="1"/>
        </p:nvGrpSpPr>
        <p:grpSpPr>
          <a:xfrm>
            <a:off x="536812" y="2023074"/>
            <a:ext cx="492319" cy="591423"/>
            <a:chOff x="536812" y="2023074"/>
            <a:chExt cx="492319" cy="591423"/>
          </a:xfrm>
        </p:grpSpPr>
        <p:sp>
          <p:nvSpPr>
            <p:cNvPr id="21" name="Rectangle 20">
              <a:extLst>
                <a:ext uri="{FF2B5EF4-FFF2-40B4-BE49-F238E27FC236}">
                  <a16:creationId xmlns:a16="http://schemas.microsoft.com/office/drawing/2014/main" id="{C6AEFDCF-A68C-4E0D-95B4-6F1A9717550A}"/>
                </a:ext>
              </a:extLst>
            </p:cNvPr>
            <p:cNvSpPr/>
            <p:nvPr userDrawn="1"/>
          </p:nvSpPr>
          <p:spPr>
            <a:xfrm>
              <a:off x="709974" y="2295340"/>
              <a:ext cx="319157" cy="319157"/>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2" name="Rectangle 21">
              <a:extLst>
                <a:ext uri="{FF2B5EF4-FFF2-40B4-BE49-F238E27FC236}">
                  <a16:creationId xmlns:a16="http://schemas.microsoft.com/office/drawing/2014/main" id="{F55E41F1-4636-455F-8CC5-9CC2D25CD287}"/>
                </a:ext>
              </a:extLst>
            </p:cNvPr>
            <p:cNvSpPr/>
            <p:nvPr userDrawn="1"/>
          </p:nvSpPr>
          <p:spPr>
            <a:xfrm>
              <a:off x="536812" y="2123120"/>
              <a:ext cx="174318" cy="174318"/>
            </a:xfrm>
            <a:prstGeom prst="rect">
              <a:avLst/>
            </a:prstGeom>
            <a:solidFill>
              <a:srgbClr val="7BD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3" name="Rectangle 22">
              <a:extLst>
                <a:ext uri="{FF2B5EF4-FFF2-40B4-BE49-F238E27FC236}">
                  <a16:creationId xmlns:a16="http://schemas.microsoft.com/office/drawing/2014/main" id="{2BF6C486-C6BA-41CF-8F21-5691BA4400F2}"/>
                </a:ext>
              </a:extLst>
            </p:cNvPr>
            <p:cNvSpPr/>
            <p:nvPr userDrawn="1"/>
          </p:nvSpPr>
          <p:spPr>
            <a:xfrm>
              <a:off x="711130" y="2023074"/>
              <a:ext cx="100045" cy="100045"/>
            </a:xfrm>
            <a:prstGeom prst="rect">
              <a:avLst/>
            </a:prstGeom>
            <a:solidFill>
              <a:srgbClr val="B4F0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grpSp>
      <p:sp>
        <p:nvSpPr>
          <p:cNvPr id="24" name="TextBox 23">
            <a:extLst>
              <a:ext uri="{FF2B5EF4-FFF2-40B4-BE49-F238E27FC236}">
                <a16:creationId xmlns:a16="http://schemas.microsoft.com/office/drawing/2014/main" id="{A0695690-BC82-4B1F-9B7E-92DC6CAFF117}"/>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534877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with Frame White">
    <p:bg>
      <p:bgPr>
        <a:solidFill>
          <a:schemeClr val="bg1">
            <a:lumMod val="9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5A302-45A3-481F-BFAB-9A074C3F7794}"/>
              </a:ext>
              <a:ext uri="{C183D7F6-B498-43B3-948B-1728B52AA6E4}">
                <adec:decorative xmlns:adec="http://schemas.microsoft.com/office/drawing/2017/decorative" val="1"/>
              </a:ext>
            </a:extLst>
          </p:cNvPr>
          <p:cNvSpPr/>
          <p:nvPr/>
        </p:nvSpPr>
        <p:spPr>
          <a:xfrm>
            <a:off x="457200" y="464127"/>
            <a:ext cx="11286348" cy="594483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4" name="Rectangle 3">
            <a:extLst>
              <a:ext uri="{FF2B5EF4-FFF2-40B4-BE49-F238E27FC236}">
                <a16:creationId xmlns:a16="http://schemas.microsoft.com/office/drawing/2014/main" id="{56A6F6B2-1DD0-42F2-9039-5327CC0EF19D}"/>
              </a:ext>
              <a:ext uri="{C183D7F6-B498-43B3-948B-1728B52AA6E4}">
                <adec:decorative xmlns:adec="http://schemas.microsoft.com/office/drawing/2017/decorative" val="1"/>
              </a:ext>
            </a:extLst>
          </p:cNvPr>
          <p:cNvSpPr/>
          <p:nvPr/>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7DB3A20D-927D-4DD1-8E5E-A3AC6EDE3968}"/>
              </a:ext>
              <a:ext uri="{C183D7F6-B498-43B3-948B-1728B52AA6E4}">
                <adec:decorative xmlns:adec="http://schemas.microsoft.com/office/drawing/2017/decorative" val="1"/>
              </a:ext>
            </a:extLst>
          </p:cNvPr>
          <p:cNvSpPr txBox="1"/>
          <p:nvPr/>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
        <p:nvSpPr>
          <p:cNvPr id="7" name="Rectangle 6">
            <a:extLst>
              <a:ext uri="{FF2B5EF4-FFF2-40B4-BE49-F238E27FC236}">
                <a16:creationId xmlns:a16="http://schemas.microsoft.com/office/drawing/2014/main" id="{A00988D3-27CA-4F8F-A6E2-E1104C51DCB1}"/>
              </a:ext>
              <a:ext uri="{C183D7F6-B498-43B3-948B-1728B52AA6E4}">
                <adec:decorative xmlns:adec="http://schemas.microsoft.com/office/drawing/2017/decorative" val="1"/>
              </a:ext>
            </a:extLst>
          </p:cNvPr>
          <p:cNvSpPr/>
          <p:nvPr userDrawn="1"/>
        </p:nvSpPr>
        <p:spPr>
          <a:xfrm>
            <a:off x="11734800" y="6400800"/>
            <a:ext cx="457200" cy="457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8" name="TextBox 7">
            <a:extLst>
              <a:ext uri="{FF2B5EF4-FFF2-40B4-BE49-F238E27FC236}">
                <a16:creationId xmlns:a16="http://schemas.microsoft.com/office/drawing/2014/main" id="{B7030671-1E88-49B1-9FE5-927C1B8EE1BE}"/>
              </a:ext>
              <a:ext uri="{C183D7F6-B498-43B3-948B-1728B52AA6E4}">
                <adec:decorative xmlns:adec="http://schemas.microsoft.com/office/drawing/2017/decorative" val="1"/>
              </a:ext>
            </a:extLst>
          </p:cNvPr>
          <p:cNvSpPr txBox="1"/>
          <p:nvPr userDrawn="1"/>
        </p:nvSpPr>
        <p:spPr>
          <a:xfrm>
            <a:off x="11898805" y="6553045"/>
            <a:ext cx="14266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mn-lt"/>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
        <p:nvSpPr>
          <p:cNvPr id="6" name="Rectangle 5">
            <a:extLst>
              <a:ext uri="{FF2B5EF4-FFF2-40B4-BE49-F238E27FC236}">
                <a16:creationId xmlns:a16="http://schemas.microsoft.com/office/drawing/2014/main" id="{AA228789-1C29-4F2A-B05E-B47226DD5081}"/>
              </a:ext>
              <a:ext uri="{C183D7F6-B498-43B3-948B-1728B52AA6E4}">
                <adec:decorative xmlns:adec="http://schemas.microsoft.com/office/drawing/2017/decorative" val="1"/>
              </a:ext>
            </a:extLst>
          </p:cNvPr>
          <p:cNvSpPr/>
          <p:nvPr userDrawn="1"/>
        </p:nvSpPr>
        <p:spPr>
          <a:xfrm>
            <a:off x="457200" y="464127"/>
            <a:ext cx="11286348" cy="594483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8DFA79AD-8981-4F51-8CC1-43C885681348}"/>
              </a:ext>
            </a:extLst>
          </p:cNvPr>
          <p:cNvSpPr>
            <a:spLocks noGrp="1"/>
          </p:cNvSpPr>
          <p:nvPr>
            <p:ph type="title" hasCustomPrompt="1"/>
          </p:nvPr>
        </p:nvSpPr>
        <p:spPr>
          <a:xfrm>
            <a:off x="806922" y="1828800"/>
            <a:ext cx="10557387" cy="3200400"/>
          </a:xfrm>
        </p:spPr>
        <p:txBody>
          <a:bodyPr>
            <a:normAutofit/>
          </a:bodyPr>
          <a:lstStyle>
            <a:lvl1pPr algn="ctr">
              <a:defRPr sz="4800">
                <a:solidFill>
                  <a:schemeClr val="accent1"/>
                </a:solidFill>
              </a:defRPr>
            </a:lvl1pPr>
          </a:lstStyle>
          <a:p>
            <a:r>
              <a:rPr lang="en-US"/>
              <a:t>Click to edit title style</a:t>
            </a:r>
          </a:p>
        </p:txBody>
      </p:sp>
    </p:spTree>
    <p:extLst>
      <p:ext uri="{BB962C8B-B14F-4D97-AF65-F5344CB8AC3E}">
        <p14:creationId xmlns:p14="http://schemas.microsoft.com/office/powerpoint/2010/main" val="3786042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6CE7C22-24E6-47BE-A780-94071B8C34E3}"/>
              </a:ext>
            </a:extLst>
          </p:cNvPr>
          <p:cNvSpPr>
            <a:spLocks noGrp="1"/>
          </p:cNvSpPr>
          <p:nvPr>
            <p:ph type="sldNum" sz="quarter" idx="10"/>
          </p:nvPr>
        </p:nvSpPr>
        <p:spPr/>
        <p:txBody>
          <a:bodyPr/>
          <a:lstStyle/>
          <a:p>
            <a:endParaRPr lang="en-US" dirty="0"/>
          </a:p>
        </p:txBody>
      </p:sp>
    </p:spTree>
    <p:extLst>
      <p:ext uri="{BB962C8B-B14F-4D97-AF65-F5344CB8AC3E}">
        <p14:creationId xmlns:p14="http://schemas.microsoft.com/office/powerpoint/2010/main" val="2060890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xml"/><Relationship Id="rId3" Type="http://schemas.openxmlformats.org/officeDocument/2006/relationships/slideLayout" Target="../slideLayouts/slideLayout16.xml"/><Relationship Id="rId7"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image" Target="../media/image2.emf"/><Relationship Id="rId5" Type="http://schemas.openxmlformats.org/officeDocument/2006/relationships/slideLayout" Target="../slideLayouts/slideLayout18.xml"/><Relationship Id="rId10" Type="http://schemas.openxmlformats.org/officeDocument/2006/relationships/oleObject" Target="../embeddings/oleObject2.bin"/><Relationship Id="rId4" Type="http://schemas.openxmlformats.org/officeDocument/2006/relationships/slideLayout" Target="../slideLayouts/slideLayout17.xml"/><Relationship Id="rId9" Type="http://schemas.openxmlformats.org/officeDocument/2006/relationships/image" Target="../media/image4.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image" Target="../media/image2.emf"/><Relationship Id="rId2" Type="http://schemas.openxmlformats.org/officeDocument/2006/relationships/slideLayout" Target="../slideLayouts/slideLayout21.xml"/><Relationship Id="rId16" Type="http://schemas.openxmlformats.org/officeDocument/2006/relationships/oleObject" Target="../embeddings/oleObject3.bin"/><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tags" Target="../tags/tag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E2D687A-69DA-5BB4-1C60-44C671B588CB}"/>
              </a:ext>
            </a:extLst>
          </p:cNvPr>
          <p:cNvGraphicFramePr>
            <a:graphicFrameLocks noChangeAspect="1"/>
          </p:cNvGraphicFramePr>
          <p:nvPr userDrawn="1">
            <p:custDataLst>
              <p:tags r:id="rId15"/>
            </p:custDataLst>
            <p:extLst>
              <p:ext uri="{D42A27DB-BD31-4B8C-83A1-F6EECF244321}">
                <p14:modId xmlns:p14="http://schemas.microsoft.com/office/powerpoint/2010/main" val="26857595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262" imgH="262" progId="TCLayout.ActiveDocument.1">
                  <p:embed/>
                </p:oleObj>
              </mc:Choice>
              <mc:Fallback>
                <p:oleObj name="think-cell Slide" r:id="rId17" imgW="262" imgH="262" progId="TCLayout.ActiveDocument.1">
                  <p:embed/>
                  <p:pic>
                    <p:nvPicPr>
                      <p:cNvPr id="5" name="Object 4" hidden="1">
                        <a:extLst>
                          <a:ext uri="{FF2B5EF4-FFF2-40B4-BE49-F238E27FC236}">
                            <a16:creationId xmlns:a16="http://schemas.microsoft.com/office/drawing/2014/main" id="{DE2D687A-69DA-5BB4-1C60-44C671B588CB}"/>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613771" y="221694"/>
            <a:ext cx="10972093" cy="1199822"/>
          </a:xfrm>
          <a:prstGeom prst="rect">
            <a:avLst/>
          </a:prstGeom>
        </p:spPr>
        <p:txBody>
          <a:bodyPr vert="horz" lIns="91440" tIns="45720" rIns="91440" bIns="45720" rtlCol="0" anchor="ctr">
            <a:normAutofit/>
          </a:bodyPr>
          <a:lstStyle/>
          <a:p>
            <a:r>
              <a:rPr lang="en-US"/>
              <a:t>Click to edit title style</a:t>
            </a:r>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606137" y="1488016"/>
            <a:ext cx="10979728" cy="4755447"/>
          </a:xfrm>
          <a:prstGeom prst="rect">
            <a:avLst/>
          </a:prstGeom>
        </p:spPr>
        <p:txBody>
          <a:bodyPr vert="horz" lIns="91440" tIns="45720" rIns="91440" bIns="45720" rtlCol="0">
            <a:normAutofit/>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6" name="Rectangle 15">
            <a:extLst>
              <a:ext uri="{FF2B5EF4-FFF2-40B4-BE49-F238E27FC236}">
                <a16:creationId xmlns:a16="http://schemas.microsoft.com/office/drawing/2014/main" id="{3C4FD2C0-C272-E633-BFAD-4830D678A4C6}"/>
              </a:ext>
            </a:extLst>
          </p:cNvPr>
          <p:cNvSpPr/>
          <p:nvPr userDrawn="1"/>
        </p:nvSpPr>
        <p:spPr>
          <a:xfrm flipV="1">
            <a:off x="11733297" y="6401389"/>
            <a:ext cx="457200" cy="457200"/>
          </a:xfrm>
          <a:prstGeom prst="rect">
            <a:avLst/>
          </a:prstGeom>
          <a:solidFill>
            <a:srgbClr val="0068B5"/>
          </a:solidFill>
          <a:ln w="12700" cap="flat">
            <a:noFill/>
            <a:miter lim="400000"/>
          </a:ln>
          <a:effectLst/>
          <a:sp3d/>
        </p:spPr>
        <p:txBody>
          <a:bodyPr rot="0" spcFirstLastPara="1" vertOverflow="overflow" horzOverflow="overflow" vert="horz" wrap="square" lIns="50800" tIns="50800" rIns="50800" bIns="50800" numCol="1" spcCol="38100" rtlCol="0" anchor="ctr">
            <a:noAutofit/>
          </a:bodyPr>
          <a:lstStyle/>
          <a:p>
            <a:pPr marL="0" marR="0" lvl="0" indent="0" algn="ctr" defTabSz="825500" eaLnBrk="1" fontAlgn="auto" latinLnBrk="0" hangingPunct="0">
              <a:lnSpc>
                <a:spcPct val="100000"/>
              </a:lnSpc>
              <a:spcBef>
                <a:spcPts val="0"/>
              </a:spcBef>
              <a:spcAft>
                <a:spcPts val="0"/>
              </a:spcAft>
              <a:buClrTx/>
              <a:buSzTx/>
              <a:buFontTx/>
              <a:buNone/>
              <a:tabLst/>
              <a:defRPr/>
            </a:pPr>
            <a:endParaRPr kumimoji="0" lang="en-US" sz="3200" b="0" i="0" u="none" strike="noStrike" kern="0" cap="none" spc="0" normalizeH="0" baseline="0" noProof="0" dirty="0">
              <a:ln>
                <a:noFill/>
              </a:ln>
              <a:solidFill>
                <a:srgbClr val="FFFFFF"/>
              </a:solidFill>
              <a:effectLst/>
              <a:uLnTx/>
              <a:uFillTx/>
              <a:latin typeface="IntelOne Display Regular"/>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D5F26E14-6BA7-E6C4-EA93-C30BF9A75774}"/>
              </a:ext>
            </a:extLst>
          </p:cNvPr>
          <p:cNvSpPr txBox="1"/>
          <p:nvPr userDrawn="1"/>
        </p:nvSpPr>
        <p:spPr>
          <a:xfrm>
            <a:off x="11906830" y="6559241"/>
            <a:ext cx="142668" cy="153888"/>
          </a:xfrm>
          <a:prstGeom prst="rect">
            <a:avLst/>
          </a:prstGeom>
          <a:noFill/>
          <a:ln w="12700" cap="flat">
            <a:noFill/>
            <a:miter lim="400000"/>
          </a:ln>
          <a:effectLst/>
          <a:sp3d/>
        </p:spPr>
        <p:txBody>
          <a:bodyPr rot="0" spcFirstLastPara="1" vertOverflow="overflow" horzOverflow="overflow" vert="horz" wrap="none" lIns="0" tIns="0" rIns="0" bIns="0" numCol="1" spcCol="38100" rtlCol="0" anchor="t" anchorCtr="0">
            <a:spAutoFit/>
          </a:bodyPr>
          <a:lstStyle/>
          <a:p>
            <a:pPr marL="0" marR="0" lvl="0" indent="0" algn="ctr" defTabSz="2438338"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0" cap="none" spc="0" normalizeH="0" baseline="0" noProof="0" smtClean="0">
                <a:ln>
                  <a:noFill/>
                </a:ln>
                <a:solidFill>
                  <a:srgbClr val="FFFFFF"/>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338" eaLnBrk="1" fontAlgn="auto" latinLnBrk="0" hangingPunct="0">
                <a:lnSpc>
                  <a:spcPct val="100000"/>
                </a:lnSpc>
                <a:spcBef>
                  <a:spcPts val="0"/>
                </a:spcBef>
                <a:spcAft>
                  <a:spcPts val="0"/>
                </a:spcAft>
                <a:buClrTx/>
                <a:buSzTx/>
                <a:buFontTx/>
                <a:buNone/>
                <a:tabLst/>
                <a:defRPr/>
              </a:pPr>
              <a:t>‹#›</a:t>
            </a:fld>
            <a:endParaRPr kumimoji="0" lang="en-US" sz="1000" b="0" i="0" u="none" strike="noStrike" kern="0" cap="none" spc="0" normalizeH="0" baseline="0" noProof="0" dirty="0">
              <a:ln>
                <a:noFill/>
              </a:ln>
              <a:solidFill>
                <a:srgbClr val="FFFFFF"/>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
        <p:nvSpPr>
          <p:cNvPr id="18" name="TextBox 17" descr="page number">
            <a:extLst>
              <a:ext uri="{FF2B5EF4-FFF2-40B4-BE49-F238E27FC236}">
                <a16:creationId xmlns:a16="http://schemas.microsoft.com/office/drawing/2014/main" id="{8336021D-9B37-0D5D-B5FF-3C999C0F2467}"/>
              </a:ext>
            </a:extLst>
          </p:cNvPr>
          <p:cNvSpPr txBox="1"/>
          <p:nvPr userDrawn="1"/>
        </p:nvSpPr>
        <p:spPr>
          <a:xfrm>
            <a:off x="11970106" y="6553045"/>
            <a:ext cx="65"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US" sz="1000" b="0" i="0" u="none" strike="noStrike" cap="none" spc="0" normalizeH="0" baseline="0" dirty="0">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519487924"/>
      </p:ext>
    </p:extLst>
  </p:cSld>
  <p:clrMap bg1="lt1" tx1="dk1" bg2="lt2" tx2="dk2" accent1="accent1" accent2="accent2" accent3="accent3" accent4="accent4" accent5="accent5" accent6="accent6" hlink="hlink" folHlink="folHlink"/>
  <p:sldLayoutIdLst>
    <p:sldLayoutId id="2147485317" r:id="rId1"/>
    <p:sldLayoutId id="2147485319" r:id="rId2"/>
    <p:sldLayoutId id="2147485320" r:id="rId3"/>
    <p:sldLayoutId id="2147485324" r:id="rId4"/>
    <p:sldLayoutId id="2147485429" r:id="rId5"/>
    <p:sldLayoutId id="2147485443" r:id="rId6"/>
    <p:sldLayoutId id="2147485420" r:id="rId7"/>
    <p:sldLayoutId id="2147485421" r:id="rId8"/>
    <p:sldLayoutId id="2147485423" r:id="rId9"/>
    <p:sldLayoutId id="2147485424" r:id="rId10"/>
    <p:sldLayoutId id="2147485425" r:id="rId11"/>
    <p:sldLayoutId id="2147485445" r:id="rId12"/>
    <p:sldLayoutId id="2147485446"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IntelOne Display Regular" panose="020B0503020203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IntelOne Display Regular" panose="020B0503020203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IntelOne Display Regular" panose="020B0503020203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IntelOne Display Regular" panose="020B0503020203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IntelOne Display Regular" panose="020B0503020203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E15E39E-D5B2-54FB-34F4-968872A987B9}"/>
              </a:ext>
            </a:extLst>
          </p:cNvPr>
          <p:cNvGraphicFramePr>
            <a:graphicFrameLocks noChangeAspect="1"/>
          </p:cNvGraphicFramePr>
          <p:nvPr userDrawn="1">
            <p:custDataLst>
              <p:tags r:id="rId8"/>
            </p:custDataLst>
            <p:extLst>
              <p:ext uri="{D42A27DB-BD31-4B8C-83A1-F6EECF244321}">
                <p14:modId xmlns:p14="http://schemas.microsoft.com/office/powerpoint/2010/main" val="3580235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262" imgH="262" progId="TCLayout.ActiveDocument.1">
                  <p:embed/>
                </p:oleObj>
              </mc:Choice>
              <mc:Fallback>
                <p:oleObj name="think-cell Slide" r:id="rId10" imgW="262" imgH="262" progId="TCLayout.ActiveDocument.1">
                  <p:embed/>
                  <p:pic>
                    <p:nvPicPr>
                      <p:cNvPr id="7" name="think-cell data - do not delete" hidden="1">
                        <a:extLst>
                          <a:ext uri="{FF2B5EF4-FFF2-40B4-BE49-F238E27FC236}">
                            <a16:creationId xmlns:a16="http://schemas.microsoft.com/office/drawing/2014/main" id="{4E15E39E-D5B2-54FB-34F4-968872A987B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C709464D-B951-4392-84F7-02A15DDA6116}"/>
              </a:ext>
            </a:extLst>
          </p:cNvPr>
          <p:cNvSpPr/>
          <p:nvPr userDrawn="1"/>
        </p:nvSpPr>
        <p:spPr>
          <a:xfrm>
            <a:off x="0" y="0"/>
            <a:ext cx="12190497" cy="6393881"/>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381000" y="221694"/>
            <a:ext cx="11433464" cy="119982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381000" y="1491673"/>
            <a:ext cx="11433464" cy="46852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CBE97C0F-6986-4DE6-BEEF-B2DDB4BD41F6}"/>
              </a:ext>
            </a:extLst>
          </p:cNvPr>
          <p:cNvSpPr txBox="1"/>
          <p:nvPr/>
        </p:nvSpPr>
        <p:spPr>
          <a:xfrm>
            <a:off x="11906830" y="6559241"/>
            <a:ext cx="142668" cy="153888"/>
          </a:xfrm>
          <a:prstGeom prst="rect">
            <a:avLst/>
          </a:prstGeom>
          <a:noFill/>
          <a:ln w="12700" cap="flat">
            <a:noFill/>
            <a:miter lim="400000"/>
          </a:ln>
          <a:effectLst/>
          <a:sp3d/>
        </p:spPr>
        <p:txBody>
          <a:bodyPr rot="0" spcFirstLastPara="1" vertOverflow="overflow" horzOverflow="overflow" vert="horz" wrap="none" lIns="0" tIns="0" rIns="0" bIns="0" numCol="1" spcCol="38100" rtlCol="0" anchor="t" anchorCtr="0">
            <a:spAutoFit/>
          </a:bodyPr>
          <a:lstStyle/>
          <a:p>
            <a:pPr marL="0" marR="0" lvl="0" indent="0" algn="ctr" defTabSz="2438225"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1" i="0" u="none" strike="noStrike" kern="0" cap="none" spc="0" normalizeH="0" baseline="0" noProof="0" smtClean="0">
                <a:ln>
                  <a:noFill/>
                </a:ln>
                <a:solidFill>
                  <a:schemeClr val="tx1">
                    <a:lumMod val="75000"/>
                  </a:scheme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25" eaLnBrk="1" fontAlgn="auto" latinLnBrk="0" hangingPunct="0">
                <a:lnSpc>
                  <a:spcPct val="100000"/>
                </a:lnSpc>
                <a:spcBef>
                  <a:spcPts val="0"/>
                </a:spcBef>
                <a:spcAft>
                  <a:spcPts val="0"/>
                </a:spcAft>
                <a:buClrTx/>
                <a:buSzTx/>
                <a:buFontTx/>
                <a:buNone/>
                <a:tabLst/>
                <a:defRPr/>
              </a:pPr>
              <a:t>‹#›</a:t>
            </a:fld>
            <a:endParaRPr kumimoji="0" lang="en-US" sz="1000" b="1" i="0" u="none" strike="noStrike" kern="0" cap="none" spc="0" normalizeH="0" baseline="0" noProof="0" dirty="0">
              <a:ln>
                <a:noFill/>
              </a:ln>
              <a:solidFill>
                <a:schemeClr val="tx1">
                  <a:lumMod val="75000"/>
                </a:scheme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
        <p:nvSpPr>
          <p:cNvPr id="13" name="TextBox 12" descr="page number">
            <a:extLst>
              <a:ext uri="{FF2B5EF4-FFF2-40B4-BE49-F238E27FC236}">
                <a16:creationId xmlns:a16="http://schemas.microsoft.com/office/drawing/2014/main" id="{A2E60799-781B-4606-8F60-C54E4608FA02}"/>
              </a:ext>
            </a:extLst>
          </p:cNvPr>
          <p:cNvSpPr txBox="1"/>
          <p:nvPr/>
        </p:nvSpPr>
        <p:spPr>
          <a:xfrm>
            <a:off x="11970107" y="6553045"/>
            <a:ext cx="65"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225" rtl="0" fontAlgn="auto" latinLnBrk="0" hangingPunct="0">
              <a:lnSpc>
                <a:spcPct val="100000"/>
              </a:lnSpc>
              <a:spcBef>
                <a:spcPts val="0"/>
              </a:spcBef>
              <a:spcAft>
                <a:spcPts val="0"/>
              </a:spcAft>
              <a:buClrTx/>
              <a:buSzTx/>
              <a:buFontTx/>
              <a:buNone/>
              <a:tabLst/>
            </a:pPr>
            <a:endParaRPr kumimoji="0" lang="en-US" sz="1000" b="0" i="0" u="none" strike="noStrike" cap="none" spc="0" normalizeH="0" baseline="0" dirty="0">
              <a:ln>
                <a:noFill/>
              </a:ln>
              <a:solidFill>
                <a:schemeClr val="tx1"/>
              </a:solidFill>
              <a:effectLst/>
              <a:uFillTx/>
              <a:latin typeface="+mn-lt"/>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3607810982"/>
      </p:ext>
    </p:extLst>
  </p:cSld>
  <p:clrMap bg1="lt1" tx1="dk1" bg2="lt2" tx2="dk2" accent1="accent1" accent2="accent2" accent3="accent3" accent4="accent4" accent5="accent5" accent6="accent6" hlink="hlink" folHlink="folHlink"/>
  <p:sldLayoutIdLst>
    <p:sldLayoutId id="2147485496" r:id="rId1"/>
    <p:sldLayoutId id="2147485497" r:id="rId2"/>
    <p:sldLayoutId id="2147485499" r:id="rId3"/>
    <p:sldLayoutId id="2147485500" r:id="rId4"/>
    <p:sldLayoutId id="2147485501" r:id="rId5"/>
    <p:sldLayoutId id="2147485503"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358" rtl="0" eaLnBrk="1" latinLnBrk="0" hangingPunct="1">
        <a:lnSpc>
          <a:spcPct val="90000"/>
        </a:lnSpc>
        <a:spcBef>
          <a:spcPct val="0"/>
        </a:spcBef>
        <a:buNone/>
        <a:defRPr sz="4800" kern="1200">
          <a:solidFill>
            <a:schemeClr val="tx2"/>
          </a:solidFill>
          <a:latin typeface="+mn-lt"/>
          <a:ea typeface="+mj-ea"/>
          <a:cs typeface="+mj-cs"/>
        </a:defRPr>
      </a:lvl1pPr>
    </p:titleStyle>
    <p:bodyStyle>
      <a:lvl1pPr marL="228589" indent="-228589" algn="l" defTabSz="914358" rtl="0" eaLnBrk="1" latinLnBrk="0" hangingPunct="1">
        <a:lnSpc>
          <a:spcPct val="90000"/>
        </a:lnSpc>
        <a:spcBef>
          <a:spcPts val="1000"/>
        </a:spcBef>
        <a:buFont typeface="IntelOne Display Regular" panose="020B0503020203020204" pitchFamily="34" charset="0"/>
        <a:buChar char="•"/>
        <a:defRPr sz="2800" kern="1200">
          <a:solidFill>
            <a:schemeClr val="tx2"/>
          </a:solidFill>
          <a:latin typeface="+mn-lt"/>
          <a:ea typeface="+mn-ea"/>
          <a:cs typeface="+mn-cs"/>
        </a:defRPr>
      </a:lvl1pPr>
      <a:lvl2pPr marL="685768" indent="-228589" algn="l" defTabSz="914358" rtl="0" eaLnBrk="1" latinLnBrk="0" hangingPunct="1">
        <a:lnSpc>
          <a:spcPct val="90000"/>
        </a:lnSpc>
        <a:spcBef>
          <a:spcPts val="500"/>
        </a:spcBef>
        <a:buFont typeface="IntelOne Display Regular" panose="020B0503020203020204" pitchFamily="34" charset="0"/>
        <a:buChar char="•"/>
        <a:defRPr sz="2400" kern="1200">
          <a:solidFill>
            <a:schemeClr val="tx2"/>
          </a:solidFill>
          <a:latin typeface="+mn-lt"/>
          <a:ea typeface="+mn-ea"/>
          <a:cs typeface="+mn-cs"/>
        </a:defRPr>
      </a:lvl2pPr>
      <a:lvl3pPr marL="1142947" indent="-228589" algn="l" defTabSz="914358" rtl="0" eaLnBrk="1" latinLnBrk="0" hangingPunct="1">
        <a:lnSpc>
          <a:spcPct val="90000"/>
        </a:lnSpc>
        <a:spcBef>
          <a:spcPts val="500"/>
        </a:spcBef>
        <a:buFont typeface="IntelOne Display Regular" panose="020B0503020203020204" pitchFamily="34" charset="0"/>
        <a:buChar char="•"/>
        <a:defRPr sz="2000" kern="1200">
          <a:solidFill>
            <a:schemeClr val="tx2"/>
          </a:solidFill>
          <a:latin typeface="+mn-lt"/>
          <a:ea typeface="+mn-ea"/>
          <a:cs typeface="+mn-cs"/>
        </a:defRPr>
      </a:lvl3pPr>
      <a:lvl4pPr marL="1600126" indent="-228589" algn="l" defTabSz="914358" rtl="0" eaLnBrk="1" latinLnBrk="0" hangingPunct="1">
        <a:lnSpc>
          <a:spcPct val="90000"/>
        </a:lnSpc>
        <a:spcBef>
          <a:spcPts val="500"/>
        </a:spcBef>
        <a:buFont typeface="IntelOne Display Regular" panose="020B0503020203020204" pitchFamily="34" charset="0"/>
        <a:buChar char="•"/>
        <a:defRPr sz="1800" kern="1200">
          <a:solidFill>
            <a:schemeClr val="tx2"/>
          </a:solidFill>
          <a:latin typeface="+mn-lt"/>
          <a:ea typeface="+mn-ea"/>
          <a:cs typeface="+mn-cs"/>
        </a:defRPr>
      </a:lvl4pPr>
      <a:lvl5pPr marL="2057305" indent="-228589" algn="l" defTabSz="914358" rtl="0" eaLnBrk="1" latinLnBrk="0" hangingPunct="1">
        <a:lnSpc>
          <a:spcPct val="90000"/>
        </a:lnSpc>
        <a:spcBef>
          <a:spcPts val="500"/>
        </a:spcBef>
        <a:buFont typeface="IntelOne Display Regular" panose="020B0503020203020204" pitchFamily="34" charset="0"/>
        <a:buChar char="•"/>
        <a:defRPr sz="1600" kern="1200">
          <a:solidFill>
            <a:schemeClr val="tx2"/>
          </a:solidFill>
          <a:latin typeface="+mn-lt"/>
          <a:ea typeface="+mn-ea"/>
          <a:cs typeface="+mn-cs"/>
        </a:defRPr>
      </a:lvl5pPr>
      <a:lvl6pPr marL="2514483" indent="-228589" algn="l" defTabSz="91435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62" indent="-228589" algn="l" defTabSz="91435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41" indent="-228589" algn="l" defTabSz="91435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20" indent="-228589" algn="l" defTabSz="91435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8" rtl="0" eaLnBrk="1" latinLnBrk="0" hangingPunct="1">
        <a:defRPr sz="1800" kern="1200">
          <a:solidFill>
            <a:schemeClr val="tx1"/>
          </a:solidFill>
          <a:latin typeface="+mn-lt"/>
          <a:ea typeface="+mn-ea"/>
          <a:cs typeface="+mn-cs"/>
        </a:defRPr>
      </a:lvl1pPr>
      <a:lvl2pPr marL="457179" algn="l" defTabSz="914358" rtl="0" eaLnBrk="1" latinLnBrk="0" hangingPunct="1">
        <a:defRPr sz="1800" kern="1200">
          <a:solidFill>
            <a:schemeClr val="tx1"/>
          </a:solidFill>
          <a:latin typeface="+mn-lt"/>
          <a:ea typeface="+mn-ea"/>
          <a:cs typeface="+mn-cs"/>
        </a:defRPr>
      </a:lvl2pPr>
      <a:lvl3pPr marL="914358" algn="l" defTabSz="914358" rtl="0" eaLnBrk="1" latinLnBrk="0" hangingPunct="1">
        <a:defRPr sz="1800" kern="1200">
          <a:solidFill>
            <a:schemeClr val="tx1"/>
          </a:solidFill>
          <a:latin typeface="+mn-lt"/>
          <a:ea typeface="+mn-ea"/>
          <a:cs typeface="+mn-cs"/>
        </a:defRPr>
      </a:lvl3pPr>
      <a:lvl4pPr marL="1371536" algn="l" defTabSz="914358" rtl="0" eaLnBrk="1" latinLnBrk="0" hangingPunct="1">
        <a:defRPr sz="1800" kern="1200">
          <a:solidFill>
            <a:schemeClr val="tx1"/>
          </a:solidFill>
          <a:latin typeface="+mn-lt"/>
          <a:ea typeface="+mn-ea"/>
          <a:cs typeface="+mn-cs"/>
        </a:defRPr>
      </a:lvl4pPr>
      <a:lvl5pPr marL="1828715" algn="l" defTabSz="914358" rtl="0" eaLnBrk="1" latinLnBrk="0" hangingPunct="1">
        <a:defRPr sz="1800" kern="1200">
          <a:solidFill>
            <a:schemeClr val="tx1"/>
          </a:solidFill>
          <a:latin typeface="+mn-lt"/>
          <a:ea typeface="+mn-ea"/>
          <a:cs typeface="+mn-cs"/>
        </a:defRPr>
      </a:lvl5pPr>
      <a:lvl6pPr marL="2285894" algn="l" defTabSz="914358" rtl="0" eaLnBrk="1" latinLnBrk="0" hangingPunct="1">
        <a:defRPr sz="1800" kern="1200">
          <a:solidFill>
            <a:schemeClr val="tx1"/>
          </a:solidFill>
          <a:latin typeface="+mn-lt"/>
          <a:ea typeface="+mn-ea"/>
          <a:cs typeface="+mn-cs"/>
        </a:defRPr>
      </a:lvl6pPr>
      <a:lvl7pPr marL="2743073" algn="l" defTabSz="914358" rtl="0" eaLnBrk="1" latinLnBrk="0" hangingPunct="1">
        <a:defRPr sz="1800" kern="1200">
          <a:solidFill>
            <a:schemeClr val="tx1"/>
          </a:solidFill>
          <a:latin typeface="+mn-lt"/>
          <a:ea typeface="+mn-ea"/>
          <a:cs typeface="+mn-cs"/>
        </a:defRPr>
      </a:lvl7pPr>
      <a:lvl8pPr marL="3200252" algn="l" defTabSz="914358" rtl="0" eaLnBrk="1" latinLnBrk="0" hangingPunct="1">
        <a:defRPr sz="1800" kern="1200">
          <a:solidFill>
            <a:schemeClr val="tx1"/>
          </a:solidFill>
          <a:latin typeface="+mn-lt"/>
          <a:ea typeface="+mn-ea"/>
          <a:cs typeface="+mn-cs"/>
        </a:defRPr>
      </a:lvl8pPr>
      <a:lvl9pPr marL="3657430" algn="l" defTabSz="91435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6" name="Object 15" hidden="1">
            <a:extLst>
              <a:ext uri="{FF2B5EF4-FFF2-40B4-BE49-F238E27FC236}">
                <a16:creationId xmlns:a16="http://schemas.microsoft.com/office/drawing/2014/main" id="{A7AAC191-B97A-1DE4-EA96-71AD22A32E90}"/>
              </a:ext>
            </a:extLst>
          </p:cNvPr>
          <p:cNvGraphicFramePr>
            <a:graphicFrameLocks noChangeAspect="1"/>
          </p:cNvGraphicFramePr>
          <p:nvPr userDrawn="1">
            <p:custDataLst>
              <p:tags r:id="rId15"/>
            </p:custDataLst>
            <p:extLst>
              <p:ext uri="{D42A27DB-BD31-4B8C-83A1-F6EECF244321}">
                <p14:modId xmlns:p14="http://schemas.microsoft.com/office/powerpoint/2010/main" val="373132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262" imgH="262" progId="TCLayout.ActiveDocument.1">
                  <p:embed/>
                </p:oleObj>
              </mc:Choice>
              <mc:Fallback>
                <p:oleObj name="think-cell Slide" r:id="rId16" imgW="262" imgH="262" progId="TCLayout.ActiveDocument.1">
                  <p:embed/>
                  <p:pic>
                    <p:nvPicPr>
                      <p:cNvPr id="16" name="Object 15" hidden="1">
                        <a:extLst>
                          <a:ext uri="{FF2B5EF4-FFF2-40B4-BE49-F238E27FC236}">
                            <a16:creationId xmlns:a16="http://schemas.microsoft.com/office/drawing/2014/main" id="{A7AAC191-B97A-1DE4-EA96-71AD22A32E90}"/>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41BA0418-D0B8-4038-AB65-D4C12FC9E8C6}"/>
              </a:ext>
            </a:extLst>
          </p:cNvPr>
          <p:cNvSpPr>
            <a:spLocks noGrp="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title style</a:t>
            </a:r>
          </a:p>
        </p:txBody>
      </p:sp>
      <p:sp>
        <p:nvSpPr>
          <p:cNvPr id="3" name="Text Placeholder 2">
            <a:extLst>
              <a:ext uri="{FF2B5EF4-FFF2-40B4-BE49-F238E27FC236}">
                <a16:creationId xmlns:a16="http://schemas.microsoft.com/office/drawing/2014/main" id="{92EA8DDE-64C9-4F0E-9EE0-F0DA00677452}"/>
              </a:ext>
            </a:extLst>
          </p:cNvPr>
          <p:cNvSpPr>
            <a:spLocks noGrp="1"/>
          </p:cNvSpPr>
          <p:nvPr>
            <p:ph type="body" idx="1"/>
          </p:nvPr>
        </p:nvSpPr>
        <p:spPr>
          <a:xfrm>
            <a:off x="381000" y="1491673"/>
            <a:ext cx="10972800" cy="4685290"/>
          </a:xfrm>
          <a:prstGeom prst="rect">
            <a:avLst/>
          </a:prstGeom>
        </p:spPr>
        <p:txBody>
          <a:bodyPr vert="horz" lIns="91440" tIns="45720" rIns="91440" bIns="45720" rtlCol="0">
            <a:normAutofit/>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descr="page number">
            <a:extLst>
              <a:ext uri="{FF2B5EF4-FFF2-40B4-BE49-F238E27FC236}">
                <a16:creationId xmlns:a16="http://schemas.microsoft.com/office/drawing/2014/main" id="{02FB4E28-8FF4-469D-9172-AA2B2441695C}"/>
              </a:ext>
            </a:extLst>
          </p:cNvPr>
          <p:cNvSpPr txBox="1"/>
          <p:nvPr/>
        </p:nvSpPr>
        <p:spPr>
          <a:xfrm>
            <a:off x="11886783" y="6553045"/>
            <a:ext cx="166713"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1000" b="0" i="0" u="none" strike="noStrike" cap="none" spc="0" normalizeH="0" baseline="0" smtClean="0">
                <a:ln>
                  <a:noFill/>
                </a:ln>
                <a:solidFill>
                  <a:schemeClr val="tx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1000" b="0" i="0" u="none" strike="noStrike" cap="none" spc="0" normalizeH="0" baseline="0" dirty="0">
              <a:ln>
                <a:noFill/>
              </a:ln>
              <a:solidFill>
                <a:schemeClr val="tx1"/>
              </a:solidFill>
              <a:effectLst/>
              <a:uFillTx/>
              <a:latin typeface="IntelOne Text" panose="020B0503020203020204" pitchFamily="34" charset="77"/>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543161521"/>
      </p:ext>
    </p:extLst>
  </p:cSld>
  <p:clrMap bg1="lt1" tx1="dk1" bg2="lt2" tx2="dk2" accent1="accent1" accent2="accent2" accent3="accent3" accent4="accent4" accent5="accent5" accent6="accent6" hlink="hlink" folHlink="folHlink"/>
  <p:sldLayoutIdLst>
    <p:sldLayoutId id="2147485448" r:id="rId1"/>
    <p:sldLayoutId id="2147485449" r:id="rId2"/>
    <p:sldLayoutId id="2147485450" r:id="rId3"/>
    <p:sldLayoutId id="2147485451" r:id="rId4"/>
    <p:sldLayoutId id="2147485452" r:id="rId5"/>
    <p:sldLayoutId id="2147485453" r:id="rId6"/>
    <p:sldLayoutId id="2147485454" r:id="rId7"/>
    <p:sldLayoutId id="2147485456" r:id="rId8"/>
    <p:sldLayoutId id="2147485457" r:id="rId9"/>
    <p:sldLayoutId id="2147485458" r:id="rId10"/>
    <p:sldLayoutId id="2147485459" r:id="rId11"/>
    <p:sldLayoutId id="2147485460" r:id="rId12"/>
    <p:sldLayoutId id="2147485462"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lang="en-US" sz="4400" kern="1200">
          <a:solidFill>
            <a:schemeClr val="tx2"/>
          </a:solidFill>
          <a:latin typeface="IntelOne Display Medium" panose="020B0703020203020204" pitchFamily="34" charset="0"/>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openxmlformats.org/officeDocument/2006/relationships/hyperlink" Target="https://www.envoyproxy.io/" TargetMode="External"/><Relationship Id="rId3" Type="http://schemas.openxmlformats.org/officeDocument/2006/relationships/hyperlink" Target="https://github.com/nedmsmith/draft-klspa-wimse-verifiable-geo-fence/blob/main/draft-lkspa-wimse-verifiable-geo-fence.md" TargetMode="External"/><Relationship Id="rId7" Type="http://schemas.openxmlformats.org/officeDocument/2006/relationships/hyperlink" Target="https://github.com/spiffe/spire" TargetMode="External"/><Relationship Id="rId2" Type="http://schemas.openxmlformats.org/officeDocument/2006/relationships/notesSlide" Target="../notesSlides/notesSlide1.xml"/><Relationship Id="rId1" Type="http://schemas.openxmlformats.org/officeDocument/2006/relationships/slideLayout" Target="../slideLayouts/slideLayout28.xml"/><Relationship Id="rId6" Type="http://schemas.openxmlformats.org/officeDocument/2006/relationships/hyperlink" Target="https://github.com/keylime/keylime" TargetMode="External"/><Relationship Id="rId5" Type="http://schemas.openxmlformats.org/officeDocument/2006/relationships/hyperlink" Target="https://github.com/lfedgeai/AegisEdgeAI/tree/main/hybrid-cloud-poc" TargetMode="External"/><Relationship Id="rId4" Type="http://schemas.openxmlformats.org/officeDocument/2006/relationships/hyperlink" Target="https://github.com/lfedgeai/AegisEdgeAI"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worldcoin.org/world-id" TargetMode="External"/><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nedmsmith/draft-klspa-wimse-verifiable-geo-fence/blob/main/draft-lkspa-wimse-verifiable-geo-fence.md" TargetMode="External"/><Relationship Id="rId2" Type="http://schemas.openxmlformats.org/officeDocument/2006/relationships/notesSlide" Target="../notesSlides/notesSlide3.xml"/><Relationship Id="rId1" Type="http://schemas.openxmlformats.org/officeDocument/2006/relationships/slideLayout" Target="../slideLayouts/slideLayout22.xml"/><Relationship Id="rId5" Type="http://schemas.openxmlformats.org/officeDocument/2006/relationships/image" Target="../media/image13.png"/><Relationship Id="rId4" Type="http://schemas.openxmlformats.org/officeDocument/2006/relationships/hyperlink" Target="https://github.com/lfedgeai/AegisEdgeAI"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svg"/><Relationship Id="rId18" Type="http://schemas.openxmlformats.org/officeDocument/2006/relationships/hyperlink" Target="https://learn.microsoft.com/en-us/azure/web-application-firewall/ag/geomatch-custom-rules" TargetMode="External"/><Relationship Id="rId3" Type="http://schemas.openxmlformats.org/officeDocument/2006/relationships/image" Target="../media/image14.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hyperlink" Target="https://datatracker.ietf.org/doc/html/rfc7800" TargetMode="External"/><Relationship Id="rId2" Type="http://schemas.openxmlformats.org/officeDocument/2006/relationships/notesSlide" Target="../notesSlides/notesSlide6.xml"/><Relationship Id="rId16" Type="http://schemas.openxmlformats.org/officeDocument/2006/relationships/hyperlink" Target="https://cloud.google.com/blog/topics/threat-intelligence/escalating-privileges-azure-kubernetes-services" TargetMode="External"/><Relationship Id="rId1" Type="http://schemas.openxmlformats.org/officeDocument/2006/relationships/slideLayout" Target="../slideLayouts/slideLayout23.xml"/><Relationship Id="rId6" Type="http://schemas.openxmlformats.org/officeDocument/2006/relationships/image" Target="../media/image16.jpe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hyperlink" Target="https://www.portnox.com/blog/cyber-attacks/unpacking-the-okta-data-breach/" TargetMode="External"/><Relationship Id="rId10" Type="http://schemas.openxmlformats.org/officeDocument/2006/relationships/image" Target="../media/image20.png"/><Relationship Id="rId4" Type="http://schemas.openxmlformats.org/officeDocument/2006/relationships/hyperlink" Target="https://worldcoin.org/world-id" TargetMode="External"/><Relationship Id="rId9" Type="http://schemas.openxmlformats.org/officeDocument/2006/relationships/image" Target="../media/image19.jpeg"/><Relationship Id="rId14" Type="http://schemas.openxmlformats.org/officeDocument/2006/relationships/hyperlink" Target="https://datatracker.ietf.org/doc/html/rfc6750"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svg"/><Relationship Id="rId3" Type="http://schemas.openxmlformats.org/officeDocument/2006/relationships/image" Target="../media/image14.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16.jpe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hyperlink" Target="https://worldcoin.org/world-id" TargetMode="External"/><Relationship Id="rId9"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25.svg"/></Relationships>
</file>

<file path=ppt/slides/_rels/slide11.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26.jpe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png"/><Relationship Id="rId7"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23.xml"/><Relationship Id="rId6" Type="http://schemas.openxmlformats.org/officeDocument/2006/relationships/image" Target="../media/image19.jpeg"/><Relationship Id="rId5" Type="http://schemas.openxmlformats.org/officeDocument/2006/relationships/image" Target="../media/image28.png"/><Relationship Id="rId4" Type="http://schemas.openxmlformats.org/officeDocument/2006/relationships/image" Target="../media/image25.svg"/></Relationships>
</file>

<file path=ppt/slides/_rels/slide13.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4.png"/><Relationship Id="rId7"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23.xml"/><Relationship Id="rId6" Type="http://schemas.openxmlformats.org/officeDocument/2006/relationships/image" Target="../media/image15.png"/><Relationship Id="rId5" Type="http://schemas.openxmlformats.org/officeDocument/2006/relationships/image" Target="../media/image28.png"/><Relationship Id="rId4" Type="http://schemas.openxmlformats.org/officeDocument/2006/relationships/image" Target="../media/image25.sv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26.jpe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3.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6.jpe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7.png"/><Relationship Id="rId9" Type="http://schemas.openxmlformats.org/officeDocument/2006/relationships/image" Target="../media/image1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hyperlink" Target="https://worldcoin.org/world-id" TargetMode="External"/><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hyperlink" Target="https://worldcoin.org/world-id" TargetMode="External"/><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hyperlink" Target="https://worldcoin.org/world-id" TargetMode="External"/><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3.xml"/><Relationship Id="rId6" Type="http://schemas.openxmlformats.org/officeDocument/2006/relationships/image" Target="../media/image26.jpeg"/><Relationship Id="rId5" Type="http://schemas.openxmlformats.org/officeDocument/2006/relationships/image" Target="../media/image25.sv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4.png"/><Relationship Id="rId7"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3.xml"/><Relationship Id="rId6" Type="http://schemas.openxmlformats.org/officeDocument/2006/relationships/image" Target="../media/image15.png"/><Relationship Id="rId5" Type="http://schemas.openxmlformats.org/officeDocument/2006/relationships/image" Target="../media/image28.png"/><Relationship Id="rId4" Type="http://schemas.openxmlformats.org/officeDocument/2006/relationships/image" Target="../media/image25.svg"/><Relationship Id="rId9"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AE83E-61C3-AB4C-2735-23AC967E1569}"/>
              </a:ext>
            </a:extLst>
          </p:cNvPr>
          <p:cNvSpPr>
            <a:spLocks noGrp="1"/>
          </p:cNvSpPr>
          <p:nvPr>
            <p:ph type="title"/>
          </p:nvPr>
        </p:nvSpPr>
        <p:spPr>
          <a:xfrm>
            <a:off x="105156" y="836022"/>
            <a:ext cx="11981688" cy="3052476"/>
          </a:xfrm>
        </p:spPr>
        <p:txBody>
          <a:bodyPr>
            <a:normAutofit fontScale="90000"/>
          </a:bodyPr>
          <a:lstStyle/>
          <a:p>
            <a:br>
              <a:rPr lang="en-US" sz="4400" b="1" dirty="0"/>
            </a:br>
            <a:br>
              <a:rPr lang="en-US" sz="4400" b="1" dirty="0"/>
            </a:br>
            <a:br>
              <a:rPr lang="en-US" sz="4400" b="1" dirty="0">
                <a:solidFill>
                  <a:schemeClr val="accent5"/>
                </a:solidFill>
              </a:rPr>
            </a:br>
            <a:r>
              <a:rPr lang="en-US" sz="4400" b="1" dirty="0">
                <a:solidFill>
                  <a:schemeClr val="bg1">
                    <a:lumMod val="50000"/>
                  </a:schemeClr>
                </a:solidFill>
              </a:rPr>
              <a:t>Zero-Trust Sovereign AI: </a:t>
            </a:r>
            <a:br>
              <a:rPr lang="en-US" sz="4400" dirty="0"/>
            </a:br>
            <a:r>
              <a:rPr lang="en-US" sz="3600" b="1" dirty="0">
                <a:solidFill>
                  <a:schemeClr val="accent6">
                    <a:lumMod val="50000"/>
                  </a:schemeClr>
                </a:solidFill>
              </a:rPr>
              <a:t>Unified Identity for Workloads with HW-rooted Verifiable Geofencing &amp; Residency Proofs</a:t>
            </a:r>
            <a:br>
              <a:rPr lang="en-US" sz="4400" b="1" dirty="0"/>
            </a:br>
            <a:br>
              <a:rPr lang="en-US" sz="3600" dirty="0"/>
            </a:br>
            <a:br>
              <a:rPr lang="en-US" sz="3600" dirty="0"/>
            </a:br>
            <a:r>
              <a:rPr lang="en-US" sz="2700" dirty="0"/>
              <a:t>Lead: Ramki Krishnan (Trust and Security Expert)</a:t>
            </a:r>
            <a:endParaRPr lang="en-US" sz="2700" dirty="0">
              <a:solidFill>
                <a:schemeClr val="bg2"/>
              </a:solidFill>
            </a:endParaRPr>
          </a:p>
        </p:txBody>
      </p:sp>
      <p:sp>
        <p:nvSpPr>
          <p:cNvPr id="3" name="Text Placeholder 2">
            <a:extLst>
              <a:ext uri="{FF2B5EF4-FFF2-40B4-BE49-F238E27FC236}">
                <a16:creationId xmlns:a16="http://schemas.microsoft.com/office/drawing/2014/main" id="{DF1B06BE-7181-FCB2-7AB7-338BF6114BE1}"/>
              </a:ext>
            </a:extLst>
          </p:cNvPr>
          <p:cNvSpPr>
            <a:spLocks noGrp="1"/>
          </p:cNvSpPr>
          <p:nvPr>
            <p:ph type="body" sz="quarter" idx="10"/>
          </p:nvPr>
        </p:nvSpPr>
        <p:spPr>
          <a:xfrm>
            <a:off x="259881" y="3917529"/>
            <a:ext cx="11588817" cy="2403445"/>
          </a:xfrm>
        </p:spPr>
        <p:txBody>
          <a:bodyPr>
            <a:normAutofit/>
          </a:bodyPr>
          <a:lstStyle/>
          <a:p>
            <a:pPr marL="457200" indent="-457200">
              <a:buFont typeface="Arial" panose="020B0604020202020204" pitchFamily="34" charset="0"/>
              <a:buChar char="•"/>
            </a:pPr>
            <a:r>
              <a:rPr lang="en-US" sz="2400" dirty="0"/>
              <a:t>References </a:t>
            </a:r>
          </a:p>
          <a:p>
            <a:pPr marL="1143000" lvl="1" indent="-457200">
              <a:buFont typeface="Arial" panose="020B0604020202020204" pitchFamily="34" charset="0"/>
              <a:buChar char="•"/>
            </a:pPr>
            <a:r>
              <a:rPr lang="en-US" sz="2000" dirty="0">
                <a:hlinkClick r:id="rId3"/>
              </a:rPr>
              <a:t>IETF Draft</a:t>
            </a:r>
            <a:r>
              <a:rPr lang="en-US" sz="2000" dirty="0"/>
              <a:t> (Vishanti, Telefonica, Orange, Red Hat, Oracle, Aryaka)</a:t>
            </a:r>
          </a:p>
          <a:p>
            <a:pPr marL="1143000" lvl="1" indent="-457200">
              <a:buFont typeface="Arial" panose="020B0604020202020204" pitchFamily="34" charset="0"/>
              <a:buChar char="•"/>
            </a:pPr>
            <a:r>
              <a:rPr lang="en-US" sz="2000" dirty="0">
                <a:hlinkClick r:id="rId4"/>
              </a:rPr>
              <a:t>LF Edge Open-Source Project</a:t>
            </a:r>
            <a:r>
              <a:rPr lang="en-US" sz="2000" dirty="0"/>
              <a:t> (Vishanti, Red Hat et al)</a:t>
            </a:r>
          </a:p>
          <a:p>
            <a:pPr marL="1600200" lvl="2" indent="-457200">
              <a:buFont typeface="Arial" panose="020B0604020202020204" pitchFamily="34" charset="0"/>
              <a:buChar char="•"/>
            </a:pPr>
            <a:r>
              <a:rPr lang="en-US" sz="1600" dirty="0">
                <a:hlinkClick r:id="rId5"/>
              </a:rPr>
              <a:t>Hybrid Cloud PoC (Vishanti, Telefonica, Red Hat)</a:t>
            </a:r>
            <a:endParaRPr lang="en-US" sz="1600" dirty="0">
              <a:solidFill>
                <a:schemeClr val="bg1">
                  <a:lumMod val="60000"/>
                  <a:lumOff val="40000"/>
                </a:schemeClr>
              </a:solidFill>
            </a:endParaRPr>
          </a:p>
          <a:p>
            <a:pPr marL="1143000" lvl="1" indent="-457200">
              <a:buFont typeface="Arial" panose="020B0604020202020204" pitchFamily="34" charset="0"/>
              <a:buChar char="•"/>
            </a:pPr>
            <a:r>
              <a:rPr lang="en-US" sz="2000" dirty="0">
                <a:hlinkClick r:id="rId6"/>
              </a:rPr>
              <a:t>Keylime Open-Source Project </a:t>
            </a:r>
            <a:endParaRPr lang="en-US" sz="2000" dirty="0"/>
          </a:p>
          <a:p>
            <a:pPr marL="1143000" lvl="1" indent="-457200">
              <a:buFont typeface="Arial" panose="020B0604020202020204" pitchFamily="34" charset="0"/>
              <a:buChar char="•"/>
            </a:pPr>
            <a:r>
              <a:rPr lang="en-US" sz="2000" dirty="0">
                <a:hlinkClick r:id="rId7"/>
              </a:rPr>
              <a:t>Spire Open-Source Project</a:t>
            </a:r>
            <a:endParaRPr lang="en-US" sz="2000" dirty="0"/>
          </a:p>
          <a:p>
            <a:pPr marL="1143000" lvl="1" indent="-457200">
              <a:buFont typeface="Arial" panose="020B0604020202020204" pitchFamily="34" charset="0"/>
              <a:buChar char="•"/>
            </a:pPr>
            <a:r>
              <a:rPr lang="en-US" sz="2000" dirty="0">
                <a:hlinkClick r:id="rId8"/>
              </a:rPr>
              <a:t>Envoy Open-Source Project</a:t>
            </a:r>
            <a:endParaRPr lang="en-US" sz="2000" dirty="0"/>
          </a:p>
          <a:p>
            <a:pPr marL="1143000" lvl="1" indent="-457200">
              <a:buFont typeface="Arial" panose="020B0604020202020204" pitchFamily="34" charset="0"/>
              <a:buChar char="•"/>
            </a:pPr>
            <a:endParaRPr lang="en-US" sz="2000" dirty="0"/>
          </a:p>
        </p:txBody>
      </p:sp>
    </p:spTree>
    <p:extLst>
      <p:ext uri="{BB962C8B-B14F-4D97-AF65-F5344CB8AC3E}">
        <p14:creationId xmlns:p14="http://schemas.microsoft.com/office/powerpoint/2010/main" val="4221510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EADE34-4593-6A81-3116-7D64FD2B5625}"/>
              </a:ext>
            </a:extLst>
          </p:cNvPr>
          <p:cNvSpPr>
            <a:spLocks noGrp="1"/>
          </p:cNvSpPr>
          <p:nvPr>
            <p:ph type="title"/>
          </p:nvPr>
        </p:nvSpPr>
        <p:spPr>
          <a:xfrm>
            <a:off x="3316" y="7607"/>
            <a:ext cx="12188677" cy="464591"/>
          </a:xfrm>
        </p:spPr>
        <p:txBody>
          <a:bodyPr>
            <a:noAutofit/>
          </a:bodyPr>
          <a:lstStyle/>
          <a:p>
            <a:r>
              <a:rPr lang="en-US" b="1" noProof="0" dirty="0">
                <a:latin typeface="IntelOne Display Regular" panose="020B0503020203020204" pitchFamily="34" charset="77"/>
              </a:rPr>
              <a:t>Sovereign cloud data residency requirements summary </a:t>
            </a:r>
          </a:p>
        </p:txBody>
      </p:sp>
      <p:sp>
        <p:nvSpPr>
          <p:cNvPr id="11" name="Content Placeholder 1">
            <a:extLst>
              <a:ext uri="{FF2B5EF4-FFF2-40B4-BE49-F238E27FC236}">
                <a16:creationId xmlns:a16="http://schemas.microsoft.com/office/drawing/2014/main" id="{CBE00B63-D319-0348-02AE-044B99A78346}"/>
              </a:ext>
            </a:extLst>
          </p:cNvPr>
          <p:cNvSpPr txBox="1">
            <a:spLocks/>
          </p:cNvSpPr>
          <p:nvPr/>
        </p:nvSpPr>
        <p:spPr>
          <a:xfrm>
            <a:off x="602902" y="817266"/>
            <a:ext cx="10999597" cy="55734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Technical and </a:t>
            </a:r>
            <a:r>
              <a:rPr lang="en-US" sz="2000" b="1" kern="10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regulatory</a:t>
            </a:r>
            <a:r>
              <a:rPr lang="en-US" sz="2000" b="1"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 challenges</a:t>
            </a:r>
          </a:p>
          <a:p>
            <a:r>
              <a:rPr lang="en-US" sz="1800" b="1"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Data protection regulations</a:t>
            </a:r>
            <a:r>
              <a:rPr lang="en-US" sz="1800"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 </a:t>
            </a:r>
            <a:r>
              <a:rPr lang="en-US" sz="1800" kern="100" noProof="0" dirty="0">
                <a:solidFill>
                  <a:schemeClr val="tx1">
                    <a:lumMod val="50000"/>
                  </a:schemeClr>
                </a:solidFill>
                <a:latin typeface="IntelOne Display Regular" panose="020B0503020203020204" pitchFamily="34" charset="77"/>
                <a:cs typeface="Arial" panose="020B0604020202020204" pitchFamily="34" charset="0"/>
              </a:rPr>
              <a:t>EUDR, US HIPPA, PCI DSS, Local legal mandates (Saudi Arabia, China, India …)</a:t>
            </a:r>
          </a:p>
          <a:p>
            <a:r>
              <a:rPr lang="en-US" sz="1800" b="1"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Data protection in all its lifecycle management</a:t>
            </a:r>
            <a:r>
              <a:rPr lang="en-US" sz="1800"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  </a:t>
            </a:r>
            <a:r>
              <a:rPr lang="en-US" sz="1800" kern="100" noProof="0" dirty="0">
                <a:solidFill>
                  <a:schemeClr val="tx1">
                    <a:lumMod val="50000"/>
                  </a:schemeClr>
                </a:solidFill>
                <a:latin typeface="IntelOne Display Regular" panose="020B0503020203020204" pitchFamily="34" charset="77"/>
                <a:cs typeface="Arial" panose="020B0604020202020204" pitchFamily="34" charset="0"/>
              </a:rPr>
              <a:t>creation, process, usage, storage, destruction. </a:t>
            </a:r>
          </a:p>
          <a:p>
            <a:r>
              <a:rPr lang="en-US" sz="1800" b="1"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Data protection in all its status</a:t>
            </a:r>
            <a:r>
              <a:rPr lang="en-US" sz="1800"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 </a:t>
            </a:r>
            <a:r>
              <a:rPr lang="en-US" sz="1800" kern="100" noProof="0" dirty="0">
                <a:solidFill>
                  <a:schemeClr val="tx1">
                    <a:lumMod val="50000"/>
                  </a:schemeClr>
                </a:solidFill>
                <a:latin typeface="IntelOne Display Regular" panose="020B0503020203020204" pitchFamily="34" charset="77"/>
                <a:cs typeface="Arial" panose="020B0604020202020204" pitchFamily="34" charset="0"/>
              </a:rPr>
              <a:t>in transit, in use, at rest.</a:t>
            </a:r>
          </a:p>
          <a:p>
            <a:endParaRPr lang="en-US" sz="2667"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endParaRPr>
          </a:p>
          <a:p>
            <a:pPr marL="0" indent="0">
              <a:buNone/>
            </a:pPr>
            <a:r>
              <a:rPr lang="en-US" sz="2000" b="1"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Data residency technical requirements</a:t>
            </a:r>
          </a:p>
          <a:p>
            <a:r>
              <a:rPr lang="en-US" sz="1800" b="1"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Host affinity</a:t>
            </a:r>
            <a:r>
              <a:rPr lang="en-US" sz="1800" b="1" kern="100" noProof="0" dirty="0">
                <a:solidFill>
                  <a:schemeClr val="tx1">
                    <a:lumMod val="50000"/>
                  </a:schemeClr>
                </a:solidFill>
                <a:latin typeface="IntelOne Display Regular" panose="020B0503020203020204" pitchFamily="34" charset="77"/>
                <a:ea typeface="Aptos" panose="020B0004020202020204" pitchFamily="34" charset="0"/>
                <a:cs typeface="Arial" panose="020B0604020202020204" pitchFamily="34" charset="0"/>
              </a:rPr>
              <a:t> </a:t>
            </a:r>
            <a:r>
              <a:rPr lang="en-US" sz="1800" kern="100" noProof="0" dirty="0">
                <a:solidFill>
                  <a:schemeClr val="tx1">
                    <a:lumMod val="50000"/>
                  </a:schemeClr>
                </a:solidFill>
                <a:latin typeface="IntelOne Display Regular" panose="020B0503020203020204" pitchFamily="34" charset="77"/>
                <a:ea typeface="Aptos" panose="020B0004020202020204" pitchFamily="34" charset="0"/>
                <a:cs typeface="Arial" panose="020B0604020202020204" pitchFamily="34" charset="0"/>
              </a:rPr>
              <a:t>requirement</a:t>
            </a:r>
          </a:p>
          <a:p>
            <a:pPr lvl="1"/>
            <a:r>
              <a:rPr lang="en-US" sz="1800" kern="100" noProof="0" dirty="0">
                <a:solidFill>
                  <a:schemeClr val="tx1">
                    <a:lumMod val="50000"/>
                  </a:schemeClr>
                </a:solidFill>
                <a:latin typeface="IntelOne Display Regular" panose="020B0503020203020204" pitchFamily="34" charset="77"/>
                <a:ea typeface="Aptos" panose="020B0004020202020204" pitchFamily="34" charset="0"/>
                <a:cs typeface="Arial" panose="020B0604020202020204" pitchFamily="34" charset="0"/>
              </a:rPr>
              <a:t>Data storage and processing must be tied to specific hosts. </a:t>
            </a:r>
          </a:p>
          <a:p>
            <a:endParaRPr lang="en-US" sz="1800" b="1"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endParaRPr>
          </a:p>
          <a:p>
            <a:r>
              <a:rPr lang="en-US" sz="1800" b="1" kern="10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G</a:t>
            </a:r>
            <a:r>
              <a:rPr lang="en-US" sz="1800" b="1"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eolocation affinity </a:t>
            </a:r>
            <a:r>
              <a:rPr lang="en-US" sz="1800"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requirement </a:t>
            </a:r>
          </a:p>
          <a:p>
            <a:pPr lvl="1"/>
            <a:r>
              <a:rPr lang="en-US" sz="1800"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D</a:t>
            </a:r>
            <a:r>
              <a:rPr lang="en-US" sz="1800" kern="100" noProof="0" dirty="0">
                <a:solidFill>
                  <a:schemeClr val="tx1">
                    <a:lumMod val="50000"/>
                  </a:schemeClr>
                </a:solidFill>
                <a:latin typeface="IntelOne Display Regular" panose="020B0503020203020204" pitchFamily="34" charset="77"/>
                <a:ea typeface="Aptos" panose="020B0004020202020204" pitchFamily="34" charset="0"/>
                <a:cs typeface="Arial" panose="020B0604020202020204" pitchFamily="34" charset="0"/>
              </a:rPr>
              <a:t>ata must be</a:t>
            </a:r>
            <a:r>
              <a:rPr lang="en-US" sz="1800" kern="100" dirty="0">
                <a:solidFill>
                  <a:schemeClr val="tx1">
                    <a:lumMod val="50000"/>
                  </a:schemeClr>
                </a:solidFill>
                <a:latin typeface="IntelOne Display Regular" panose="020B0503020203020204" pitchFamily="34" charset="77"/>
                <a:ea typeface="Aptos" panose="020B0004020202020204" pitchFamily="34" charset="0"/>
                <a:cs typeface="Arial" panose="020B0604020202020204" pitchFamily="34" charset="0"/>
              </a:rPr>
              <a:t> </a:t>
            </a:r>
            <a:r>
              <a:rPr lang="en-US" sz="1800" kern="100" noProof="0" dirty="0">
                <a:solidFill>
                  <a:schemeClr val="tx1">
                    <a:lumMod val="50000"/>
                  </a:schemeClr>
                </a:solidFill>
                <a:latin typeface="IntelOne Display Regular" panose="020B0503020203020204" pitchFamily="34" charset="77"/>
                <a:ea typeface="Aptos" panose="020B0004020202020204" pitchFamily="34" charset="0"/>
                <a:cs typeface="Arial" panose="020B0604020202020204" pitchFamily="34" charset="0"/>
              </a:rPr>
              <a:t>stored/processed only in a defined geographic region. </a:t>
            </a:r>
          </a:p>
          <a:p>
            <a:pPr lvl="1"/>
            <a:endParaRPr lang="en-US" sz="1800" noProof="0" dirty="0">
              <a:solidFill>
                <a:schemeClr val="tx1">
                  <a:lumMod val="50000"/>
                </a:schemeClr>
              </a:solidFill>
              <a:latin typeface="IntelOne Display Regular" panose="020B0503020203020204" pitchFamily="34" charset="77"/>
            </a:endParaRPr>
          </a:p>
          <a:p>
            <a:r>
              <a:rPr lang="en-US" sz="1800" b="1"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Host geolocation affinity </a:t>
            </a:r>
            <a:r>
              <a:rPr lang="en-US" sz="1800" b="1" kern="10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a:t>
            </a:r>
            <a:r>
              <a:rPr lang="en-US" sz="1800" b="1"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aka geofencing) </a:t>
            </a:r>
            <a:r>
              <a:rPr lang="en-US" sz="1800" kern="100" noProof="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requirement</a:t>
            </a:r>
          </a:p>
          <a:p>
            <a:pPr lvl="1"/>
            <a:r>
              <a:rPr lang="en-US" sz="1800" kern="100" dirty="0">
                <a:solidFill>
                  <a:schemeClr val="tx1">
                    <a:lumMod val="50000"/>
                  </a:schemeClr>
                </a:solidFill>
                <a:latin typeface="IntelOne Display Regular" panose="020B0503020203020204" pitchFamily="34" charset="77"/>
                <a:ea typeface="Yu Gothic Light" panose="020B0300000000000000" pitchFamily="34" charset="-128"/>
                <a:cs typeface="Arial" panose="020B0604020202020204" pitchFamily="34" charset="0"/>
              </a:rPr>
              <a:t>Host is bound to defined geographic region(s)</a:t>
            </a:r>
            <a:endParaRPr lang="en-US" sz="1800" noProof="0" dirty="0">
              <a:solidFill>
                <a:schemeClr val="tx1">
                  <a:lumMod val="50000"/>
                </a:schemeClr>
              </a:solidFill>
              <a:latin typeface="IntelOne Display Regular" panose="020B0503020203020204" pitchFamily="34" charset="77"/>
            </a:endParaRPr>
          </a:p>
          <a:p>
            <a:endParaRPr lang="en-US" sz="2133" noProof="0" dirty="0">
              <a:solidFill>
                <a:schemeClr val="accent6"/>
              </a:solidFill>
              <a:latin typeface="+mn-lt"/>
            </a:endParaRPr>
          </a:p>
          <a:p>
            <a:pPr marL="990575" lvl="2" indent="-380990">
              <a:spcBef>
                <a:spcPts val="0"/>
              </a:spcBef>
              <a:buFont typeface="Arial" panose="020B0604020202020204" pitchFamily="34" charset="0"/>
              <a:buChar char="•"/>
            </a:pPr>
            <a:endParaRPr lang="en-US" sz="1867" noProof="0" dirty="0">
              <a:solidFill>
                <a:srgbClr val="00B050"/>
              </a:solidFill>
              <a:latin typeface="+mn-lt"/>
            </a:endParaRPr>
          </a:p>
          <a:p>
            <a:endParaRPr lang="en-US" sz="2133" noProof="0" dirty="0">
              <a:solidFill>
                <a:srgbClr val="00B050"/>
              </a:solidFill>
              <a:latin typeface="+mn-lt"/>
            </a:endParaRPr>
          </a:p>
          <a:p>
            <a:pPr lvl="1"/>
            <a:endParaRPr lang="en-US" sz="1600" noProof="0" dirty="0">
              <a:solidFill>
                <a:schemeClr val="accent6"/>
              </a:solidFill>
              <a:latin typeface="+mn-lt"/>
            </a:endParaRPr>
          </a:p>
          <a:p>
            <a:pPr marL="0" indent="0">
              <a:buNone/>
            </a:pPr>
            <a:endParaRPr lang="en-US" sz="1800" noProof="0" dirty="0">
              <a:solidFill>
                <a:schemeClr val="tx1">
                  <a:lumMod val="50000"/>
                </a:schemeClr>
              </a:solidFill>
              <a:latin typeface="+mn-lt"/>
            </a:endParaRPr>
          </a:p>
          <a:p>
            <a:pPr lvl="1"/>
            <a:endParaRPr lang="en-US" sz="2000" noProof="0" dirty="0">
              <a:solidFill>
                <a:schemeClr val="tx1">
                  <a:lumMod val="50000"/>
                </a:schemeClr>
              </a:solidFill>
              <a:latin typeface="+mn-lt"/>
            </a:endParaRPr>
          </a:p>
          <a:p>
            <a:pPr lvl="1"/>
            <a:endParaRPr lang="en-US" sz="2000" noProof="0" dirty="0">
              <a:solidFill>
                <a:srgbClr val="000000"/>
              </a:solidFill>
              <a:latin typeface="+mn-lt"/>
            </a:endParaRPr>
          </a:p>
          <a:p>
            <a:pPr marL="914377" lvl="2" indent="0">
              <a:buNone/>
            </a:pPr>
            <a:endParaRPr lang="en-US" sz="1600" noProof="0" dirty="0">
              <a:solidFill>
                <a:srgbClr val="000000"/>
              </a:solidFill>
              <a:latin typeface="+mn-lt"/>
            </a:endParaRPr>
          </a:p>
          <a:p>
            <a:pPr lvl="1"/>
            <a:endParaRPr lang="en-US" sz="2000" noProof="0" dirty="0">
              <a:solidFill>
                <a:srgbClr val="000000"/>
              </a:solidFill>
              <a:latin typeface="+mn-lt"/>
            </a:endParaRPr>
          </a:p>
          <a:p>
            <a:pPr lvl="1"/>
            <a:endParaRPr lang="en-US" sz="20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735310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DBDCB-0916-75D9-1AFD-C11A78F73F3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582C380-0E38-7A02-C22A-7CC592C615FA}"/>
              </a:ext>
            </a:extLst>
          </p:cNvPr>
          <p:cNvSpPr txBox="1"/>
          <p:nvPr/>
        </p:nvSpPr>
        <p:spPr>
          <a:xfrm>
            <a:off x="147234" y="2022924"/>
            <a:ext cx="9895668" cy="1495281"/>
          </a:xfrm>
          <a:prstGeom prst="rect">
            <a:avLst/>
          </a:prstGeom>
          <a:noFill/>
        </p:spPr>
        <p:txBody>
          <a:bodyPr wrap="square">
            <a:spAutoFit/>
          </a:bodyPr>
          <a:lstStyle/>
          <a:p>
            <a:r>
              <a:rPr lang="en-US" sz="3200" b="1" dirty="0">
                <a:solidFill>
                  <a:schemeClr val="bg1">
                    <a:lumMod val="50000"/>
                  </a:schemeClr>
                </a:solidFill>
              </a:rPr>
              <a:t>Zero-Trust Sovereign AI: </a:t>
            </a:r>
            <a:br>
              <a:rPr lang="en-US" sz="3200" dirty="0"/>
            </a:br>
            <a:r>
              <a:rPr lang="en-US" b="1" dirty="0">
                <a:solidFill>
                  <a:schemeClr val="accent6">
                    <a:lumMod val="50000"/>
                  </a:schemeClr>
                </a:solidFill>
              </a:rPr>
              <a:t>Unified Identity</a:t>
            </a:r>
            <a:endParaRPr lang="en-US" sz="2400" b="1" dirty="0">
              <a:solidFill>
                <a:schemeClr val="accent6">
                  <a:lumMod val="50000"/>
                </a:schemeClr>
              </a:solidFill>
            </a:endParaRPr>
          </a:p>
          <a:p>
            <a:r>
              <a:rPr lang="en-US" b="1" dirty="0">
                <a:solidFill>
                  <a:schemeClr val="accent6">
                    <a:lumMod val="50000"/>
                  </a:schemeClr>
                </a:solidFill>
              </a:rPr>
              <a:t>Summary and Business Value</a:t>
            </a:r>
            <a:endParaRPr lang="en-US" dirty="0"/>
          </a:p>
        </p:txBody>
      </p:sp>
    </p:spTree>
    <p:extLst>
      <p:ext uri="{BB962C8B-B14F-4D97-AF65-F5344CB8AC3E}">
        <p14:creationId xmlns:p14="http://schemas.microsoft.com/office/powerpoint/2010/main" val="181164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BF5D878-7903-7ED5-0272-83AE03D1E293}"/>
              </a:ext>
            </a:extLst>
          </p:cNvPr>
          <p:cNvSpPr txBox="1"/>
          <p:nvPr/>
        </p:nvSpPr>
        <p:spPr>
          <a:xfrm>
            <a:off x="85724" y="0"/>
            <a:ext cx="12049449" cy="480131"/>
          </a:xfrm>
          <a:prstGeom prst="rect">
            <a:avLst/>
          </a:prstGeom>
          <a:noFill/>
        </p:spPr>
        <p:txBody>
          <a:bodyPr wrap="square">
            <a:spAutoFit/>
          </a:bodyPr>
          <a:lstStyle/>
          <a:p>
            <a:r>
              <a:rPr lang="en-US" sz="2800" b="1" dirty="0">
                <a:solidFill>
                  <a:schemeClr val="tx2"/>
                </a:solidFill>
              </a:rPr>
              <a:t>Industry Evolution to Novel Zero-Trust Sovereign AI Solution (Stage II)</a:t>
            </a:r>
            <a:endParaRPr lang="en-US" sz="2800" b="1" dirty="0">
              <a:solidFill>
                <a:schemeClr val="tx2"/>
              </a:solidFill>
              <a:latin typeface="+mj-lt"/>
            </a:endParaRPr>
          </a:p>
        </p:txBody>
      </p:sp>
      <p:sp>
        <p:nvSpPr>
          <p:cNvPr id="3" name="TextBox 2">
            <a:extLst>
              <a:ext uri="{FF2B5EF4-FFF2-40B4-BE49-F238E27FC236}">
                <a16:creationId xmlns:a16="http://schemas.microsoft.com/office/drawing/2014/main" id="{A5AD630F-9DF6-CB14-CDD1-6424DA123282}"/>
              </a:ext>
            </a:extLst>
          </p:cNvPr>
          <p:cNvSpPr txBox="1"/>
          <p:nvPr/>
        </p:nvSpPr>
        <p:spPr>
          <a:xfrm>
            <a:off x="8717797" y="1479135"/>
            <a:ext cx="3474203" cy="3444020"/>
          </a:xfrm>
          <a:prstGeom prst="rect">
            <a:avLst/>
          </a:prstGeom>
          <a:noFill/>
        </p:spPr>
        <p:txBody>
          <a:bodyPr wrap="square">
            <a:spAutoFit/>
          </a:bodyPr>
          <a:lstStyle/>
          <a:p>
            <a:pPr marL="685800" lvl="1">
              <a:spcBef>
                <a:spcPts val="0"/>
              </a:spcBef>
            </a:pPr>
            <a:r>
              <a:rPr lang="en-US" sz="2000" b="1" dirty="0"/>
              <a:t>Stage II public references</a:t>
            </a:r>
            <a:r>
              <a:rPr lang="en-US" sz="2000" dirty="0"/>
              <a:t>: </a:t>
            </a:r>
          </a:p>
          <a:p>
            <a:pPr marL="971550" lvl="1" indent="-285750">
              <a:spcBef>
                <a:spcPts val="0"/>
              </a:spcBef>
              <a:buFont typeface="Arial" panose="020B0604020202020204" pitchFamily="34" charset="0"/>
              <a:buChar char="•"/>
            </a:pPr>
            <a:r>
              <a:rPr lang="en-US" sz="1800" dirty="0">
                <a:hlinkClick r:id="rId3"/>
              </a:rPr>
              <a:t>IETF Draft</a:t>
            </a:r>
            <a:r>
              <a:rPr lang="en-US" sz="1800" dirty="0"/>
              <a:t> (Telefonica, Orange, Red Hat, Oracle, Aryaka); </a:t>
            </a:r>
          </a:p>
          <a:p>
            <a:pPr marL="971550" lvl="1" indent="-285750">
              <a:spcBef>
                <a:spcPts val="0"/>
              </a:spcBef>
              <a:buFont typeface="Arial" panose="020B0604020202020204" pitchFamily="34" charset="0"/>
              <a:buChar char="•"/>
            </a:pPr>
            <a:r>
              <a:rPr lang="en-US" sz="1800" dirty="0">
                <a:hlinkClick r:id="rId4"/>
              </a:rPr>
              <a:t>LF Edge Project</a:t>
            </a:r>
            <a:r>
              <a:rPr lang="en-US" sz="1800" dirty="0"/>
              <a:t> (Vishanti, Red Hat et al)</a:t>
            </a:r>
          </a:p>
          <a:p>
            <a:pPr marL="971550" lvl="1" indent="-285750">
              <a:spcBef>
                <a:spcPts val="0"/>
              </a:spcBef>
              <a:buFont typeface="Arial" panose="020B0604020202020204" pitchFamily="34" charset="0"/>
              <a:buChar char="•"/>
            </a:pPr>
            <a:endParaRPr lang="en-US" sz="1800" dirty="0"/>
          </a:p>
          <a:p>
            <a:pPr marL="685800" lvl="1">
              <a:spcBef>
                <a:spcPts val="0"/>
              </a:spcBef>
            </a:pPr>
            <a:r>
              <a:rPr lang="en-US" sz="2000" b="1" dirty="0"/>
              <a:t>Stage II implementation progress:</a:t>
            </a:r>
          </a:p>
          <a:p>
            <a:pPr marL="971550" lvl="1" indent="-285750">
              <a:spcBef>
                <a:spcPts val="0"/>
              </a:spcBef>
              <a:buFont typeface="Arial" panose="020B0604020202020204" pitchFamily="34" charset="0"/>
              <a:buChar char="•"/>
            </a:pPr>
            <a:r>
              <a:rPr lang="en-US" sz="1800" b="1" dirty="0"/>
              <a:t>Joint Hybrid Cloud PoC </a:t>
            </a:r>
            <a:r>
              <a:rPr lang="en-US" sz="1800" dirty="0"/>
              <a:t>- Telefonica, Red Hat and Vishanti</a:t>
            </a:r>
          </a:p>
        </p:txBody>
      </p:sp>
      <p:pic>
        <p:nvPicPr>
          <p:cNvPr id="5" name="Picture 4" descr="A diagram of a workflow&#10;&#10;AI-generated content may be incorrect.">
            <a:extLst>
              <a:ext uri="{FF2B5EF4-FFF2-40B4-BE49-F238E27FC236}">
                <a16:creationId xmlns:a16="http://schemas.microsoft.com/office/drawing/2014/main" id="{523C2CAA-7323-C5EA-2E15-4C84979E19E5}"/>
              </a:ext>
            </a:extLst>
          </p:cNvPr>
          <p:cNvPicPr>
            <a:picLocks noChangeAspect="1"/>
          </p:cNvPicPr>
          <p:nvPr/>
        </p:nvPicPr>
        <p:blipFill>
          <a:blip r:embed="rId5"/>
          <a:stretch>
            <a:fillRect/>
          </a:stretch>
        </p:blipFill>
        <p:spPr>
          <a:xfrm>
            <a:off x="847023" y="492690"/>
            <a:ext cx="8460606" cy="6289584"/>
          </a:xfrm>
          <a:prstGeom prst="rect">
            <a:avLst/>
          </a:prstGeom>
        </p:spPr>
      </p:pic>
    </p:spTree>
    <p:extLst>
      <p:ext uri="{BB962C8B-B14F-4D97-AF65-F5344CB8AC3E}">
        <p14:creationId xmlns:p14="http://schemas.microsoft.com/office/powerpoint/2010/main" val="28473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6E8669E-9C5D-A9B9-3A40-2BF13940555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5920AD6-F96F-2C90-A5C6-3FF552594250}"/>
              </a:ext>
            </a:extLst>
          </p:cNvPr>
          <p:cNvSpPr txBox="1"/>
          <p:nvPr/>
        </p:nvSpPr>
        <p:spPr>
          <a:xfrm>
            <a:off x="85724" y="0"/>
            <a:ext cx="12049449" cy="480131"/>
          </a:xfrm>
          <a:prstGeom prst="rect">
            <a:avLst/>
          </a:prstGeom>
          <a:noFill/>
        </p:spPr>
        <p:txBody>
          <a:bodyPr wrap="square">
            <a:spAutoFit/>
          </a:bodyPr>
          <a:lstStyle/>
          <a:p>
            <a:r>
              <a:rPr lang="en-US" sz="2800" b="1" dirty="0">
                <a:solidFill>
                  <a:schemeClr val="tx2"/>
                </a:solidFill>
              </a:rPr>
              <a:t>The Verifiable AI Accountability Matrix: Closing the Identity Gap – Stage 2</a:t>
            </a:r>
            <a:endParaRPr lang="en-US" sz="2800" b="1" dirty="0">
              <a:solidFill>
                <a:schemeClr val="tx2"/>
              </a:solidFill>
              <a:latin typeface="+mj-lt"/>
            </a:endParaRPr>
          </a:p>
        </p:txBody>
      </p:sp>
      <p:graphicFrame>
        <p:nvGraphicFramePr>
          <p:cNvPr id="5" name="Table 4">
            <a:extLst>
              <a:ext uri="{FF2B5EF4-FFF2-40B4-BE49-F238E27FC236}">
                <a16:creationId xmlns:a16="http://schemas.microsoft.com/office/drawing/2014/main" id="{B8F1B1E7-AFF0-AA6B-E7AF-0405C163406C}"/>
              </a:ext>
            </a:extLst>
          </p:cNvPr>
          <p:cNvGraphicFramePr>
            <a:graphicFrameLocks noGrp="1"/>
          </p:cNvGraphicFramePr>
          <p:nvPr>
            <p:extLst>
              <p:ext uri="{D42A27DB-BD31-4B8C-83A1-F6EECF244321}">
                <p14:modId xmlns:p14="http://schemas.microsoft.com/office/powerpoint/2010/main" val="1875024894"/>
              </p:ext>
            </p:extLst>
          </p:nvPr>
        </p:nvGraphicFramePr>
        <p:xfrm>
          <a:off x="365760" y="556591"/>
          <a:ext cx="11378318" cy="6045313"/>
        </p:xfrm>
        <a:graphic>
          <a:graphicData uri="http://schemas.openxmlformats.org/drawingml/2006/table">
            <a:tbl>
              <a:tblPr/>
              <a:tblGrid>
                <a:gridCol w="2049922">
                  <a:extLst>
                    <a:ext uri="{9D8B030D-6E8A-4147-A177-3AD203B41FA5}">
                      <a16:colId xmlns:a16="http://schemas.microsoft.com/office/drawing/2014/main" val="1957491075"/>
                    </a:ext>
                  </a:extLst>
                </a:gridCol>
                <a:gridCol w="2275588">
                  <a:extLst>
                    <a:ext uri="{9D8B030D-6E8A-4147-A177-3AD203B41FA5}">
                      <a16:colId xmlns:a16="http://schemas.microsoft.com/office/drawing/2014/main" val="2846766938"/>
                    </a:ext>
                  </a:extLst>
                </a:gridCol>
                <a:gridCol w="3276633">
                  <a:extLst>
                    <a:ext uri="{9D8B030D-6E8A-4147-A177-3AD203B41FA5}">
                      <a16:colId xmlns:a16="http://schemas.microsoft.com/office/drawing/2014/main" val="60632173"/>
                    </a:ext>
                  </a:extLst>
                </a:gridCol>
                <a:gridCol w="3776175">
                  <a:extLst>
                    <a:ext uri="{9D8B030D-6E8A-4147-A177-3AD203B41FA5}">
                      <a16:colId xmlns:a16="http://schemas.microsoft.com/office/drawing/2014/main" val="271322751"/>
                    </a:ext>
                  </a:extLst>
                </a:gridCol>
              </a:tblGrid>
              <a:tr h="619150">
                <a:tc>
                  <a:txBody>
                    <a:bodyPr/>
                    <a:lstStyle/>
                    <a:p>
                      <a:pPr rtl="0">
                        <a:buNone/>
                      </a:pPr>
                      <a:r>
                        <a:rPr lang="en-US" sz="1600" b="1" dirty="0">
                          <a:solidFill>
                            <a:srgbClr val="1F1F1F"/>
                          </a:solidFill>
                          <a:effectLst/>
                          <a:latin typeface="Google Sans Text"/>
                        </a:rPr>
                        <a:t>Problem &amp; Category</a:t>
                      </a:r>
                      <a:endParaRPr lang="en-US" sz="1600" dirty="0">
                        <a:solidFill>
                          <a:srgbClr val="1F1F1F"/>
                        </a:solidFill>
                        <a:effectLst/>
                        <a:latin typeface="Google Sans Text"/>
                      </a:endParaRP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a:solidFill>
                            <a:srgbClr val="1F1F1F"/>
                          </a:solidFill>
                          <a:effectLst/>
                          <a:latin typeface="Google Sans Text"/>
                        </a:rPr>
                        <a:t>Risk Scenario (e.g., Loan Approval)</a:t>
                      </a:r>
                      <a:endParaRPr lang="en-US" sz="1600">
                        <a:solidFill>
                          <a:srgbClr val="1F1F1F"/>
                        </a:solidFill>
                        <a:effectLst/>
                        <a:latin typeface="Google Sans Text"/>
                      </a:endParaRP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dirty="0">
                          <a:solidFill>
                            <a:srgbClr val="1F1F1F"/>
                          </a:solidFill>
                          <a:effectLst/>
                          <a:latin typeface="Google Sans Text"/>
                        </a:rPr>
                        <a:t>SPIRE SVID (Stage I / Address Bearer Token Risk) Failure</a:t>
                      </a:r>
                      <a:endParaRPr lang="en-US" sz="1600" dirty="0">
                        <a:solidFill>
                          <a:srgbClr val="1F1F1F"/>
                        </a:solidFill>
                        <a:effectLst/>
                        <a:latin typeface="Google Sans Text"/>
                      </a:endParaRP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a:solidFill>
                            <a:srgbClr val="1F1F1F"/>
                          </a:solidFill>
                          <a:effectLst/>
                          <a:latin typeface="Google Sans Text"/>
                        </a:rPr>
                        <a:t>Aegis "Bound ID" Solution (Stage II Foundation)</a:t>
                      </a:r>
                      <a:endParaRPr lang="en-US" sz="1600">
                        <a:solidFill>
                          <a:srgbClr val="1F1F1F"/>
                        </a:solidFill>
                        <a:effectLst/>
                        <a:latin typeface="Google Sans Text"/>
                      </a:endParaRP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832941231"/>
                  </a:ext>
                </a:extLst>
              </a:tr>
              <a:tr h="1315655">
                <a:tc>
                  <a:txBody>
                    <a:bodyPr/>
                    <a:lstStyle/>
                    <a:p>
                      <a:pPr rtl="0">
                        <a:buNone/>
                      </a:pPr>
                      <a:r>
                        <a:rPr lang="en-US" sz="1600" b="1" dirty="0">
                          <a:solidFill>
                            <a:srgbClr val="1F1F1F"/>
                          </a:solidFill>
                          <a:effectLst/>
                          <a:latin typeface="Google Sans Text"/>
                        </a:rPr>
                        <a:t>1. Adversarial HW</a:t>
                      </a:r>
                      <a:r>
                        <a:rPr lang="en-US" sz="1600" dirty="0">
                          <a:solidFill>
                            <a:srgbClr val="1F1F1F"/>
                          </a:solidFill>
                          <a:effectLst/>
                          <a:latin typeface="Google Sans Text"/>
                        </a:rPr>
                        <a:t> </a:t>
                      </a:r>
                      <a:r>
                        <a:rPr lang="en-US" sz="1600" i="1" dirty="0">
                          <a:solidFill>
                            <a:srgbClr val="1F1F1F"/>
                          </a:solidFill>
                          <a:effectLst/>
                          <a:latin typeface="Google Sans Text"/>
                        </a:rPr>
                        <a:t>(Security)</a:t>
                      </a:r>
                      <a:endParaRPr lang="en-US" sz="1600" dirty="0">
                        <a:solidFill>
                          <a:srgbClr val="1F1F1F"/>
                        </a:solidFill>
                        <a:effectLst/>
                        <a:latin typeface="Google Sans Text"/>
                      </a:endParaRP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dirty="0">
                          <a:solidFill>
                            <a:srgbClr val="1F1F1F"/>
                          </a:solidFill>
                          <a:effectLst/>
                          <a:latin typeface="Google Sans Text"/>
                        </a:rPr>
                        <a:t>Provider moves model to non-secure GPU to intercept weights.</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dirty="0">
                          <a:solidFill>
                            <a:srgbClr val="1F1F1F"/>
                          </a:solidFill>
                          <a:effectLst/>
                          <a:latin typeface="Google Sans Text"/>
                        </a:rPr>
                        <a:t>Host-Blind</a:t>
                      </a:r>
                      <a:r>
                        <a:rPr lang="en-US" sz="1600" dirty="0">
                          <a:solidFill>
                            <a:srgbClr val="1F1F1F"/>
                          </a:solidFill>
                          <a:effectLst/>
                          <a:latin typeface="Google Sans Text"/>
                        </a:rPr>
                        <a:t>: SVIDs prove workload validity but not host security.</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dirty="0">
                          <a:solidFill>
                            <a:srgbClr val="1F1F1F"/>
                          </a:solidFill>
                          <a:effectLst/>
                          <a:latin typeface="Google Sans Text"/>
                        </a:rPr>
                        <a:t>Silicon Anchored</a:t>
                      </a:r>
                      <a:r>
                        <a:rPr lang="en-US" sz="1600" dirty="0">
                          <a:solidFill>
                            <a:srgbClr val="1F1F1F"/>
                          </a:solidFill>
                          <a:effectLst/>
                          <a:latin typeface="Google Sans Text"/>
                        </a:rPr>
                        <a:t>: Private keys are locked in the TPM; ID is invalid on non-attested hardware.</a:t>
                      </a:r>
                      <a:br>
                        <a:rPr lang="en-US" sz="1600" dirty="0">
                          <a:solidFill>
                            <a:srgbClr val="1F1F1F"/>
                          </a:solidFill>
                          <a:effectLst/>
                          <a:latin typeface="Google Sans Text"/>
                        </a:rPr>
                      </a:br>
                      <a:r>
                        <a:rPr lang="en-US" sz="1600" b="1" dirty="0">
                          <a:solidFill>
                            <a:srgbClr val="1F1F1F"/>
                          </a:solidFill>
                          <a:effectLst/>
                          <a:latin typeface="Google Sans Text"/>
                        </a:rPr>
                        <a:t>Privacy Layer</a:t>
                      </a:r>
                      <a:r>
                        <a:rPr lang="en-US" sz="1600" dirty="0">
                          <a:solidFill>
                            <a:srgbClr val="1F1F1F"/>
                          </a:solidFill>
                          <a:effectLst/>
                          <a:latin typeface="Google Sans Text"/>
                        </a:rPr>
                        <a:t>: Verifies hardware trust based on manufacturer (no serial).</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082926882"/>
                  </a:ext>
                </a:extLst>
              </a:tr>
              <a:tr h="992418">
                <a:tc>
                  <a:txBody>
                    <a:bodyPr/>
                    <a:lstStyle/>
                    <a:p>
                      <a:pPr rtl="0">
                        <a:buNone/>
                      </a:pPr>
                      <a:r>
                        <a:rPr lang="en-US" sz="1600" b="1">
                          <a:solidFill>
                            <a:srgbClr val="1F1F1F"/>
                          </a:solidFill>
                          <a:effectLst/>
                          <a:latin typeface="Google Sans Text"/>
                        </a:rPr>
                        <a:t>2. Model Risk (MRM)</a:t>
                      </a:r>
                      <a:r>
                        <a:rPr lang="en-US" sz="1600">
                          <a:solidFill>
                            <a:srgbClr val="1F1F1F"/>
                          </a:solidFill>
                          <a:effectLst/>
                          <a:latin typeface="Google Sans Text"/>
                        </a:rPr>
                        <a:t> </a:t>
                      </a:r>
                      <a:r>
                        <a:rPr lang="en-US" sz="1600" i="1">
                          <a:solidFill>
                            <a:srgbClr val="1F1F1F"/>
                          </a:solidFill>
                          <a:effectLst/>
                          <a:latin typeface="Google Sans Text"/>
                        </a:rPr>
                        <a:t>(Compliance)</a:t>
                      </a:r>
                      <a:endParaRPr lang="en-US" sz="1600">
                        <a:solidFill>
                          <a:srgbClr val="1F1F1F"/>
                        </a:solidFill>
                        <a:effectLst/>
                        <a:latin typeface="Google Sans Text"/>
                      </a:endParaRP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dirty="0">
                          <a:solidFill>
                            <a:srgbClr val="1F1F1F"/>
                          </a:solidFill>
                          <a:effectLst/>
                          <a:latin typeface="Google Sans Text"/>
                        </a:rPr>
                        <a:t>Hardware variance causes decision drift and audit failure.</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a:solidFill>
                            <a:srgbClr val="1F1F1F"/>
                          </a:solidFill>
                          <a:effectLst/>
                          <a:latin typeface="Google Sans Text"/>
                        </a:rPr>
                        <a:t>HW-Agnostic</a:t>
                      </a:r>
                      <a:r>
                        <a:rPr lang="en-US" sz="1600">
                          <a:solidFill>
                            <a:srgbClr val="1F1F1F"/>
                          </a:solidFill>
                          <a:effectLst/>
                          <a:latin typeface="Google Sans Text"/>
                        </a:rPr>
                        <a:t>: SVIDs lack the hardware metadata for deterministic execution.</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dirty="0">
                          <a:solidFill>
                            <a:srgbClr val="1F1F1F"/>
                          </a:solidFill>
                          <a:effectLst/>
                          <a:latin typeface="Google Sans Text"/>
                        </a:rPr>
                        <a:t>Computational Determinism</a:t>
                      </a:r>
                      <a:r>
                        <a:rPr lang="en-US" sz="1600" dirty="0">
                          <a:solidFill>
                            <a:srgbClr val="1F1F1F"/>
                          </a:solidFill>
                          <a:effectLst/>
                          <a:latin typeface="Google Sans Text"/>
                        </a:rPr>
                        <a:t>: ID is cryptographically bound to the specific hardware profile.</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533521796"/>
                  </a:ext>
                </a:extLst>
              </a:tr>
              <a:tr h="1062836">
                <a:tc>
                  <a:txBody>
                    <a:bodyPr/>
                    <a:lstStyle/>
                    <a:p>
                      <a:pPr rtl="0">
                        <a:buNone/>
                      </a:pPr>
                      <a:r>
                        <a:rPr lang="en-US" sz="1600" b="1">
                          <a:solidFill>
                            <a:srgbClr val="1F1F1F"/>
                          </a:solidFill>
                          <a:effectLst/>
                          <a:latin typeface="Google Sans Text"/>
                        </a:rPr>
                        <a:t>3. Data Residency</a:t>
                      </a:r>
                      <a:r>
                        <a:rPr lang="en-US" sz="1600">
                          <a:solidFill>
                            <a:srgbClr val="1F1F1F"/>
                          </a:solidFill>
                          <a:effectLst/>
                          <a:latin typeface="Google Sans Text"/>
                        </a:rPr>
                        <a:t> </a:t>
                      </a:r>
                      <a:r>
                        <a:rPr lang="en-US" sz="1600" i="1">
                          <a:solidFill>
                            <a:srgbClr val="1F1F1F"/>
                          </a:solidFill>
                          <a:effectLst/>
                          <a:latin typeface="Google Sans Text"/>
                        </a:rPr>
                        <a:t>(Compliance)</a:t>
                      </a:r>
                      <a:endParaRPr lang="en-US" sz="1600">
                        <a:solidFill>
                          <a:srgbClr val="1F1F1F"/>
                        </a:solidFill>
                        <a:effectLst/>
                        <a:latin typeface="Google Sans Text"/>
                      </a:endParaRP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a:solidFill>
                            <a:srgbClr val="1F1F1F"/>
                          </a:solidFill>
                          <a:effectLst/>
                          <a:latin typeface="Google Sans Text"/>
                        </a:rPr>
                        <a:t>Sovereign data processed in unauthorized region due to misrouting.</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dirty="0">
                          <a:solidFill>
                            <a:srgbClr val="1F1F1F"/>
                          </a:solidFill>
                          <a:effectLst/>
                          <a:latin typeface="Google Sans Text"/>
                        </a:rPr>
                        <a:t>Location-Agnostic</a:t>
                      </a:r>
                      <a:r>
                        <a:rPr lang="en-US" sz="1600" dirty="0">
                          <a:solidFill>
                            <a:srgbClr val="1F1F1F"/>
                          </a:solidFill>
                          <a:effectLst/>
                          <a:latin typeface="Google Sans Text"/>
                        </a:rPr>
                        <a:t>: SVIDs can be issued in non-compliant regions.</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dirty="0">
                          <a:solidFill>
                            <a:srgbClr val="1F1F1F"/>
                          </a:solidFill>
                          <a:effectLst/>
                          <a:latin typeface="Google Sans Text"/>
                        </a:rPr>
                        <a:t>Verifiable Geofencing</a:t>
                      </a:r>
                      <a:r>
                        <a:rPr lang="en-US" sz="1600" dirty="0">
                          <a:solidFill>
                            <a:srgbClr val="1F1F1F"/>
                          </a:solidFill>
                          <a:effectLst/>
                          <a:latin typeface="Google Sans Text"/>
                        </a:rPr>
                        <a:t>: ID signing requires real-time, silicon-signed location proof.</a:t>
                      </a:r>
                    </a:p>
                    <a:p>
                      <a:pPr rtl="0">
                        <a:buNone/>
                      </a:pPr>
                      <a:r>
                        <a:rPr lang="en-US" sz="1600" b="1" dirty="0">
                          <a:solidFill>
                            <a:srgbClr val="1F1F1F"/>
                          </a:solidFill>
                          <a:effectLst/>
                          <a:latin typeface="Google Sans Text"/>
                        </a:rPr>
                        <a:t>Privacy Layer:</a:t>
                      </a:r>
                      <a:r>
                        <a:rPr lang="en-US" sz="1600" dirty="0">
                          <a:solidFill>
                            <a:srgbClr val="1F1F1F"/>
                          </a:solidFill>
                          <a:effectLst/>
                          <a:latin typeface="Google Sans Text"/>
                        </a:rPr>
                        <a:t> Prove residency (ZKP) without revealing exact coordinates.</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60165833"/>
                  </a:ext>
                </a:extLst>
              </a:tr>
              <a:tr h="1062836">
                <a:tc>
                  <a:txBody>
                    <a:bodyPr/>
                    <a:lstStyle/>
                    <a:p>
                      <a:pPr rtl="0">
                        <a:buNone/>
                      </a:pPr>
                      <a:r>
                        <a:rPr lang="en-US" sz="1600" b="1">
                          <a:solidFill>
                            <a:srgbClr val="1F1F1F"/>
                          </a:solidFill>
                          <a:effectLst/>
                          <a:latin typeface="Google Sans Text"/>
                        </a:rPr>
                        <a:t>4. BYOD Integrity</a:t>
                      </a:r>
                      <a:r>
                        <a:rPr lang="en-US" sz="1600">
                          <a:solidFill>
                            <a:srgbClr val="1F1F1F"/>
                          </a:solidFill>
                          <a:effectLst/>
                          <a:latin typeface="Google Sans Text"/>
                        </a:rPr>
                        <a:t> </a:t>
                      </a:r>
                      <a:r>
                        <a:rPr lang="en-US" sz="1600" i="1">
                          <a:solidFill>
                            <a:srgbClr val="1F1F1F"/>
                          </a:solidFill>
                          <a:effectLst/>
                          <a:latin typeface="Google Sans Text"/>
                        </a:rPr>
                        <a:t>(Security)</a:t>
                      </a:r>
                      <a:endParaRPr lang="en-US" sz="1600">
                        <a:solidFill>
                          <a:srgbClr val="1F1F1F"/>
                        </a:solidFill>
                        <a:effectLst/>
                        <a:latin typeface="Google Sans Text"/>
                      </a:endParaRP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a:solidFill>
                            <a:srgbClr val="1F1F1F"/>
                          </a:solidFill>
                          <a:effectLst/>
                          <a:latin typeface="Google Sans Text"/>
                        </a:rPr>
                        <a:t>Jailbroken OS on a mobile device bypasses safety filters.</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dirty="0">
                          <a:solidFill>
                            <a:srgbClr val="1F1F1F"/>
                          </a:solidFill>
                          <a:effectLst/>
                          <a:latin typeface="Google Sans Text"/>
                        </a:rPr>
                        <a:t>Static</a:t>
                      </a:r>
                      <a:r>
                        <a:rPr lang="en-US" sz="1600" dirty="0">
                          <a:solidFill>
                            <a:srgbClr val="1F1F1F"/>
                          </a:solidFill>
                          <a:effectLst/>
                          <a:latin typeface="Google Sans Text"/>
                        </a:rPr>
                        <a:t>: SVID remains valid even if device security state is lost mid-session.</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dirty="0">
                          <a:solidFill>
                            <a:srgbClr val="1F1F1F"/>
                          </a:solidFill>
                          <a:effectLst/>
                          <a:latin typeface="Google Sans Text"/>
                        </a:rPr>
                        <a:t>Continuous Attestation</a:t>
                      </a:r>
                      <a:r>
                        <a:rPr lang="en-US" sz="1600" dirty="0">
                          <a:solidFill>
                            <a:srgbClr val="1F1F1F"/>
                          </a:solidFill>
                          <a:effectLst/>
                          <a:latin typeface="Google Sans Text"/>
                        </a:rPr>
                        <a:t>: ID is revoked instantly if mobile TEE/OS integrity is lost.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1F1F1F"/>
                          </a:solidFill>
                          <a:effectLst/>
                          <a:latin typeface="Google Sans Text"/>
                        </a:rPr>
                        <a:t>Proof of Health</a:t>
                      </a:r>
                      <a:r>
                        <a:rPr lang="en-US" sz="1600" dirty="0">
                          <a:solidFill>
                            <a:srgbClr val="1F1F1F"/>
                          </a:solidFill>
                          <a:effectLst/>
                          <a:latin typeface="Google Sans Text"/>
                        </a:rPr>
                        <a:t>: Verifies "Not Jailbroken" status without a full device scan.</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042455511"/>
                  </a:ext>
                </a:extLst>
              </a:tr>
              <a:tr h="992418">
                <a:tc>
                  <a:txBody>
                    <a:bodyPr/>
                    <a:lstStyle/>
                    <a:p>
                      <a:pPr rtl="0">
                        <a:buNone/>
                      </a:pPr>
                      <a:r>
                        <a:rPr lang="en-US" sz="1600" b="1">
                          <a:solidFill>
                            <a:srgbClr val="1F1F1F"/>
                          </a:solidFill>
                          <a:effectLst/>
                          <a:latin typeface="Google Sans Text"/>
                        </a:rPr>
                        <a:t>5. Data Sovereignty</a:t>
                      </a:r>
                      <a:r>
                        <a:rPr lang="en-US" sz="1600">
                          <a:solidFill>
                            <a:srgbClr val="1F1F1F"/>
                          </a:solidFill>
                          <a:effectLst/>
                          <a:latin typeface="Google Sans Text"/>
                        </a:rPr>
                        <a:t> </a:t>
                      </a:r>
                      <a:r>
                        <a:rPr lang="en-US" sz="1600" i="1">
                          <a:solidFill>
                            <a:srgbClr val="1F1F1F"/>
                          </a:solidFill>
                          <a:effectLst/>
                          <a:latin typeface="Google Sans Text"/>
                        </a:rPr>
                        <a:t>(Privacy)</a:t>
                      </a:r>
                      <a:endParaRPr lang="en-US" sz="1600">
                        <a:solidFill>
                          <a:srgbClr val="1F1F1F"/>
                        </a:solidFill>
                        <a:effectLst/>
                        <a:latin typeface="Google Sans Text"/>
                      </a:endParaRP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a:solidFill>
                            <a:srgbClr val="1F1F1F"/>
                          </a:solidFill>
                          <a:effectLst/>
                          <a:latin typeface="Google Sans Text"/>
                        </a:rPr>
                        <a:t>Foreign subpoena compels bank to produce data, violating local laws.</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a:solidFill>
                            <a:srgbClr val="1F1F1F"/>
                          </a:solidFill>
                          <a:effectLst/>
                          <a:latin typeface="Google Sans Text"/>
                        </a:rPr>
                        <a:t>Global Scope</a:t>
                      </a:r>
                      <a:r>
                        <a:rPr lang="en-US" sz="1600">
                          <a:solidFill>
                            <a:srgbClr val="1F1F1F"/>
                          </a:solidFill>
                          <a:effectLst/>
                          <a:latin typeface="Google Sans Text"/>
                        </a:rPr>
                        <a:t>: A valid SVID can authenticate access across regional boundaries.</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sz="1600" b="1" dirty="0">
                          <a:solidFill>
                            <a:srgbClr val="1F1F1F"/>
                          </a:solidFill>
                          <a:effectLst/>
                          <a:latin typeface="Google Sans Text"/>
                        </a:rPr>
                        <a:t>Key-to-HSM Binding</a:t>
                      </a:r>
                      <a:r>
                        <a:rPr lang="en-US" sz="1600" dirty="0">
                          <a:solidFill>
                            <a:srgbClr val="1F1F1F"/>
                          </a:solidFill>
                          <a:effectLst/>
                          <a:latin typeface="Google Sans Text"/>
                        </a:rPr>
                        <a:t>: ID is bound to a Local HSM; keys never leave sovereign silicon.</a:t>
                      </a:r>
                    </a:p>
                  </a:txBody>
                  <a:tcPr marL="37298" marR="37298" marT="24866" marB="24866"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504296620"/>
                  </a:ext>
                </a:extLst>
              </a:tr>
            </a:tbl>
          </a:graphicData>
        </a:graphic>
      </p:graphicFrame>
    </p:spTree>
    <p:extLst>
      <p:ext uri="{BB962C8B-B14F-4D97-AF65-F5344CB8AC3E}">
        <p14:creationId xmlns:p14="http://schemas.microsoft.com/office/powerpoint/2010/main" val="206949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2BE89B15-A74A-8069-16B7-2DF6B089C4C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043B385-3E32-A311-7263-BE150730B424}"/>
              </a:ext>
            </a:extLst>
          </p:cNvPr>
          <p:cNvSpPr txBox="1"/>
          <p:nvPr/>
        </p:nvSpPr>
        <p:spPr>
          <a:xfrm>
            <a:off x="85724" y="0"/>
            <a:ext cx="12049449" cy="480131"/>
          </a:xfrm>
          <a:prstGeom prst="rect">
            <a:avLst/>
          </a:prstGeom>
          <a:noFill/>
        </p:spPr>
        <p:txBody>
          <a:bodyPr wrap="square">
            <a:spAutoFit/>
          </a:bodyPr>
          <a:lstStyle/>
          <a:p>
            <a:r>
              <a:rPr lang="en-US" sz="2800" b="1" dirty="0">
                <a:solidFill>
                  <a:schemeClr val="tx2"/>
                </a:solidFill>
              </a:rPr>
              <a:t>The Verifiable AI Accountability Matrix: Closing the Identity Gap – Stage 3</a:t>
            </a:r>
            <a:endParaRPr lang="en-US" sz="2800" b="1" dirty="0">
              <a:solidFill>
                <a:schemeClr val="tx2"/>
              </a:solidFill>
              <a:latin typeface="+mj-lt"/>
            </a:endParaRPr>
          </a:p>
        </p:txBody>
      </p:sp>
      <p:graphicFrame>
        <p:nvGraphicFramePr>
          <p:cNvPr id="2" name="Table 1">
            <a:extLst>
              <a:ext uri="{FF2B5EF4-FFF2-40B4-BE49-F238E27FC236}">
                <a16:creationId xmlns:a16="http://schemas.microsoft.com/office/drawing/2014/main" id="{9B3FE8C2-56D9-A869-BC0D-9865221DC63E}"/>
              </a:ext>
            </a:extLst>
          </p:cNvPr>
          <p:cNvGraphicFramePr>
            <a:graphicFrameLocks noGrp="1"/>
          </p:cNvGraphicFramePr>
          <p:nvPr>
            <p:extLst>
              <p:ext uri="{D42A27DB-BD31-4B8C-83A1-F6EECF244321}">
                <p14:modId xmlns:p14="http://schemas.microsoft.com/office/powerpoint/2010/main" val="4136179150"/>
              </p:ext>
            </p:extLst>
          </p:nvPr>
        </p:nvGraphicFramePr>
        <p:xfrm>
          <a:off x="468464" y="1016436"/>
          <a:ext cx="10972800" cy="3553098"/>
        </p:xfrm>
        <a:graphic>
          <a:graphicData uri="http://schemas.openxmlformats.org/drawingml/2006/table">
            <a:tbl>
              <a:tblPr/>
              <a:tblGrid>
                <a:gridCol w="2743200">
                  <a:extLst>
                    <a:ext uri="{9D8B030D-6E8A-4147-A177-3AD203B41FA5}">
                      <a16:colId xmlns:a16="http://schemas.microsoft.com/office/drawing/2014/main" val="852635940"/>
                    </a:ext>
                  </a:extLst>
                </a:gridCol>
                <a:gridCol w="2743200">
                  <a:extLst>
                    <a:ext uri="{9D8B030D-6E8A-4147-A177-3AD203B41FA5}">
                      <a16:colId xmlns:a16="http://schemas.microsoft.com/office/drawing/2014/main" val="2283125276"/>
                    </a:ext>
                  </a:extLst>
                </a:gridCol>
                <a:gridCol w="2743200">
                  <a:extLst>
                    <a:ext uri="{9D8B030D-6E8A-4147-A177-3AD203B41FA5}">
                      <a16:colId xmlns:a16="http://schemas.microsoft.com/office/drawing/2014/main" val="4031875505"/>
                    </a:ext>
                  </a:extLst>
                </a:gridCol>
                <a:gridCol w="2743200">
                  <a:extLst>
                    <a:ext uri="{9D8B030D-6E8A-4147-A177-3AD203B41FA5}">
                      <a16:colId xmlns:a16="http://schemas.microsoft.com/office/drawing/2014/main" val="2081210552"/>
                    </a:ext>
                  </a:extLst>
                </a:gridCol>
              </a:tblGrid>
              <a:tr h="0">
                <a:tc>
                  <a:txBody>
                    <a:bodyPr/>
                    <a:lstStyle/>
                    <a:p>
                      <a:pPr rtl="0">
                        <a:buNone/>
                      </a:pPr>
                      <a:r>
                        <a:rPr lang="en-US" b="1">
                          <a:solidFill>
                            <a:srgbClr val="1F1F1F"/>
                          </a:solidFill>
                          <a:effectLst/>
                          <a:latin typeface="Google Sans Text"/>
                        </a:rPr>
                        <a:t>Problem &amp; Category</a:t>
                      </a:r>
                      <a:endParaRPr lang="en-US">
                        <a:solidFill>
                          <a:srgbClr val="1F1F1F"/>
                        </a:solidFill>
                        <a:effectLst/>
                        <a:latin typeface="Google Sans Text"/>
                      </a:endParaRP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b="1">
                          <a:solidFill>
                            <a:srgbClr val="1F1F1F"/>
                          </a:solidFill>
                          <a:effectLst/>
                          <a:latin typeface="Google Sans Text"/>
                        </a:rPr>
                        <a:t>Risk Scenario (Loan Approval)</a:t>
                      </a:r>
                      <a:endParaRPr lang="en-US">
                        <a:solidFill>
                          <a:srgbClr val="1F1F1F"/>
                        </a:solidFill>
                        <a:effectLst/>
                        <a:latin typeface="Google Sans Text"/>
                      </a:endParaRP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b="1">
                          <a:solidFill>
                            <a:srgbClr val="1F1F1F"/>
                          </a:solidFill>
                          <a:effectLst/>
                          <a:latin typeface="Google Sans Text"/>
                        </a:rPr>
                        <a:t>Aegis "Bound ID" Prerequisite (Stage II) </a:t>
                      </a:r>
                      <a:endParaRPr lang="en-US">
                        <a:solidFill>
                          <a:srgbClr val="1F1F1F"/>
                        </a:solidFill>
                        <a:effectLst/>
                        <a:latin typeface="Google Sans Text"/>
                      </a:endParaRP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b="1">
                          <a:solidFill>
                            <a:srgbClr val="1F1F1F"/>
                          </a:solidFill>
                          <a:effectLst/>
                          <a:latin typeface="Google Sans Text"/>
                        </a:rPr>
                        <a:t>Stage III: Privacy-Preserving Layer (ZKP) </a:t>
                      </a:r>
                      <a:endParaRPr lang="en-US">
                        <a:solidFill>
                          <a:srgbClr val="1F1F1F"/>
                        </a:solidFill>
                        <a:effectLst/>
                        <a:latin typeface="Google Sans Text"/>
                      </a:endParaRP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483092629"/>
                  </a:ext>
                </a:extLst>
              </a:tr>
              <a:tr h="0">
                <a:tc>
                  <a:txBody>
                    <a:bodyPr/>
                    <a:lstStyle/>
                    <a:p>
                      <a:pPr rtl="0">
                        <a:buNone/>
                      </a:pPr>
                      <a:r>
                        <a:rPr lang="en-US">
                          <a:solidFill>
                            <a:srgbClr val="1F1F1F"/>
                          </a:solidFill>
                          <a:effectLst/>
                          <a:latin typeface="Google Sans Text"/>
                        </a:rPr>
                        <a:t>2. Model Risk (MRM) </a:t>
                      </a:r>
                      <a:r>
                        <a:rPr lang="en-US" i="1">
                          <a:solidFill>
                            <a:srgbClr val="1F1F1F"/>
                          </a:solidFill>
                          <a:effectLst/>
                          <a:latin typeface="Google Sans Text"/>
                        </a:rPr>
                        <a:t>(Compliance)</a:t>
                      </a:r>
                      <a:r>
                        <a:rPr lang="en-US">
                          <a:solidFill>
                            <a:srgbClr val="1F1F1F"/>
                          </a:solidFill>
                          <a:effectLst/>
                          <a:latin typeface="Google Sans Text"/>
                        </a:rPr>
                        <a:t> </a:t>
                      </a: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a:solidFill>
                            <a:srgbClr val="1F1F1F"/>
                          </a:solidFill>
                          <a:effectLst/>
                          <a:latin typeface="Google Sans Text"/>
                        </a:rPr>
                        <a:t>Hardware variance (A100 vs H100) causes decision drift and audit failure. </a:t>
                      </a: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b="1">
                          <a:solidFill>
                            <a:srgbClr val="1F1F1F"/>
                          </a:solidFill>
                          <a:effectLst/>
                          <a:latin typeface="Google Sans Text"/>
                        </a:rPr>
                        <a:t>Computational Determinism</a:t>
                      </a:r>
                      <a:r>
                        <a:rPr lang="en-US">
                          <a:solidFill>
                            <a:srgbClr val="1F1F1F"/>
                          </a:solidFill>
                          <a:effectLst/>
                          <a:latin typeface="Google Sans Text"/>
                        </a:rPr>
                        <a:t>: Binds the workload to the exact validated hardware profile. </a:t>
                      </a: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b="1">
                          <a:solidFill>
                            <a:srgbClr val="1F1F1F"/>
                          </a:solidFill>
                          <a:effectLst/>
                          <a:latin typeface="Google Sans Text"/>
                        </a:rPr>
                        <a:t>Proof of Correctness</a:t>
                      </a:r>
                      <a:r>
                        <a:rPr lang="en-US">
                          <a:solidFill>
                            <a:srgbClr val="1F1F1F"/>
                          </a:solidFill>
                          <a:effectLst/>
                          <a:latin typeface="Google Sans Text"/>
                        </a:rPr>
                        <a:t>: ZKP proves "Same Input = Output" on approved silicon without exposing weights or PII. </a:t>
                      </a: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741324781"/>
                  </a:ext>
                </a:extLst>
              </a:tr>
              <a:tr h="0">
                <a:tc>
                  <a:txBody>
                    <a:bodyPr/>
                    <a:lstStyle/>
                    <a:p>
                      <a:pPr rtl="0">
                        <a:buNone/>
                      </a:pPr>
                      <a:r>
                        <a:rPr lang="en-US">
                          <a:solidFill>
                            <a:srgbClr val="1F1F1F"/>
                          </a:solidFill>
                          <a:effectLst/>
                          <a:latin typeface="Google Sans Text"/>
                        </a:rPr>
                        <a:t>5. Data Sovereignty </a:t>
                      </a:r>
                      <a:r>
                        <a:rPr lang="en-US" i="1">
                          <a:solidFill>
                            <a:srgbClr val="1F1F1F"/>
                          </a:solidFill>
                          <a:effectLst/>
                          <a:latin typeface="Google Sans Text"/>
                        </a:rPr>
                        <a:t>(Privacy)</a:t>
                      </a:r>
                      <a:r>
                        <a:rPr lang="en-US">
                          <a:solidFill>
                            <a:srgbClr val="1F1F1F"/>
                          </a:solidFill>
                          <a:effectLst/>
                          <a:latin typeface="Google Sans Text"/>
                        </a:rPr>
                        <a:t> </a:t>
                      </a: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a:solidFill>
                            <a:srgbClr val="1F1F1F"/>
                          </a:solidFill>
                          <a:effectLst/>
                          <a:latin typeface="Google Sans Text"/>
                        </a:rPr>
                        <a:t>A foreign subpoena compels the bank to produce data, violating local laws. </a:t>
                      </a: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b="1">
                          <a:solidFill>
                            <a:srgbClr val="1F1F1F"/>
                          </a:solidFill>
                          <a:effectLst/>
                          <a:latin typeface="Google Sans Text"/>
                        </a:rPr>
                        <a:t>Key-to-HSM Binding</a:t>
                      </a:r>
                      <a:r>
                        <a:rPr lang="en-US">
                          <a:solidFill>
                            <a:srgbClr val="1F1F1F"/>
                          </a:solidFill>
                          <a:effectLst/>
                          <a:latin typeface="Google Sans Text"/>
                        </a:rPr>
                        <a:t>: Cryptographically locks decryption keys to the local sovereign silicon. </a:t>
                      </a: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rtl="0">
                        <a:buNone/>
                      </a:pPr>
                      <a:r>
                        <a:rPr lang="en-US" b="1" dirty="0">
                          <a:solidFill>
                            <a:srgbClr val="1F1F1F"/>
                          </a:solidFill>
                          <a:effectLst/>
                          <a:latin typeface="Google Sans Text"/>
                        </a:rPr>
                        <a:t>ZKP Logging</a:t>
                      </a:r>
                      <a:r>
                        <a:rPr lang="en-US" dirty="0">
                          <a:solidFill>
                            <a:srgbClr val="1F1F1F"/>
                          </a:solidFill>
                          <a:effectLst/>
                          <a:latin typeface="Google Sans Text"/>
                        </a:rPr>
                        <a:t>: Provides cryptographic evidence of compliance to auditors without logging raw customer PII. </a:t>
                      </a:r>
                    </a:p>
                  </a:txBody>
                  <a:tcPr marL="65314" marR="65314" marT="43543" marB="43543"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767459163"/>
                  </a:ext>
                </a:extLst>
              </a:tr>
            </a:tbl>
          </a:graphicData>
        </a:graphic>
      </p:graphicFrame>
    </p:spTree>
    <p:extLst>
      <p:ext uri="{BB962C8B-B14F-4D97-AF65-F5344CB8AC3E}">
        <p14:creationId xmlns:p14="http://schemas.microsoft.com/office/powerpoint/2010/main" val="1114259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9100-4FB4-9203-BFC1-D978888432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A982EC-7025-A144-30C7-C133C5F61B25}"/>
              </a:ext>
            </a:extLst>
          </p:cNvPr>
          <p:cNvSpPr txBox="1"/>
          <p:nvPr/>
        </p:nvSpPr>
        <p:spPr>
          <a:xfrm>
            <a:off x="147234" y="2022924"/>
            <a:ext cx="9895668" cy="1495281"/>
          </a:xfrm>
          <a:prstGeom prst="rect">
            <a:avLst/>
          </a:prstGeom>
          <a:noFill/>
        </p:spPr>
        <p:txBody>
          <a:bodyPr wrap="square">
            <a:spAutoFit/>
          </a:bodyPr>
          <a:lstStyle/>
          <a:p>
            <a:r>
              <a:rPr lang="en-US" sz="3200" b="1" dirty="0">
                <a:solidFill>
                  <a:schemeClr val="bg1">
                    <a:lumMod val="50000"/>
                  </a:schemeClr>
                </a:solidFill>
              </a:rPr>
              <a:t>Zero-Trust Sovereign AI: </a:t>
            </a:r>
            <a:br>
              <a:rPr lang="en-US" sz="3200" dirty="0"/>
            </a:br>
            <a:r>
              <a:rPr lang="en-US" b="1" dirty="0">
                <a:solidFill>
                  <a:schemeClr val="accent6">
                    <a:lumMod val="50000"/>
                  </a:schemeClr>
                </a:solidFill>
              </a:rPr>
              <a:t>Unified Identity</a:t>
            </a:r>
            <a:endParaRPr lang="en-US" sz="2400" b="1" dirty="0">
              <a:solidFill>
                <a:schemeClr val="accent6">
                  <a:lumMod val="50000"/>
                </a:schemeClr>
              </a:solidFill>
            </a:endParaRPr>
          </a:p>
          <a:p>
            <a:r>
              <a:rPr lang="en-US" b="1" dirty="0">
                <a:solidFill>
                  <a:schemeClr val="accent6">
                    <a:lumMod val="50000"/>
                  </a:schemeClr>
                </a:solidFill>
              </a:rPr>
              <a:t>Hybrid Cloud Use Case – Problem, Solution Summary and Demo</a:t>
            </a:r>
            <a:endParaRPr lang="en-US" dirty="0"/>
          </a:p>
        </p:txBody>
      </p:sp>
    </p:spTree>
    <p:extLst>
      <p:ext uri="{BB962C8B-B14F-4D97-AF65-F5344CB8AC3E}">
        <p14:creationId xmlns:p14="http://schemas.microsoft.com/office/powerpoint/2010/main" val="121854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EB43D-E25D-7611-8510-D231EB920D3E}"/>
            </a:ext>
          </a:extLst>
        </p:cNvPr>
        <p:cNvGrpSpPr/>
        <p:nvPr/>
      </p:nvGrpSpPr>
      <p:grpSpPr>
        <a:xfrm>
          <a:off x="0" y="0"/>
          <a:ext cx="0" cy="0"/>
          <a:chOff x="0" y="0"/>
          <a:chExt cx="0" cy="0"/>
        </a:xfrm>
      </p:grpSpPr>
      <p:sp>
        <p:nvSpPr>
          <p:cNvPr id="45" name="Google Shape;301;p13">
            <a:extLst>
              <a:ext uri="{FF2B5EF4-FFF2-40B4-BE49-F238E27FC236}">
                <a16:creationId xmlns:a16="http://schemas.microsoft.com/office/drawing/2014/main" id="{BBF6E137-233B-D41C-EC46-8E279AEC3612}"/>
              </a:ext>
            </a:extLst>
          </p:cNvPr>
          <p:cNvSpPr/>
          <p:nvPr/>
        </p:nvSpPr>
        <p:spPr>
          <a:xfrm>
            <a:off x="3982072" y="1335273"/>
            <a:ext cx="2187917" cy="2283239"/>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sp>
        <p:nvSpPr>
          <p:cNvPr id="43" name="Google Shape;299;p13">
            <a:extLst>
              <a:ext uri="{FF2B5EF4-FFF2-40B4-BE49-F238E27FC236}">
                <a16:creationId xmlns:a16="http://schemas.microsoft.com/office/drawing/2014/main" id="{B5A5F3BB-22FA-23FC-0E82-20A47A5810CE}"/>
              </a:ext>
            </a:extLst>
          </p:cNvPr>
          <p:cNvSpPr/>
          <p:nvPr/>
        </p:nvSpPr>
        <p:spPr>
          <a:xfrm>
            <a:off x="183185" y="1335273"/>
            <a:ext cx="1735979" cy="2264925"/>
          </a:xfrm>
          <a:prstGeom prst="rect">
            <a:avLst/>
          </a:prstGeom>
          <a:solidFill>
            <a:schemeClr val="accent3">
              <a:lumMod val="40000"/>
              <a:lumOff val="60000"/>
            </a:schemeClr>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b="1" noProof="0" dirty="0">
              <a:latin typeface="Play"/>
              <a:ea typeface="Play"/>
              <a:cs typeface="Play"/>
              <a:sym typeface="Play"/>
            </a:endParaRPr>
          </a:p>
        </p:txBody>
      </p:sp>
      <p:sp>
        <p:nvSpPr>
          <p:cNvPr id="5" name="Can 4">
            <a:extLst>
              <a:ext uri="{FF2B5EF4-FFF2-40B4-BE49-F238E27FC236}">
                <a16:creationId xmlns:a16="http://schemas.microsoft.com/office/drawing/2014/main" id="{31CB3152-58EB-5F68-AF06-6A34C79124B4}"/>
              </a:ext>
            </a:extLst>
          </p:cNvPr>
          <p:cNvSpPr/>
          <p:nvPr/>
        </p:nvSpPr>
        <p:spPr>
          <a:xfrm>
            <a:off x="11149768" y="1456972"/>
            <a:ext cx="592360" cy="1511956"/>
          </a:xfrm>
          <a:prstGeom prst="can">
            <a:avLst>
              <a:gd name="adj" fmla="val 4994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8" name="Content Placeholder 1">
            <a:extLst>
              <a:ext uri="{FF2B5EF4-FFF2-40B4-BE49-F238E27FC236}">
                <a16:creationId xmlns:a16="http://schemas.microsoft.com/office/drawing/2014/main" id="{E8FEAA7C-92E1-6422-CC74-EBE75866C922}"/>
              </a:ext>
            </a:extLst>
          </p:cNvPr>
          <p:cNvSpPr txBox="1">
            <a:spLocks/>
          </p:cNvSpPr>
          <p:nvPr/>
        </p:nvSpPr>
        <p:spPr>
          <a:xfrm>
            <a:off x="4055937" y="2640547"/>
            <a:ext cx="2006783" cy="61837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noProof="0" dirty="0">
                <a:solidFill>
                  <a:schemeClr val="accent1"/>
                </a:solidFill>
                <a:latin typeface="+mn-lt"/>
              </a:rPr>
              <a:t>Inference data, model decryption private key in memory</a:t>
            </a:r>
          </a:p>
          <a:p>
            <a:pPr marL="0" indent="0">
              <a:buNone/>
            </a:pPr>
            <a:endParaRPr lang="en-US" sz="2400" noProof="0" dirty="0">
              <a:solidFill>
                <a:schemeClr val="tx1">
                  <a:lumMod val="50000"/>
                </a:schemeClr>
              </a:solidFill>
              <a:latin typeface="+mn-lt"/>
            </a:endParaRPr>
          </a:p>
          <a:p>
            <a:pPr marL="457189" lvl="1" indent="0">
              <a:buNone/>
            </a:pPr>
            <a:endParaRPr lang="en-US" sz="2000" noProof="0" dirty="0">
              <a:solidFill>
                <a:srgbClr val="000000"/>
              </a:solidFill>
              <a:latin typeface="+mn-lt"/>
            </a:endParaRPr>
          </a:p>
        </p:txBody>
      </p:sp>
      <p:pic>
        <p:nvPicPr>
          <p:cNvPr id="1028" name="Picture 4" descr="Private key - Free security icons">
            <a:extLst>
              <a:ext uri="{FF2B5EF4-FFF2-40B4-BE49-F238E27FC236}">
                <a16:creationId xmlns:a16="http://schemas.microsoft.com/office/drawing/2014/main" id="{5B03678A-680F-3D39-B23E-4F3DFF4B12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7198" y="1823985"/>
            <a:ext cx="724760" cy="724760"/>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B6D38E2E-43C3-84E1-BDC7-C47AF448CBAC}"/>
              </a:ext>
            </a:extLst>
          </p:cNvPr>
          <p:cNvSpPr/>
          <p:nvPr/>
        </p:nvSpPr>
        <p:spPr>
          <a:xfrm>
            <a:off x="4055936" y="1397345"/>
            <a:ext cx="2040788" cy="1861573"/>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31" name="Content Placeholder 1">
            <a:extLst>
              <a:ext uri="{FF2B5EF4-FFF2-40B4-BE49-F238E27FC236}">
                <a16:creationId xmlns:a16="http://schemas.microsoft.com/office/drawing/2014/main" id="{CA0A3CB1-19C6-0A41-9E91-E4B236D729F9}"/>
              </a:ext>
            </a:extLst>
          </p:cNvPr>
          <p:cNvSpPr txBox="1">
            <a:spLocks/>
          </p:cNvSpPr>
          <p:nvPr/>
        </p:nvSpPr>
        <p:spPr>
          <a:xfrm>
            <a:off x="324464" y="907128"/>
            <a:ext cx="7261647" cy="32227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noProof="0" dirty="0">
              <a:solidFill>
                <a:schemeClr val="accent4"/>
              </a:solidFill>
              <a:latin typeface="+mn-lt"/>
            </a:endParaRPr>
          </a:p>
          <a:p>
            <a:endParaRPr lang="en-US" sz="2400" noProof="0" dirty="0">
              <a:solidFill>
                <a:schemeClr val="tx1">
                  <a:lumMod val="50000"/>
                </a:schemeClr>
              </a:solidFill>
              <a:latin typeface="+mn-lt"/>
            </a:endParaRPr>
          </a:p>
          <a:p>
            <a:pPr lvl="1"/>
            <a:endParaRPr lang="en-US" sz="2000" noProof="0" dirty="0">
              <a:solidFill>
                <a:schemeClr val="tx1">
                  <a:lumMod val="50000"/>
                </a:schemeClr>
              </a:solidFill>
              <a:latin typeface="+mn-lt"/>
            </a:endParaRPr>
          </a:p>
          <a:p>
            <a:pPr lvl="1"/>
            <a:endParaRPr lang="en-US" sz="2000" noProof="0" dirty="0">
              <a:solidFill>
                <a:srgbClr val="000000"/>
              </a:solidFill>
              <a:latin typeface="+mn-lt"/>
            </a:endParaRPr>
          </a:p>
          <a:p>
            <a:pPr marL="457189" lvl="1" indent="0">
              <a:buNone/>
            </a:pPr>
            <a:endParaRPr lang="en-US" sz="20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p:txBody>
      </p:sp>
      <p:sp>
        <p:nvSpPr>
          <p:cNvPr id="20" name="Content Placeholder 1">
            <a:extLst>
              <a:ext uri="{FF2B5EF4-FFF2-40B4-BE49-F238E27FC236}">
                <a16:creationId xmlns:a16="http://schemas.microsoft.com/office/drawing/2014/main" id="{18F245FE-1C07-E4AA-3B60-23D19CE3D0B3}"/>
              </a:ext>
            </a:extLst>
          </p:cNvPr>
          <p:cNvSpPr txBox="1">
            <a:spLocks/>
          </p:cNvSpPr>
          <p:nvPr/>
        </p:nvSpPr>
        <p:spPr>
          <a:xfrm>
            <a:off x="8777061" y="1382200"/>
            <a:ext cx="1380442" cy="7881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1800" b="1" noProof="0" dirty="0">
              <a:solidFill>
                <a:schemeClr val="accent1"/>
              </a:solidFill>
              <a:latin typeface="+mn-lt"/>
            </a:endParaRPr>
          </a:p>
          <a:p>
            <a:pPr marL="0" indent="0" algn="ctr">
              <a:buNone/>
            </a:pPr>
            <a:r>
              <a:rPr lang="en-US" sz="3200" b="1" noProof="0" dirty="0">
                <a:solidFill>
                  <a:schemeClr val="accent1"/>
                </a:solidFill>
                <a:latin typeface="+mn-lt"/>
              </a:rPr>
              <a:t>Key vault</a:t>
            </a:r>
          </a:p>
          <a:p>
            <a:pPr marL="0" indent="0">
              <a:buNone/>
            </a:pPr>
            <a:endParaRPr lang="en-US" sz="2400" noProof="0" dirty="0">
              <a:solidFill>
                <a:schemeClr val="tx1">
                  <a:lumMod val="50000"/>
                </a:schemeClr>
              </a:solidFill>
              <a:latin typeface="+mn-lt"/>
            </a:endParaRPr>
          </a:p>
          <a:p>
            <a:pPr marL="457189" lvl="1" indent="0">
              <a:buNone/>
            </a:pPr>
            <a:endParaRPr lang="en-US" sz="2000" noProof="0" dirty="0">
              <a:solidFill>
                <a:srgbClr val="000000"/>
              </a:solidFill>
              <a:latin typeface="+mn-lt"/>
            </a:endParaRPr>
          </a:p>
          <a:p>
            <a:pPr marL="457189" lvl="1" indent="0">
              <a:buNone/>
            </a:pPr>
            <a:endParaRPr lang="en-US" sz="20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p:txBody>
      </p:sp>
      <p:sp>
        <p:nvSpPr>
          <p:cNvPr id="22" name="Rectangle 21">
            <a:extLst>
              <a:ext uri="{FF2B5EF4-FFF2-40B4-BE49-F238E27FC236}">
                <a16:creationId xmlns:a16="http://schemas.microsoft.com/office/drawing/2014/main" id="{291EB20F-4E5D-F293-EBA3-E40C777FBA48}"/>
              </a:ext>
            </a:extLst>
          </p:cNvPr>
          <p:cNvSpPr/>
          <p:nvPr/>
        </p:nvSpPr>
        <p:spPr>
          <a:xfrm>
            <a:off x="8789779" y="1391720"/>
            <a:ext cx="1384725" cy="694469"/>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grpSp>
        <p:nvGrpSpPr>
          <p:cNvPr id="44" name="Group 43">
            <a:extLst>
              <a:ext uri="{FF2B5EF4-FFF2-40B4-BE49-F238E27FC236}">
                <a16:creationId xmlns:a16="http://schemas.microsoft.com/office/drawing/2014/main" id="{40FEB660-2625-AA93-57EF-4908D44D10C2}"/>
              </a:ext>
            </a:extLst>
          </p:cNvPr>
          <p:cNvGrpSpPr/>
          <p:nvPr/>
        </p:nvGrpSpPr>
        <p:grpSpPr>
          <a:xfrm>
            <a:off x="8760060" y="2123899"/>
            <a:ext cx="1414448" cy="660156"/>
            <a:chOff x="5703725" y="4021545"/>
            <a:chExt cx="2113527" cy="660156"/>
          </a:xfrm>
        </p:grpSpPr>
        <p:sp>
          <p:nvSpPr>
            <p:cNvPr id="39" name="Rounded Rectangle 38">
              <a:extLst>
                <a:ext uri="{FF2B5EF4-FFF2-40B4-BE49-F238E27FC236}">
                  <a16:creationId xmlns:a16="http://schemas.microsoft.com/office/drawing/2014/main" id="{C9EE1A1F-53D9-33F8-0F6C-C593DA9D5FB5}"/>
                </a:ext>
              </a:extLst>
            </p:cNvPr>
            <p:cNvSpPr/>
            <p:nvPr/>
          </p:nvSpPr>
          <p:spPr>
            <a:xfrm>
              <a:off x="5760688" y="4021545"/>
              <a:ext cx="2056564" cy="655411"/>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41" name="TextBox 40">
              <a:extLst>
                <a:ext uri="{FF2B5EF4-FFF2-40B4-BE49-F238E27FC236}">
                  <a16:creationId xmlns:a16="http://schemas.microsoft.com/office/drawing/2014/main" id="{EF78FCFD-603F-8E2B-F532-738CA3E1E6A4}"/>
                </a:ext>
              </a:extLst>
            </p:cNvPr>
            <p:cNvSpPr txBox="1"/>
            <p:nvPr/>
          </p:nvSpPr>
          <p:spPr>
            <a:xfrm>
              <a:off x="6348054" y="4065408"/>
              <a:ext cx="1290242" cy="342658"/>
            </a:xfrm>
            <a:prstGeom prst="rect">
              <a:avLst/>
            </a:prstGeom>
            <a:noFill/>
          </p:spPr>
          <p:txBody>
            <a:bodyPr wrap="square" rtlCol="0">
              <a:spAutoFit/>
            </a:bodyPr>
            <a:lstStyle/>
            <a:p>
              <a:pPr algn="ctr"/>
              <a:r>
                <a:rPr lang="en-US" sz="1800" b="1" noProof="0" dirty="0"/>
                <a:t>HSM</a:t>
              </a:r>
              <a:endParaRPr lang="en-US" sz="1200" i="1" noProof="0" dirty="0"/>
            </a:p>
          </p:txBody>
        </p:sp>
        <p:pic>
          <p:nvPicPr>
            <p:cNvPr id="42" name="Picture 4" descr="Private key - Free security icons">
              <a:extLst>
                <a:ext uri="{FF2B5EF4-FFF2-40B4-BE49-F238E27FC236}">
                  <a16:creationId xmlns:a16="http://schemas.microsoft.com/office/drawing/2014/main" id="{6B07CFF5-7EC0-95DA-00AD-588CB298F41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03725" y="4034287"/>
              <a:ext cx="834232" cy="64741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7" name="Straight Connector 46">
            <a:extLst>
              <a:ext uri="{FF2B5EF4-FFF2-40B4-BE49-F238E27FC236}">
                <a16:creationId xmlns:a16="http://schemas.microsoft.com/office/drawing/2014/main" id="{C65115A2-DD60-9E81-6F02-5B83962E39B6}"/>
              </a:ext>
            </a:extLst>
          </p:cNvPr>
          <p:cNvCxnSpPr>
            <a:cxnSpLocks/>
          </p:cNvCxnSpPr>
          <p:nvPr/>
        </p:nvCxnSpPr>
        <p:spPr>
          <a:xfrm>
            <a:off x="2013421" y="1163281"/>
            <a:ext cx="0" cy="2423297"/>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51B1C289-7BBF-CD27-248C-0B8BC0FB068D}"/>
              </a:ext>
            </a:extLst>
          </p:cNvPr>
          <p:cNvCxnSpPr>
            <a:cxnSpLocks/>
            <a:endCxn id="5" idx="3"/>
          </p:cNvCxnSpPr>
          <p:nvPr/>
        </p:nvCxnSpPr>
        <p:spPr>
          <a:xfrm flipV="1">
            <a:off x="6080673" y="2968928"/>
            <a:ext cx="5365275" cy="185702"/>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grpSp>
        <p:nvGrpSpPr>
          <p:cNvPr id="34" name="Groupe 33">
            <a:extLst>
              <a:ext uri="{FF2B5EF4-FFF2-40B4-BE49-F238E27FC236}">
                <a16:creationId xmlns:a16="http://schemas.microsoft.com/office/drawing/2014/main" id="{9A884308-BBA8-58EF-0DCD-0DB89BEB224B}"/>
              </a:ext>
            </a:extLst>
          </p:cNvPr>
          <p:cNvGrpSpPr/>
          <p:nvPr/>
        </p:nvGrpSpPr>
        <p:grpSpPr>
          <a:xfrm>
            <a:off x="10694518" y="1407295"/>
            <a:ext cx="1328889" cy="1206304"/>
            <a:chOff x="7868489" y="1281508"/>
            <a:chExt cx="996667" cy="904728"/>
          </a:xfrm>
        </p:grpSpPr>
        <p:pic>
          <p:nvPicPr>
            <p:cNvPr id="7" name="Picture 2" descr="Free vector robotic artificial intelligence technology smart lerning from bigdata">
              <a:extLst>
                <a:ext uri="{FF2B5EF4-FFF2-40B4-BE49-F238E27FC236}">
                  <a16:creationId xmlns:a16="http://schemas.microsoft.com/office/drawing/2014/main" id="{F7230905-9322-D8B5-A7E0-4634279DE0F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95820" y="1491878"/>
              <a:ext cx="869336" cy="694358"/>
            </a:xfrm>
            <a:prstGeom prst="rect">
              <a:avLst/>
            </a:prstGeom>
            <a:noFill/>
            <a:extLst>
              <a:ext uri="{909E8E84-426E-40DD-AFC4-6F175D3DCCD1}">
                <a14:hiddenFill xmlns:a14="http://schemas.microsoft.com/office/drawing/2010/main">
                  <a:solidFill>
                    <a:srgbClr val="FFFFFF"/>
                  </a:solidFill>
                </a14:hiddenFill>
              </a:ext>
            </a:extLst>
          </p:spPr>
        </p:pic>
        <p:pic>
          <p:nvPicPr>
            <p:cNvPr id="33" name="Graphique 32" descr="Verrou avec un remplissage uni">
              <a:extLst>
                <a:ext uri="{FF2B5EF4-FFF2-40B4-BE49-F238E27FC236}">
                  <a16:creationId xmlns:a16="http://schemas.microsoft.com/office/drawing/2014/main" id="{2810E8EE-F54F-D274-5164-05DC397B04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68489" y="1281508"/>
              <a:ext cx="280165" cy="280165"/>
            </a:xfrm>
            <a:prstGeom prst="rect">
              <a:avLst/>
            </a:prstGeom>
          </p:spPr>
        </p:pic>
      </p:grpSp>
      <p:sp>
        <p:nvSpPr>
          <p:cNvPr id="29" name="Content Placeholder 1">
            <a:extLst>
              <a:ext uri="{FF2B5EF4-FFF2-40B4-BE49-F238E27FC236}">
                <a16:creationId xmlns:a16="http://schemas.microsoft.com/office/drawing/2014/main" id="{1650A421-3F32-8E54-9D69-4725235236E0}"/>
              </a:ext>
            </a:extLst>
          </p:cNvPr>
          <p:cNvSpPr txBox="1">
            <a:spLocks/>
          </p:cNvSpPr>
          <p:nvPr/>
        </p:nvSpPr>
        <p:spPr>
          <a:xfrm>
            <a:off x="10421456" y="424850"/>
            <a:ext cx="1752932" cy="10391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600" b="1" noProof="0" dirty="0">
                <a:solidFill>
                  <a:schemeClr val="accent6">
                    <a:lumMod val="75000"/>
                  </a:schemeClr>
                </a:solidFill>
                <a:latin typeface="+mn-lt"/>
              </a:rPr>
              <a:t>Encrypted </a:t>
            </a:r>
          </a:p>
          <a:p>
            <a:pPr marL="0" indent="0" algn="ctr">
              <a:spcBef>
                <a:spcPts val="0"/>
              </a:spcBef>
              <a:buNone/>
            </a:pPr>
            <a:r>
              <a:rPr lang="en-US" sz="1600" b="1" noProof="0" dirty="0">
                <a:solidFill>
                  <a:schemeClr val="accent6">
                    <a:lumMod val="75000"/>
                  </a:schemeClr>
                </a:solidFill>
                <a:latin typeface="+mn-lt"/>
              </a:rPr>
              <a:t>Model </a:t>
            </a:r>
          </a:p>
          <a:p>
            <a:pPr marL="0" indent="0" algn="ctr">
              <a:spcBef>
                <a:spcPts val="0"/>
              </a:spcBef>
              <a:buNone/>
            </a:pPr>
            <a:r>
              <a:rPr lang="en-US" sz="1600" b="1" noProof="0" dirty="0">
                <a:solidFill>
                  <a:schemeClr val="accent6">
                    <a:lumMod val="75000"/>
                  </a:schemeClr>
                </a:solidFill>
                <a:latin typeface="+mn-lt"/>
              </a:rPr>
              <a:t>Storage (e.g.,                  Hosted in Cloud)</a:t>
            </a:r>
            <a:endParaRPr lang="en-US" sz="1600" noProof="0" dirty="0">
              <a:solidFill>
                <a:schemeClr val="accent6">
                  <a:lumMod val="75000"/>
                </a:schemeClr>
              </a:solidFill>
              <a:latin typeface="+mn-lt"/>
            </a:endParaRPr>
          </a:p>
          <a:p>
            <a:pPr marL="457189" lvl="1" indent="0">
              <a:buNone/>
            </a:pPr>
            <a:endParaRPr lang="en-US" sz="20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p:txBody>
      </p:sp>
      <p:sp>
        <p:nvSpPr>
          <p:cNvPr id="32" name="Content Placeholder 1">
            <a:extLst>
              <a:ext uri="{FF2B5EF4-FFF2-40B4-BE49-F238E27FC236}">
                <a16:creationId xmlns:a16="http://schemas.microsoft.com/office/drawing/2014/main" id="{F7678C0D-217D-F557-7B3E-419D00BEF2D0}"/>
              </a:ext>
            </a:extLst>
          </p:cNvPr>
          <p:cNvSpPr txBox="1">
            <a:spLocks/>
          </p:cNvSpPr>
          <p:nvPr/>
        </p:nvSpPr>
        <p:spPr>
          <a:xfrm>
            <a:off x="2277376" y="631200"/>
            <a:ext cx="3877222" cy="6428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600" b="1" noProof="0" dirty="0">
                <a:solidFill>
                  <a:schemeClr val="accent6">
                    <a:lumMod val="75000"/>
                  </a:schemeClr>
                </a:solidFill>
                <a:latin typeface="+mn-lt"/>
              </a:rPr>
              <a:t>Bank Inference </a:t>
            </a:r>
            <a:r>
              <a:rPr lang="en-US" sz="1600" b="1" dirty="0">
                <a:solidFill>
                  <a:schemeClr val="accent6">
                    <a:lumMod val="75000"/>
                  </a:schemeClr>
                </a:solidFill>
                <a:latin typeface="+mn-lt"/>
              </a:rPr>
              <a:t>application</a:t>
            </a:r>
          </a:p>
          <a:p>
            <a:pPr marL="0" indent="0" algn="ctr">
              <a:spcBef>
                <a:spcPts val="0"/>
              </a:spcBef>
              <a:buNone/>
            </a:pPr>
            <a:r>
              <a:rPr lang="en-US" sz="1600" dirty="0">
                <a:solidFill>
                  <a:schemeClr val="accent6">
                    <a:lumMod val="75000"/>
                  </a:schemeClr>
                </a:solidFill>
                <a:latin typeface="+mn-lt"/>
              </a:rPr>
              <a:t>(e.g., Hosted in </a:t>
            </a:r>
            <a:r>
              <a:rPr lang="en-US" sz="1600" b="1" dirty="0">
                <a:solidFill>
                  <a:schemeClr val="accent6">
                    <a:lumMod val="75000"/>
                  </a:schemeClr>
                </a:solidFill>
                <a:latin typeface="+mn-lt"/>
              </a:rPr>
              <a:t>S</a:t>
            </a:r>
            <a:r>
              <a:rPr lang="en-US" sz="1600" b="1" dirty="0">
                <a:solidFill>
                  <a:schemeClr val="accent6">
                    <a:lumMod val="75000"/>
                  </a:schemeClr>
                </a:solidFill>
              </a:rPr>
              <a:t>overeign Public/Edge Cloud </a:t>
            </a:r>
            <a:r>
              <a:rPr lang="en-US" sz="1600" b="1" noProof="0" dirty="0">
                <a:solidFill>
                  <a:schemeClr val="accent6">
                    <a:lumMod val="75000"/>
                  </a:schemeClr>
                </a:solidFill>
                <a:latin typeface="+mn-lt"/>
              </a:rPr>
              <a:t>in Spain</a:t>
            </a:r>
            <a:r>
              <a:rPr lang="en-US" sz="1600" noProof="0" dirty="0">
                <a:solidFill>
                  <a:schemeClr val="accent6">
                    <a:lumMod val="75000"/>
                  </a:schemeClr>
                </a:solidFill>
                <a:latin typeface="+mn-lt"/>
              </a:rPr>
              <a:t>)</a:t>
            </a:r>
          </a:p>
        </p:txBody>
      </p:sp>
      <p:sp>
        <p:nvSpPr>
          <p:cNvPr id="35" name="Content Placeholder 1">
            <a:extLst>
              <a:ext uri="{FF2B5EF4-FFF2-40B4-BE49-F238E27FC236}">
                <a16:creationId xmlns:a16="http://schemas.microsoft.com/office/drawing/2014/main" id="{8C8A2792-771B-F4C6-7F7E-FC069CAFF765}"/>
              </a:ext>
            </a:extLst>
          </p:cNvPr>
          <p:cNvSpPr txBox="1">
            <a:spLocks/>
          </p:cNvSpPr>
          <p:nvPr/>
        </p:nvSpPr>
        <p:spPr>
          <a:xfrm>
            <a:off x="6260440" y="713633"/>
            <a:ext cx="4210976" cy="661262"/>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300" b="1" noProof="0" dirty="0">
                <a:solidFill>
                  <a:schemeClr val="accent6">
                    <a:lumMod val="75000"/>
                  </a:schemeClr>
                </a:solidFill>
                <a:latin typeface="+mn-lt"/>
              </a:rPr>
              <a:t>	Customer-managed </a:t>
            </a:r>
            <a:r>
              <a:rPr lang="en-US" sz="2300" b="1" dirty="0">
                <a:solidFill>
                  <a:schemeClr val="accent6">
                    <a:lumMod val="75000"/>
                  </a:schemeClr>
                </a:solidFill>
                <a:latin typeface="+mn-lt"/>
              </a:rPr>
              <a:t>secrets</a:t>
            </a:r>
            <a:r>
              <a:rPr lang="en-US" sz="2300" b="1" noProof="0" dirty="0">
                <a:solidFill>
                  <a:schemeClr val="accent6">
                    <a:lumMod val="75000"/>
                  </a:schemeClr>
                </a:solidFill>
                <a:latin typeface="+mn-lt"/>
              </a:rPr>
              <a:t>          </a:t>
            </a:r>
            <a:r>
              <a:rPr lang="en-US" sz="2300" noProof="0" dirty="0">
                <a:solidFill>
                  <a:schemeClr val="accent6">
                    <a:lumMod val="75000"/>
                  </a:schemeClr>
                </a:solidFill>
                <a:latin typeface="+mn-lt"/>
              </a:rPr>
              <a:t>(e.g., Hosted in Bank </a:t>
            </a:r>
            <a:r>
              <a:rPr lang="en-US" sz="2300" b="1" noProof="0" dirty="0">
                <a:solidFill>
                  <a:schemeClr val="accent6">
                    <a:lumMod val="75000"/>
                  </a:schemeClr>
                </a:solidFill>
                <a:latin typeface="+mn-lt"/>
              </a:rPr>
              <a:t>On-prem Private Cloud in Spain</a:t>
            </a:r>
            <a:r>
              <a:rPr lang="en-US" sz="2300" noProof="0" dirty="0">
                <a:solidFill>
                  <a:schemeClr val="accent6">
                    <a:lumMod val="75000"/>
                  </a:schemeClr>
                </a:solidFill>
                <a:latin typeface="+mn-lt"/>
              </a:rPr>
              <a:t>)</a:t>
            </a:r>
            <a:endParaRPr lang="en-US" sz="23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p:txBody>
      </p:sp>
      <p:sp>
        <p:nvSpPr>
          <p:cNvPr id="36" name="Content Placeholder 1">
            <a:extLst>
              <a:ext uri="{FF2B5EF4-FFF2-40B4-BE49-F238E27FC236}">
                <a16:creationId xmlns:a16="http://schemas.microsoft.com/office/drawing/2014/main" id="{D551F806-8916-12CA-0481-BE24A5058DD5}"/>
              </a:ext>
            </a:extLst>
          </p:cNvPr>
          <p:cNvSpPr txBox="1">
            <a:spLocks/>
          </p:cNvSpPr>
          <p:nvPr/>
        </p:nvSpPr>
        <p:spPr>
          <a:xfrm>
            <a:off x="207723" y="868328"/>
            <a:ext cx="1612689" cy="4401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noProof="0" dirty="0">
                <a:solidFill>
                  <a:schemeClr val="accent6">
                    <a:lumMod val="75000"/>
                  </a:schemeClr>
                </a:solidFill>
                <a:latin typeface="+mn-lt"/>
              </a:rPr>
              <a:t>End user</a:t>
            </a:r>
            <a:endParaRPr lang="en-US" sz="2200" u="sng" noProof="0" dirty="0">
              <a:solidFill>
                <a:schemeClr val="tx1"/>
              </a:solidFill>
              <a:latin typeface="+mn-lt"/>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p:txBody>
      </p:sp>
      <p:cxnSp>
        <p:nvCxnSpPr>
          <p:cNvPr id="6" name="Straight Arrow Connector 5">
            <a:extLst>
              <a:ext uri="{FF2B5EF4-FFF2-40B4-BE49-F238E27FC236}">
                <a16:creationId xmlns:a16="http://schemas.microsoft.com/office/drawing/2014/main" id="{235FB60B-116B-25D9-B9E4-5D3A7DD69DB3}"/>
              </a:ext>
            </a:extLst>
          </p:cNvPr>
          <p:cNvCxnSpPr/>
          <p:nvPr/>
        </p:nvCxnSpPr>
        <p:spPr>
          <a:xfrm>
            <a:off x="1890067" y="1806974"/>
            <a:ext cx="1109341"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2" descr="Free vector robotic artificial intelligence technology smart lerning from bigdata">
            <a:extLst>
              <a:ext uri="{FF2B5EF4-FFF2-40B4-BE49-F238E27FC236}">
                <a16:creationId xmlns:a16="http://schemas.microsoft.com/office/drawing/2014/main" id="{C723A428-CDEA-D451-8EAC-516C9BB6F348}"/>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397290" y="1790989"/>
            <a:ext cx="1029907" cy="8226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22E7BF64-D05E-A04A-3066-9F2666AFE065}"/>
              </a:ext>
            </a:extLst>
          </p:cNvPr>
          <p:cNvCxnSpPr>
            <a:cxnSpLocks/>
          </p:cNvCxnSpPr>
          <p:nvPr/>
        </p:nvCxnSpPr>
        <p:spPr>
          <a:xfrm>
            <a:off x="8404146" y="1806269"/>
            <a:ext cx="3848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DC8ADDB-A975-9CD5-8987-9873411959B7}"/>
              </a:ext>
            </a:extLst>
          </p:cNvPr>
          <p:cNvCxnSpPr>
            <a:cxnSpLocks/>
          </p:cNvCxnSpPr>
          <p:nvPr/>
        </p:nvCxnSpPr>
        <p:spPr>
          <a:xfrm>
            <a:off x="6275832" y="940977"/>
            <a:ext cx="0" cy="2665627"/>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ZoneTexte 26">
            <a:extLst>
              <a:ext uri="{FF2B5EF4-FFF2-40B4-BE49-F238E27FC236}">
                <a16:creationId xmlns:a16="http://schemas.microsoft.com/office/drawing/2014/main" id="{AE28C356-C91F-4BE4-BE1B-664B73EE6981}"/>
              </a:ext>
            </a:extLst>
          </p:cNvPr>
          <p:cNvSpPr txBox="1"/>
          <p:nvPr/>
        </p:nvSpPr>
        <p:spPr>
          <a:xfrm>
            <a:off x="6433059" y="1562633"/>
            <a:ext cx="1035364" cy="830740"/>
          </a:xfrm>
          <a:prstGeom prst="rect">
            <a:avLst/>
          </a:prstGeom>
          <a:noFill/>
        </p:spPr>
        <p:txBody>
          <a:bodyPr wrap="square" rtlCol="0">
            <a:spAutoFit/>
          </a:bodyPr>
          <a:lstStyle/>
          <a:p>
            <a:pPr algn="ctr"/>
            <a:r>
              <a:rPr lang="en-US" sz="1333" noProof="0" dirty="0">
                <a:solidFill>
                  <a:schemeClr val="accent1"/>
                </a:solidFill>
              </a:rPr>
              <a:t>(1) Get secrets from key vault</a:t>
            </a:r>
          </a:p>
        </p:txBody>
      </p:sp>
      <p:sp>
        <p:nvSpPr>
          <p:cNvPr id="48" name="ZoneTexte 26">
            <a:extLst>
              <a:ext uri="{FF2B5EF4-FFF2-40B4-BE49-F238E27FC236}">
                <a16:creationId xmlns:a16="http://schemas.microsoft.com/office/drawing/2014/main" id="{4471CDFF-3D68-BBD2-E5DC-9ACCA7761A20}"/>
              </a:ext>
            </a:extLst>
          </p:cNvPr>
          <p:cNvSpPr txBox="1"/>
          <p:nvPr/>
        </p:nvSpPr>
        <p:spPr>
          <a:xfrm>
            <a:off x="8668534" y="2927099"/>
            <a:ext cx="1767615" cy="941091"/>
          </a:xfrm>
          <a:prstGeom prst="rect">
            <a:avLst/>
          </a:prstGeom>
          <a:noFill/>
        </p:spPr>
        <p:txBody>
          <a:bodyPr wrap="square" rtlCol="0">
            <a:spAutoFit/>
          </a:bodyPr>
          <a:lstStyle/>
          <a:p>
            <a:pPr algn="ctr"/>
            <a:r>
              <a:rPr lang="en-US" sz="1333" noProof="0" dirty="0">
                <a:solidFill>
                  <a:schemeClr val="accent1"/>
                </a:solidFill>
              </a:rPr>
              <a:t>(2) Get encrypted model from storage</a:t>
            </a:r>
          </a:p>
          <a:p>
            <a:pPr algn="ctr"/>
            <a:endParaRPr lang="en-US" sz="1333" noProof="0" dirty="0">
              <a:solidFill>
                <a:schemeClr val="accent1"/>
              </a:solidFill>
            </a:endParaRPr>
          </a:p>
        </p:txBody>
      </p:sp>
      <p:sp>
        <p:nvSpPr>
          <p:cNvPr id="11" name="Title 2">
            <a:extLst>
              <a:ext uri="{FF2B5EF4-FFF2-40B4-BE49-F238E27FC236}">
                <a16:creationId xmlns:a16="http://schemas.microsoft.com/office/drawing/2014/main" id="{49482809-1A88-AB30-A7AF-421CE71F1D00}"/>
              </a:ext>
            </a:extLst>
          </p:cNvPr>
          <p:cNvSpPr txBox="1">
            <a:spLocks/>
          </p:cNvSpPr>
          <p:nvPr/>
        </p:nvSpPr>
        <p:spPr>
          <a:xfrm>
            <a:off x="3323" y="41945"/>
            <a:ext cx="12171065" cy="46459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2800" kern="1200" dirty="0">
                <a:solidFill>
                  <a:schemeClr val="tx2"/>
                </a:solidFill>
                <a:latin typeface="IntelOne Display Medium" panose="020B0703020203020204" pitchFamily="34" charset="0"/>
                <a:ea typeface="+mj-ea"/>
                <a:cs typeface="+mj-cs"/>
              </a:defRPr>
            </a:lvl1pPr>
          </a:lstStyle>
          <a:p>
            <a:r>
              <a:rPr lang="en-US" b="1" dirty="0">
                <a:solidFill>
                  <a:srgbClr val="C00000"/>
                </a:solidFill>
              </a:rPr>
              <a:t>The Problem: A Fragile and Non-Verifiable Security Model</a:t>
            </a:r>
            <a:endParaRPr lang="en-US" b="1" noProof="0" dirty="0">
              <a:solidFill>
                <a:srgbClr val="C00000"/>
              </a:solidFill>
              <a:latin typeface="IntelOne Display Regular" panose="020B0503020203020204" pitchFamily="34" charset="77"/>
            </a:endParaRPr>
          </a:p>
        </p:txBody>
      </p:sp>
      <p:sp>
        <p:nvSpPr>
          <p:cNvPr id="3" name="ZoneTexte 26">
            <a:extLst>
              <a:ext uri="{FF2B5EF4-FFF2-40B4-BE49-F238E27FC236}">
                <a16:creationId xmlns:a16="http://schemas.microsoft.com/office/drawing/2014/main" id="{C3B3FBAF-6AED-70D3-05E1-7D6640F7BD60}"/>
              </a:ext>
            </a:extLst>
          </p:cNvPr>
          <p:cNvSpPr txBox="1"/>
          <p:nvPr/>
        </p:nvSpPr>
        <p:spPr>
          <a:xfrm>
            <a:off x="1912216" y="1989750"/>
            <a:ext cx="1131250" cy="424732"/>
          </a:xfrm>
          <a:prstGeom prst="rect">
            <a:avLst/>
          </a:prstGeom>
          <a:noFill/>
        </p:spPr>
        <p:txBody>
          <a:bodyPr wrap="square" rtlCol="0">
            <a:spAutoFit/>
          </a:bodyPr>
          <a:lstStyle/>
          <a:p>
            <a:pPr algn="ctr"/>
            <a:r>
              <a:rPr lang="en-US" sz="1200" noProof="0" dirty="0">
                <a:solidFill>
                  <a:srgbClr val="C00000"/>
                </a:solidFill>
              </a:rPr>
              <a:t>(Bearer token, Source IP</a:t>
            </a:r>
            <a:r>
              <a:rPr lang="en-US" sz="1200" dirty="0">
                <a:solidFill>
                  <a:srgbClr val="C00000"/>
                </a:solidFill>
              </a:rPr>
              <a:t>)</a:t>
            </a:r>
            <a:endParaRPr lang="en-US" sz="1200" noProof="0" dirty="0">
              <a:solidFill>
                <a:srgbClr val="C00000"/>
              </a:solidFill>
            </a:endParaRPr>
          </a:p>
        </p:txBody>
      </p:sp>
      <p:sp>
        <p:nvSpPr>
          <p:cNvPr id="14" name="ZoneTexte 26">
            <a:extLst>
              <a:ext uri="{FF2B5EF4-FFF2-40B4-BE49-F238E27FC236}">
                <a16:creationId xmlns:a16="http://schemas.microsoft.com/office/drawing/2014/main" id="{1662A4CF-AF71-891E-AFC7-A313A5AA8D56}"/>
              </a:ext>
            </a:extLst>
          </p:cNvPr>
          <p:cNvSpPr txBox="1"/>
          <p:nvPr/>
        </p:nvSpPr>
        <p:spPr>
          <a:xfrm>
            <a:off x="8884778" y="3352439"/>
            <a:ext cx="1383946" cy="424732"/>
          </a:xfrm>
          <a:prstGeom prst="rect">
            <a:avLst/>
          </a:prstGeom>
          <a:noFill/>
        </p:spPr>
        <p:txBody>
          <a:bodyPr wrap="square" rtlCol="0">
            <a:spAutoFit/>
          </a:bodyPr>
          <a:lstStyle/>
          <a:p>
            <a:pPr algn="ctr"/>
            <a:r>
              <a:rPr lang="en-US" sz="1200" noProof="0" dirty="0">
                <a:solidFill>
                  <a:srgbClr val="C00000"/>
                </a:solidFill>
              </a:rPr>
              <a:t>(Bearer/Proof of possession token</a:t>
            </a:r>
            <a:r>
              <a:rPr lang="en-US" sz="1200" dirty="0">
                <a:solidFill>
                  <a:srgbClr val="C00000"/>
                </a:solidFill>
              </a:rPr>
              <a:t>)</a:t>
            </a:r>
            <a:endParaRPr lang="en-US" sz="1200" noProof="0" dirty="0">
              <a:solidFill>
                <a:srgbClr val="C00000"/>
              </a:solidFill>
            </a:endParaRPr>
          </a:p>
        </p:txBody>
      </p:sp>
      <p:sp>
        <p:nvSpPr>
          <p:cNvPr id="15" name="ZoneTexte 26">
            <a:extLst>
              <a:ext uri="{FF2B5EF4-FFF2-40B4-BE49-F238E27FC236}">
                <a16:creationId xmlns:a16="http://schemas.microsoft.com/office/drawing/2014/main" id="{E1BAD6FD-6F83-1F93-F26E-02C60F293CCB}"/>
              </a:ext>
            </a:extLst>
          </p:cNvPr>
          <p:cNvSpPr txBox="1"/>
          <p:nvPr/>
        </p:nvSpPr>
        <p:spPr>
          <a:xfrm>
            <a:off x="6330509" y="2295268"/>
            <a:ext cx="1383946" cy="590931"/>
          </a:xfrm>
          <a:prstGeom prst="rect">
            <a:avLst/>
          </a:prstGeom>
          <a:noFill/>
        </p:spPr>
        <p:txBody>
          <a:bodyPr wrap="square" rtlCol="0">
            <a:spAutoFit/>
          </a:bodyPr>
          <a:lstStyle/>
          <a:p>
            <a:pPr algn="ctr"/>
            <a:r>
              <a:rPr lang="en-US" sz="1200" noProof="0" dirty="0">
                <a:solidFill>
                  <a:srgbClr val="C00000"/>
                </a:solidFill>
              </a:rPr>
              <a:t>(Bearer/Proof of possession token, Source IP)</a:t>
            </a:r>
          </a:p>
        </p:txBody>
      </p:sp>
      <p:cxnSp>
        <p:nvCxnSpPr>
          <p:cNvPr id="19" name="Straight Arrow Connector 18">
            <a:extLst>
              <a:ext uri="{FF2B5EF4-FFF2-40B4-BE49-F238E27FC236}">
                <a16:creationId xmlns:a16="http://schemas.microsoft.com/office/drawing/2014/main" id="{DA9F075D-E6C0-062B-0897-C355B7518832}"/>
              </a:ext>
            </a:extLst>
          </p:cNvPr>
          <p:cNvCxnSpPr>
            <a:cxnSpLocks/>
          </p:cNvCxnSpPr>
          <p:nvPr/>
        </p:nvCxnSpPr>
        <p:spPr>
          <a:xfrm>
            <a:off x="6148451" y="1801520"/>
            <a:ext cx="1461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7" name="Picture 2">
            <a:extLst>
              <a:ext uri="{FF2B5EF4-FFF2-40B4-BE49-F238E27FC236}">
                <a16:creationId xmlns:a16="http://schemas.microsoft.com/office/drawing/2014/main" id="{16DE42B5-A572-83BC-BE39-BB56124A5D25}"/>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90967" y="1712185"/>
            <a:ext cx="732962" cy="732962"/>
          </a:xfrm>
          <a:prstGeom prst="rect">
            <a:avLst/>
          </a:prstGeom>
          <a:noFill/>
          <a:extLst>
            <a:ext uri="{909E8E84-426E-40DD-AFC4-6F175D3DCCD1}">
              <a14:hiddenFill xmlns:a14="http://schemas.microsoft.com/office/drawing/2010/main">
                <a:solidFill>
                  <a:srgbClr val="FFFFFF"/>
                </a:solidFill>
              </a14:hiddenFill>
            </a:ext>
          </a:extLst>
        </p:spPr>
      </p:pic>
      <p:pic>
        <p:nvPicPr>
          <p:cNvPr id="4" name="Google Shape;315;p11" descr="Laptop with solid fill">
            <a:extLst>
              <a:ext uri="{FF2B5EF4-FFF2-40B4-BE49-F238E27FC236}">
                <a16:creationId xmlns:a16="http://schemas.microsoft.com/office/drawing/2014/main" id="{E9ED3B42-4A01-455E-6649-4176D8563ED5}"/>
              </a:ext>
            </a:extLst>
          </p:cNvPr>
          <p:cNvPicPr preferRelativeResize="0"/>
          <p:nvPr/>
        </p:nvPicPr>
        <p:blipFill rotWithShape="1">
          <a:blip r:embed="rId11">
            <a:alphaModFix/>
          </a:blip>
          <a:srcRect/>
          <a:stretch/>
        </p:blipFill>
        <p:spPr>
          <a:xfrm>
            <a:off x="593200" y="2326533"/>
            <a:ext cx="659171" cy="1008344"/>
          </a:xfrm>
          <a:prstGeom prst="rect">
            <a:avLst/>
          </a:prstGeom>
          <a:noFill/>
          <a:ln>
            <a:noFill/>
          </a:ln>
        </p:spPr>
      </p:pic>
      <p:pic>
        <p:nvPicPr>
          <p:cNvPr id="21" name="Graphic 20" descr="User outline">
            <a:extLst>
              <a:ext uri="{FF2B5EF4-FFF2-40B4-BE49-F238E27FC236}">
                <a16:creationId xmlns:a16="http://schemas.microsoft.com/office/drawing/2014/main" id="{1D073A19-B204-9457-5437-9C3AA4D9BF6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3895" y="2570101"/>
            <a:ext cx="286692" cy="286692"/>
          </a:xfrm>
          <a:prstGeom prst="rect">
            <a:avLst/>
          </a:prstGeom>
        </p:spPr>
      </p:pic>
      <p:sp>
        <p:nvSpPr>
          <p:cNvPr id="9" name="Google Shape;301;p13">
            <a:extLst>
              <a:ext uri="{FF2B5EF4-FFF2-40B4-BE49-F238E27FC236}">
                <a16:creationId xmlns:a16="http://schemas.microsoft.com/office/drawing/2014/main" id="{F6957826-D218-C485-05BB-FEF422F59AD4}"/>
              </a:ext>
            </a:extLst>
          </p:cNvPr>
          <p:cNvSpPr/>
          <p:nvPr/>
        </p:nvSpPr>
        <p:spPr>
          <a:xfrm>
            <a:off x="3001844" y="1369583"/>
            <a:ext cx="854182" cy="1200517"/>
          </a:xfrm>
          <a:prstGeom prst="rect">
            <a:avLst/>
          </a:prstGeom>
          <a:solidFill>
            <a:schemeClr val="accent2">
              <a:lumMod val="20000"/>
              <a:lumOff val="80000"/>
            </a:schemeClr>
          </a:solidFill>
          <a:ln w="12700" cap="flat" cmpd="sng">
            <a:solidFill>
              <a:srgbClr val="1C3052"/>
            </a:solidFill>
            <a:prstDash val="solid"/>
            <a:miter lim="800000"/>
            <a:headEnd type="none" w="sm" len="sm"/>
            <a:tailEnd type="none" w="sm" len="sm"/>
          </a:ln>
        </p:spPr>
        <p:txBody>
          <a:bodyPr spcFirstLastPara="1" wrap="square" lIns="91425" tIns="45700" rIns="91425" bIns="45700" anchor="b" anchorCtr="0">
            <a:noAutofit/>
          </a:bodyPr>
          <a:lstStyle/>
          <a:p>
            <a:pPr algn="ctr">
              <a:spcBef>
                <a:spcPts val="0"/>
              </a:spcBef>
              <a:buClr>
                <a:schemeClr val="lt1"/>
              </a:buClr>
              <a:buSzPts val="1800"/>
            </a:pPr>
            <a:endParaRPr lang="en-US" sz="1400" b="1" noProof="0" dirty="0">
              <a:latin typeface="Play"/>
              <a:ea typeface="Play"/>
              <a:cs typeface="Play"/>
              <a:sym typeface="Play"/>
            </a:endParaRPr>
          </a:p>
          <a:p>
            <a:pPr>
              <a:spcBef>
                <a:spcPts val="0"/>
              </a:spcBef>
              <a:buClr>
                <a:schemeClr val="lt1"/>
              </a:buClr>
              <a:buSzPts val="1800"/>
            </a:pPr>
            <a:r>
              <a:rPr lang="en-US" sz="1600" b="1" noProof="0" dirty="0">
                <a:latin typeface="Play"/>
                <a:ea typeface="Play"/>
                <a:cs typeface="Play"/>
                <a:sym typeface="Play"/>
              </a:rPr>
              <a:t>Firewall </a:t>
            </a:r>
            <a:r>
              <a:rPr lang="en-US" sz="1400" b="1" noProof="0" dirty="0">
                <a:latin typeface="Play"/>
                <a:ea typeface="Play"/>
                <a:cs typeface="Play"/>
                <a:sym typeface="Play"/>
              </a:rPr>
              <a:t>Zero-trust network access (ZTNA) </a:t>
            </a:r>
            <a:endParaRPr lang="en-US" sz="1400" b="1" dirty="0">
              <a:latin typeface="Play"/>
              <a:ea typeface="Play"/>
              <a:cs typeface="Play"/>
              <a:sym typeface="Play"/>
            </a:endParaRPr>
          </a:p>
        </p:txBody>
      </p:sp>
      <p:sp>
        <p:nvSpPr>
          <p:cNvPr id="23" name="ZoneTexte 26">
            <a:extLst>
              <a:ext uri="{FF2B5EF4-FFF2-40B4-BE49-F238E27FC236}">
                <a16:creationId xmlns:a16="http://schemas.microsoft.com/office/drawing/2014/main" id="{02C3EFC9-1666-7675-ACAD-CD30B2FC906C}"/>
              </a:ext>
            </a:extLst>
          </p:cNvPr>
          <p:cNvSpPr txBox="1"/>
          <p:nvPr/>
        </p:nvSpPr>
        <p:spPr>
          <a:xfrm>
            <a:off x="2011734" y="1412618"/>
            <a:ext cx="894067" cy="646139"/>
          </a:xfrm>
          <a:prstGeom prst="rect">
            <a:avLst/>
          </a:prstGeom>
          <a:noFill/>
        </p:spPr>
        <p:txBody>
          <a:bodyPr wrap="square" rtlCol="0">
            <a:spAutoFit/>
          </a:bodyPr>
          <a:lstStyle/>
          <a:p>
            <a:pPr algn="ctr"/>
            <a:r>
              <a:rPr lang="en-US" sz="1333" noProof="0" dirty="0">
                <a:solidFill>
                  <a:schemeClr val="accent1"/>
                </a:solidFill>
              </a:rPr>
              <a:t>(3) Inference data</a:t>
            </a:r>
          </a:p>
        </p:txBody>
      </p:sp>
      <p:cxnSp>
        <p:nvCxnSpPr>
          <p:cNvPr id="24" name="Straight Arrow Connector 23">
            <a:extLst>
              <a:ext uri="{FF2B5EF4-FFF2-40B4-BE49-F238E27FC236}">
                <a16:creationId xmlns:a16="http://schemas.microsoft.com/office/drawing/2014/main" id="{9EDA9BE8-3024-F358-B979-E6B7F724AF26}"/>
              </a:ext>
            </a:extLst>
          </p:cNvPr>
          <p:cNvCxnSpPr/>
          <p:nvPr/>
        </p:nvCxnSpPr>
        <p:spPr>
          <a:xfrm>
            <a:off x="3865955" y="1794782"/>
            <a:ext cx="199525"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8" name="Google Shape;301;p13">
            <a:extLst>
              <a:ext uri="{FF2B5EF4-FFF2-40B4-BE49-F238E27FC236}">
                <a16:creationId xmlns:a16="http://schemas.microsoft.com/office/drawing/2014/main" id="{7D2255D9-1889-B3F4-4513-CD173EA01917}"/>
              </a:ext>
            </a:extLst>
          </p:cNvPr>
          <p:cNvSpPr/>
          <p:nvPr/>
        </p:nvSpPr>
        <p:spPr>
          <a:xfrm>
            <a:off x="7633970" y="1370981"/>
            <a:ext cx="854182" cy="1200517"/>
          </a:xfrm>
          <a:prstGeom prst="rect">
            <a:avLst/>
          </a:prstGeom>
          <a:solidFill>
            <a:schemeClr val="accent2">
              <a:lumMod val="20000"/>
              <a:lumOff val="80000"/>
            </a:schemeClr>
          </a:solidFill>
          <a:ln w="12700" cap="flat" cmpd="sng">
            <a:solidFill>
              <a:srgbClr val="1C3052"/>
            </a:solidFill>
            <a:prstDash val="solid"/>
            <a:miter lim="800000"/>
            <a:headEnd type="none" w="sm" len="sm"/>
            <a:tailEnd type="none" w="sm" len="sm"/>
          </a:ln>
        </p:spPr>
        <p:txBody>
          <a:bodyPr spcFirstLastPara="1" wrap="square" lIns="91425" tIns="45700" rIns="91425" bIns="45700" anchor="b" anchorCtr="0">
            <a:noAutofit/>
          </a:bodyPr>
          <a:lstStyle/>
          <a:p>
            <a:pPr algn="ctr">
              <a:spcBef>
                <a:spcPts val="0"/>
              </a:spcBef>
              <a:buClr>
                <a:schemeClr val="lt1"/>
              </a:buClr>
              <a:buSzPts val="1800"/>
            </a:pPr>
            <a:endParaRPr lang="en-US" sz="1400" b="1" noProof="0" dirty="0">
              <a:latin typeface="Play"/>
              <a:ea typeface="Play"/>
              <a:cs typeface="Play"/>
              <a:sym typeface="Play"/>
            </a:endParaRPr>
          </a:p>
          <a:p>
            <a:pPr>
              <a:spcBef>
                <a:spcPts val="0"/>
              </a:spcBef>
              <a:buClr>
                <a:schemeClr val="lt1"/>
              </a:buClr>
              <a:buSzPts val="1800"/>
            </a:pPr>
            <a:r>
              <a:rPr lang="en-US" sz="1600" b="1" noProof="0" dirty="0">
                <a:latin typeface="Play"/>
                <a:ea typeface="Play"/>
                <a:cs typeface="Play"/>
                <a:sym typeface="Play"/>
              </a:rPr>
              <a:t>Firewall </a:t>
            </a:r>
            <a:r>
              <a:rPr lang="en-US" sz="1400" b="1" noProof="0" dirty="0">
                <a:latin typeface="Play"/>
                <a:ea typeface="Play"/>
                <a:cs typeface="Play"/>
                <a:sym typeface="Play"/>
              </a:rPr>
              <a:t>Zero-trust network access (ZTNA) </a:t>
            </a:r>
            <a:endParaRPr lang="en-US" sz="1400" b="1" dirty="0">
              <a:latin typeface="Play"/>
              <a:ea typeface="Play"/>
              <a:cs typeface="Play"/>
              <a:sym typeface="Play"/>
            </a:endParaRPr>
          </a:p>
        </p:txBody>
      </p:sp>
      <p:sp>
        <p:nvSpPr>
          <p:cNvPr id="17" name="Content Placeholder 1">
            <a:extLst>
              <a:ext uri="{FF2B5EF4-FFF2-40B4-BE49-F238E27FC236}">
                <a16:creationId xmlns:a16="http://schemas.microsoft.com/office/drawing/2014/main" id="{0CBA5278-080F-2444-CB38-B165D7940AED}"/>
              </a:ext>
            </a:extLst>
          </p:cNvPr>
          <p:cNvSpPr>
            <a:spLocks noGrp="1"/>
          </p:cNvSpPr>
          <p:nvPr>
            <p:ph idx="1"/>
          </p:nvPr>
        </p:nvSpPr>
        <p:spPr>
          <a:xfrm>
            <a:off x="0" y="3804413"/>
            <a:ext cx="12191999" cy="3053587"/>
          </a:xfrm>
        </p:spPr>
        <p:txBody>
          <a:bodyPr>
            <a:normAutofit fontScale="92500" lnSpcReduction="10000"/>
          </a:bodyPr>
          <a:lstStyle/>
          <a:p>
            <a:r>
              <a:rPr lang="en-US" b="1" dirty="0">
                <a:solidFill>
                  <a:schemeClr val="tx1">
                    <a:lumMod val="50000"/>
                  </a:schemeClr>
                </a:solidFill>
              </a:rPr>
              <a:t>Host-Affinity Realization Challenges</a:t>
            </a:r>
          </a:p>
          <a:p>
            <a:pPr lvl="1"/>
            <a:r>
              <a:rPr lang="en-US" b="1" dirty="0">
                <a:solidFill>
                  <a:srgbClr val="C00000"/>
                </a:solidFill>
              </a:rPr>
              <a:t>Bearer tokens </a:t>
            </a:r>
            <a:r>
              <a:rPr lang="en-US" dirty="0">
                <a:solidFill>
                  <a:srgbClr val="C00000"/>
                </a:solidFill>
              </a:rPr>
              <a:t>(</a:t>
            </a:r>
            <a:r>
              <a:rPr lang="en-US" dirty="0">
                <a:solidFill>
                  <a:srgbClr val="C00000"/>
                </a:solidFill>
                <a:hlinkClick r:id="rId14">
                  <a:extLst>
                    <a:ext uri="{A12FA001-AC4F-418D-AE19-62706E023703}">
                      <ahyp:hlinkClr xmlns:ahyp="http://schemas.microsoft.com/office/drawing/2018/hyperlinkcolor" val="tx"/>
                    </a:ext>
                  </a:extLst>
                </a:hlinkClick>
              </a:rPr>
              <a:t>RFC 6750</a:t>
            </a:r>
            <a:r>
              <a:rPr lang="en-US" dirty="0">
                <a:solidFill>
                  <a:srgbClr val="C00000"/>
                </a:solidFill>
              </a:rPr>
              <a:t>) </a:t>
            </a:r>
            <a:r>
              <a:rPr lang="en-US" dirty="0">
                <a:solidFill>
                  <a:schemeClr val="tx1">
                    <a:lumMod val="50000"/>
                  </a:schemeClr>
                </a:solidFill>
              </a:rPr>
              <a:t>protect inference apps, secret stores, and model repositories—but if stolen </a:t>
            </a:r>
            <a:r>
              <a:rPr lang="en-US" dirty="0">
                <a:solidFill>
                  <a:srgbClr val="C00000"/>
                </a:solidFill>
              </a:rPr>
              <a:t>(</a:t>
            </a:r>
            <a:r>
              <a:rPr lang="en-US" dirty="0">
                <a:solidFill>
                  <a:srgbClr val="C00000"/>
                </a:solidFill>
                <a:hlinkClick r:id="rId15">
                  <a:extLst>
                    <a:ext uri="{A12FA001-AC4F-418D-AE19-62706E023703}">
                      <ahyp:hlinkClr xmlns:ahyp="http://schemas.microsoft.com/office/drawing/2018/hyperlinkcolor" val="tx"/>
                    </a:ext>
                  </a:extLst>
                </a:hlinkClick>
              </a:rPr>
              <a:t>via breach of an identity provider like Okta</a:t>
            </a:r>
            <a:r>
              <a:rPr lang="en-US" dirty="0">
                <a:solidFill>
                  <a:srgbClr val="C00000"/>
                </a:solidFill>
              </a:rPr>
              <a:t>, </a:t>
            </a:r>
            <a:r>
              <a:rPr lang="en-US" dirty="0">
                <a:solidFill>
                  <a:srgbClr val="C00000"/>
                </a:solidFill>
                <a:hlinkClick r:id="rId16">
                  <a:extLst>
                    <a:ext uri="{A12FA001-AC4F-418D-AE19-62706E023703}">
                      <ahyp:hlinkClr xmlns:ahyp="http://schemas.microsoft.com/office/drawing/2018/hyperlinkcolor" val="tx"/>
                    </a:ext>
                  </a:extLst>
                </a:hlinkClick>
              </a:rPr>
              <a:t>via breach of Metadata server - Kubernetes bootstrap token</a:t>
            </a:r>
            <a:r>
              <a:rPr lang="en-US" dirty="0">
                <a:solidFill>
                  <a:srgbClr val="C00000"/>
                </a:solidFill>
              </a:rPr>
              <a:t>, spire bootstrap token)</a:t>
            </a:r>
            <a:r>
              <a:rPr lang="en-US" dirty="0">
                <a:solidFill>
                  <a:schemeClr val="tx1">
                    <a:lumMod val="50000"/>
                  </a:schemeClr>
                </a:solidFill>
              </a:rPr>
              <a:t>, they can be replayed.</a:t>
            </a:r>
          </a:p>
          <a:p>
            <a:pPr lvl="1"/>
            <a:r>
              <a:rPr lang="en-US" b="1" dirty="0">
                <a:solidFill>
                  <a:srgbClr val="C00000"/>
                </a:solidFill>
              </a:rPr>
              <a:t>Proof-of-Possession tokens </a:t>
            </a:r>
            <a:r>
              <a:rPr lang="en-US" dirty="0">
                <a:solidFill>
                  <a:srgbClr val="C00000"/>
                </a:solidFill>
              </a:rPr>
              <a:t>(</a:t>
            </a:r>
            <a:r>
              <a:rPr lang="en-US" dirty="0">
                <a:solidFill>
                  <a:srgbClr val="C00000"/>
                </a:solidFill>
                <a:hlinkClick r:id="rId17">
                  <a:extLst>
                    <a:ext uri="{A12FA001-AC4F-418D-AE19-62706E023703}">
                      <ahyp:hlinkClr xmlns:ahyp="http://schemas.microsoft.com/office/drawing/2018/hyperlinkcolor" val="tx"/>
                    </a:ext>
                  </a:extLst>
                </a:hlinkClick>
              </a:rPr>
              <a:t>RFC 7800</a:t>
            </a:r>
            <a:r>
              <a:rPr lang="en-US" dirty="0">
                <a:solidFill>
                  <a:srgbClr val="C00000"/>
                </a:solidFill>
              </a:rPr>
              <a:t>)</a:t>
            </a:r>
            <a:r>
              <a:rPr lang="en-US" dirty="0">
                <a:solidFill>
                  <a:schemeClr val="tx1">
                    <a:lumMod val="50000"/>
                  </a:schemeClr>
                </a:solidFill>
              </a:rPr>
              <a:t> bind a private key to the token. However, Container orchestration abuse </a:t>
            </a:r>
            <a:r>
              <a:rPr lang="en-US" dirty="0">
                <a:solidFill>
                  <a:srgbClr val="C00000"/>
                </a:solidFill>
              </a:rPr>
              <a:t>(Mitre T1611), RBAC and policy abuse (T1059 &amp; T1203), Supply chain compromise (T1584) </a:t>
            </a:r>
            <a:r>
              <a:rPr lang="en-US" dirty="0">
                <a:solidFill>
                  <a:schemeClr val="tx1">
                    <a:lumMod val="50000"/>
                  </a:schemeClr>
                </a:solidFill>
              </a:rPr>
              <a:t>can still undermine them by:</a:t>
            </a:r>
          </a:p>
          <a:p>
            <a:pPr lvl="2"/>
            <a:r>
              <a:rPr lang="en-US" dirty="0">
                <a:solidFill>
                  <a:schemeClr val="tx1">
                    <a:lumMod val="50000"/>
                  </a:schemeClr>
                </a:solidFill>
              </a:rPr>
              <a:t>Allowing valid workloads to execute in disallowed hosts/regions</a:t>
            </a:r>
          </a:p>
          <a:p>
            <a:r>
              <a:rPr lang="en-US" b="1" dirty="0">
                <a:solidFill>
                  <a:schemeClr val="tx1">
                    <a:lumMod val="50000"/>
                  </a:schemeClr>
                </a:solidFill>
              </a:rPr>
              <a:t>Geolocation-Affinity Realization Challenges</a:t>
            </a:r>
          </a:p>
          <a:p>
            <a:pPr lvl="1"/>
            <a:r>
              <a:rPr lang="en-US" b="1" dirty="0">
                <a:solidFill>
                  <a:srgbClr val="C00000"/>
                </a:solidFill>
              </a:rPr>
              <a:t>IP-based geofencing</a:t>
            </a:r>
            <a:r>
              <a:rPr lang="en-US" dirty="0">
                <a:solidFill>
                  <a:srgbClr val="C00000"/>
                </a:solidFill>
              </a:rPr>
              <a:t> </a:t>
            </a:r>
            <a:r>
              <a:rPr lang="en-US" dirty="0">
                <a:solidFill>
                  <a:schemeClr val="tx1">
                    <a:lumMod val="50000"/>
                  </a:schemeClr>
                </a:solidFill>
              </a:rPr>
              <a:t>(</a:t>
            </a:r>
            <a:r>
              <a:rPr lang="en-US" dirty="0">
                <a:solidFill>
                  <a:srgbClr val="C00000"/>
                </a:solidFill>
                <a:hlinkClick r:id="rId18">
                  <a:extLst>
                    <a:ext uri="{A12FA001-AC4F-418D-AE19-62706E023703}">
                      <ahyp:hlinkClr xmlns:ahyp="http://schemas.microsoft.com/office/drawing/2018/hyperlinkcolor" val="tx"/>
                    </a:ext>
                  </a:extLst>
                </a:hlinkClick>
              </a:rPr>
              <a:t>firewall rules that check source IP</a:t>
            </a:r>
            <a:r>
              <a:rPr lang="en-US" dirty="0">
                <a:solidFill>
                  <a:schemeClr val="tx1">
                    <a:lumMod val="50000"/>
                  </a:schemeClr>
                </a:solidFill>
              </a:rPr>
              <a:t>) offers only weak location guarantees. Attackers easily bypass it using VPNs. </a:t>
            </a:r>
          </a:p>
          <a:p>
            <a:pPr lvl="1"/>
            <a:r>
              <a:rPr lang="en-US" b="1" dirty="0">
                <a:solidFill>
                  <a:srgbClr val="C00000"/>
                </a:solidFill>
              </a:rPr>
              <a:t>Insider Threats</a:t>
            </a:r>
            <a:r>
              <a:rPr lang="en-US" dirty="0">
                <a:solidFill>
                  <a:srgbClr val="C00000"/>
                </a:solidFill>
              </a:rPr>
              <a:t> e.g., a rogue admin in a sovereign data center spinning up a workload in a non-compliant region.</a:t>
            </a:r>
          </a:p>
          <a:p>
            <a:r>
              <a:rPr lang="en-US" b="1" dirty="0">
                <a:solidFill>
                  <a:schemeClr val="tx1">
                    <a:lumMod val="50000"/>
                  </a:schemeClr>
                </a:solidFill>
              </a:rPr>
              <a:t>Static and Isolated Security Challenges</a:t>
            </a:r>
            <a:endParaRPr lang="en-US" dirty="0">
              <a:solidFill>
                <a:schemeClr val="tx1">
                  <a:lumMod val="50000"/>
                </a:schemeClr>
              </a:solidFill>
            </a:endParaRPr>
          </a:p>
          <a:p>
            <a:pPr lvl="1"/>
            <a:r>
              <a:rPr lang="en-US" dirty="0">
                <a:solidFill>
                  <a:schemeClr val="tx1">
                    <a:lumMod val="50000"/>
                  </a:schemeClr>
                </a:solidFill>
              </a:rPr>
              <a:t>GPU health, utilization and host integrity are typically checked by isolated, non-verifiable monitoring systems -- </a:t>
            </a:r>
            <a:r>
              <a:rPr lang="en-US" dirty="0">
                <a:solidFill>
                  <a:srgbClr val="C00000"/>
                </a:solidFill>
              </a:rPr>
              <a:t>creates a critical gap where a compromised host can easily feed false data to the monitoring system. </a:t>
            </a:r>
          </a:p>
          <a:p>
            <a:endParaRPr lang="en-US" dirty="0">
              <a:solidFill>
                <a:schemeClr val="tx1">
                  <a:lumMod val="50000"/>
                </a:schemeClr>
              </a:solidFill>
            </a:endParaRPr>
          </a:p>
          <a:p>
            <a:endParaRPr lang="en-US" b="1" dirty="0">
              <a:solidFill>
                <a:schemeClr val="tx1">
                  <a:lumMod val="50000"/>
                </a:schemeClr>
              </a:solidFill>
              <a:cs typeface="Arial" panose="020B0604020202020204" pitchFamily="34" charset="0"/>
            </a:endParaRPr>
          </a:p>
          <a:p>
            <a:pPr marL="0" indent="0">
              <a:spcBef>
                <a:spcPts val="0"/>
              </a:spcBef>
              <a:buNone/>
            </a:pPr>
            <a:endParaRPr lang="en-US" b="1" dirty="0">
              <a:solidFill>
                <a:schemeClr val="tx1">
                  <a:lumMod val="50000"/>
                </a:schemeClr>
              </a:solidFill>
            </a:endParaRPr>
          </a:p>
          <a:p>
            <a:endParaRPr lang="en-US" noProof="0" dirty="0">
              <a:solidFill>
                <a:schemeClr val="tx1">
                  <a:lumMod val="50000"/>
                </a:schemeClr>
              </a:solidFill>
              <a:latin typeface="IntelOne Display Regular" panose="020B0503020203020204" pitchFamily="34" charset="77"/>
            </a:endParaRPr>
          </a:p>
          <a:p>
            <a:pPr lvl="1"/>
            <a:endParaRPr lang="en-US" noProof="0" dirty="0">
              <a:solidFill>
                <a:schemeClr val="tx1">
                  <a:lumMod val="50000"/>
                </a:schemeClr>
              </a:solidFill>
            </a:endParaRPr>
          </a:p>
          <a:p>
            <a:endParaRPr lang="en-US" sz="2000" noProof="0" dirty="0">
              <a:solidFill>
                <a:schemeClr val="tx1">
                  <a:lumMod val="50000"/>
                </a:schemeClr>
              </a:solidFill>
              <a:latin typeface="IntelOne Display Regular" panose="020B0503020203020204" pitchFamily="34" charset="77"/>
            </a:endParaRPr>
          </a:p>
          <a:p>
            <a:endParaRPr lang="en-US" sz="2000" noProof="0" dirty="0">
              <a:solidFill>
                <a:schemeClr val="tx1">
                  <a:lumMod val="50000"/>
                </a:schemeClr>
              </a:solidFill>
              <a:latin typeface="IntelOne Display Regular" panose="020B0503020203020204" pitchFamily="34" charset="77"/>
            </a:endParaRPr>
          </a:p>
        </p:txBody>
      </p:sp>
      <p:sp>
        <p:nvSpPr>
          <p:cNvPr id="26" name="Content Placeholder 1">
            <a:extLst>
              <a:ext uri="{FF2B5EF4-FFF2-40B4-BE49-F238E27FC236}">
                <a16:creationId xmlns:a16="http://schemas.microsoft.com/office/drawing/2014/main" id="{433A341F-8DF3-6C4F-5629-0FF6EC436069}"/>
              </a:ext>
            </a:extLst>
          </p:cNvPr>
          <p:cNvSpPr txBox="1">
            <a:spLocks/>
          </p:cNvSpPr>
          <p:nvPr/>
        </p:nvSpPr>
        <p:spPr>
          <a:xfrm>
            <a:off x="172962" y="3299563"/>
            <a:ext cx="1612689" cy="30063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noProof="0" dirty="0">
                <a:solidFill>
                  <a:schemeClr val="tx1">
                    <a:lumMod val="50000"/>
                  </a:schemeClr>
                </a:solidFill>
                <a:latin typeface="+mn-lt"/>
              </a:rPr>
              <a:t>End user host</a:t>
            </a:r>
            <a:endParaRPr lang="en-US" sz="2200" u="sng" noProof="0" dirty="0">
              <a:solidFill>
                <a:schemeClr val="tx1">
                  <a:lumMod val="50000"/>
                </a:schemeClr>
              </a:solidFill>
              <a:latin typeface="+mn-lt"/>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p:txBody>
      </p:sp>
      <p:sp>
        <p:nvSpPr>
          <p:cNvPr id="37" name="Content Placeholder 1">
            <a:extLst>
              <a:ext uri="{FF2B5EF4-FFF2-40B4-BE49-F238E27FC236}">
                <a16:creationId xmlns:a16="http://schemas.microsoft.com/office/drawing/2014/main" id="{40758E72-742B-2A8B-5CB1-CAB53FC0836A}"/>
              </a:ext>
            </a:extLst>
          </p:cNvPr>
          <p:cNvSpPr txBox="1">
            <a:spLocks/>
          </p:cNvSpPr>
          <p:nvPr/>
        </p:nvSpPr>
        <p:spPr>
          <a:xfrm>
            <a:off x="4252983" y="3273139"/>
            <a:ext cx="1612689" cy="3306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noProof="0" dirty="0">
                <a:solidFill>
                  <a:schemeClr val="tx1">
                    <a:lumMod val="50000"/>
                  </a:schemeClr>
                </a:solidFill>
                <a:latin typeface="+mn-lt"/>
              </a:rPr>
              <a:t>Workload host</a:t>
            </a:r>
            <a:endParaRPr lang="en-US" sz="2200" u="sng" noProof="0" dirty="0">
              <a:solidFill>
                <a:schemeClr val="tx1">
                  <a:lumMod val="50000"/>
                </a:schemeClr>
              </a:solidFill>
              <a:latin typeface="+mn-lt"/>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214029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3" grpId="0"/>
      <p:bldP spid="14" grpId="0"/>
      <p:bldP spid="15"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F73AF-5032-41C6-4D05-A1FF374F90CC}"/>
            </a:ext>
          </a:extLst>
        </p:cNvPr>
        <p:cNvGrpSpPr/>
        <p:nvPr/>
      </p:nvGrpSpPr>
      <p:grpSpPr>
        <a:xfrm>
          <a:off x="0" y="0"/>
          <a:ext cx="0" cy="0"/>
          <a:chOff x="0" y="0"/>
          <a:chExt cx="0" cy="0"/>
        </a:xfrm>
      </p:grpSpPr>
      <p:sp>
        <p:nvSpPr>
          <p:cNvPr id="55" name="TextBox 54">
            <a:extLst>
              <a:ext uri="{FF2B5EF4-FFF2-40B4-BE49-F238E27FC236}">
                <a16:creationId xmlns:a16="http://schemas.microsoft.com/office/drawing/2014/main" id="{2E7D2B44-FDB7-DC84-0555-BDE28A561362}"/>
              </a:ext>
            </a:extLst>
          </p:cNvPr>
          <p:cNvSpPr txBox="1"/>
          <p:nvPr/>
        </p:nvSpPr>
        <p:spPr>
          <a:xfrm>
            <a:off x="3750001" y="506536"/>
            <a:ext cx="8381165" cy="3763074"/>
          </a:xfrm>
          <a:prstGeom prst="rect">
            <a:avLst/>
          </a:prstGeom>
          <a:noFill/>
          <a:ln>
            <a:solidFill>
              <a:schemeClr val="accent1"/>
            </a:solidFill>
            <a:prstDash val="sysDot"/>
          </a:ln>
        </p:spPr>
        <p:txBody>
          <a:bodyPr wrap="square" rtlCol="0">
            <a:spAutoFit/>
          </a:bodyPr>
          <a:lstStyle/>
          <a:p>
            <a:endParaRPr lang="en-US" dirty="0"/>
          </a:p>
        </p:txBody>
      </p:sp>
      <p:sp>
        <p:nvSpPr>
          <p:cNvPr id="45" name="Google Shape;301;p13">
            <a:extLst>
              <a:ext uri="{FF2B5EF4-FFF2-40B4-BE49-F238E27FC236}">
                <a16:creationId xmlns:a16="http://schemas.microsoft.com/office/drawing/2014/main" id="{CC767B96-61F1-3099-C1EB-D03750987631}"/>
              </a:ext>
            </a:extLst>
          </p:cNvPr>
          <p:cNvSpPr/>
          <p:nvPr/>
        </p:nvSpPr>
        <p:spPr>
          <a:xfrm>
            <a:off x="3982072" y="1704389"/>
            <a:ext cx="2187917" cy="2540428"/>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sp>
        <p:nvSpPr>
          <p:cNvPr id="43" name="Google Shape;299;p13">
            <a:extLst>
              <a:ext uri="{FF2B5EF4-FFF2-40B4-BE49-F238E27FC236}">
                <a16:creationId xmlns:a16="http://schemas.microsoft.com/office/drawing/2014/main" id="{4EFF1B07-F216-FFF0-F957-8D9AF3A34B7B}"/>
              </a:ext>
            </a:extLst>
          </p:cNvPr>
          <p:cNvSpPr/>
          <p:nvPr/>
        </p:nvSpPr>
        <p:spPr>
          <a:xfrm>
            <a:off x="183185" y="1704389"/>
            <a:ext cx="1735979" cy="2540428"/>
          </a:xfrm>
          <a:prstGeom prst="rect">
            <a:avLst/>
          </a:prstGeom>
          <a:solidFill>
            <a:schemeClr val="accent3">
              <a:lumMod val="40000"/>
              <a:lumOff val="60000"/>
            </a:schemeClr>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noProof="0" dirty="0">
              <a:latin typeface="Play"/>
              <a:ea typeface="Play"/>
              <a:cs typeface="Play"/>
              <a:sym typeface="Play"/>
            </a:endParaRPr>
          </a:p>
          <a:p>
            <a:pPr algn="ctr">
              <a:buClr>
                <a:schemeClr val="lt1"/>
              </a:buClr>
              <a:buSzPts val="1800"/>
            </a:pPr>
            <a:endParaRPr lang="en-US" sz="1600" b="1" noProof="0" dirty="0">
              <a:latin typeface="Play"/>
              <a:ea typeface="Play"/>
              <a:cs typeface="Play"/>
              <a:sym typeface="Play"/>
            </a:endParaRPr>
          </a:p>
        </p:txBody>
      </p:sp>
      <p:sp>
        <p:nvSpPr>
          <p:cNvPr id="5" name="Can 4">
            <a:extLst>
              <a:ext uri="{FF2B5EF4-FFF2-40B4-BE49-F238E27FC236}">
                <a16:creationId xmlns:a16="http://schemas.microsoft.com/office/drawing/2014/main" id="{2814E1CE-49EC-22E0-A0E6-53A0E0DA3919}"/>
              </a:ext>
            </a:extLst>
          </p:cNvPr>
          <p:cNvSpPr/>
          <p:nvPr/>
        </p:nvSpPr>
        <p:spPr>
          <a:xfrm>
            <a:off x="11149768" y="1826088"/>
            <a:ext cx="592360" cy="1511956"/>
          </a:xfrm>
          <a:prstGeom prst="can">
            <a:avLst>
              <a:gd name="adj" fmla="val 4994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8" name="Content Placeholder 1">
            <a:extLst>
              <a:ext uri="{FF2B5EF4-FFF2-40B4-BE49-F238E27FC236}">
                <a16:creationId xmlns:a16="http://schemas.microsoft.com/office/drawing/2014/main" id="{F2903D14-EE3F-7D19-0CB2-C416A5E7078E}"/>
              </a:ext>
            </a:extLst>
          </p:cNvPr>
          <p:cNvSpPr txBox="1">
            <a:spLocks/>
          </p:cNvSpPr>
          <p:nvPr/>
        </p:nvSpPr>
        <p:spPr>
          <a:xfrm>
            <a:off x="4055937" y="3009663"/>
            <a:ext cx="2006783" cy="61837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noProof="0" dirty="0">
                <a:solidFill>
                  <a:schemeClr val="accent1"/>
                </a:solidFill>
                <a:latin typeface="+mn-lt"/>
              </a:rPr>
              <a:t>Inference data, model decryption private key in memory</a:t>
            </a:r>
          </a:p>
          <a:p>
            <a:pPr marL="0" indent="0">
              <a:buNone/>
            </a:pPr>
            <a:endParaRPr lang="en-US" sz="2400" noProof="0" dirty="0">
              <a:solidFill>
                <a:schemeClr val="tx1">
                  <a:lumMod val="50000"/>
                </a:schemeClr>
              </a:solidFill>
              <a:latin typeface="+mn-lt"/>
            </a:endParaRPr>
          </a:p>
          <a:p>
            <a:pPr marL="457189" lvl="1" indent="0">
              <a:buNone/>
            </a:pPr>
            <a:endParaRPr lang="en-US" sz="2000" noProof="0" dirty="0">
              <a:solidFill>
                <a:srgbClr val="000000"/>
              </a:solidFill>
              <a:latin typeface="+mn-lt"/>
            </a:endParaRPr>
          </a:p>
        </p:txBody>
      </p:sp>
      <p:pic>
        <p:nvPicPr>
          <p:cNvPr id="1028" name="Picture 4" descr="Private key - Free security icons">
            <a:extLst>
              <a:ext uri="{FF2B5EF4-FFF2-40B4-BE49-F238E27FC236}">
                <a16:creationId xmlns:a16="http://schemas.microsoft.com/office/drawing/2014/main" id="{E43DBBAE-1568-4F4B-4D70-12C7218B45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7198" y="2193101"/>
            <a:ext cx="724760" cy="724760"/>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3B7627DF-950C-0C98-7648-FAD108F188A3}"/>
              </a:ext>
            </a:extLst>
          </p:cNvPr>
          <p:cNvSpPr/>
          <p:nvPr/>
        </p:nvSpPr>
        <p:spPr>
          <a:xfrm>
            <a:off x="4055936" y="1766461"/>
            <a:ext cx="2040788" cy="1861573"/>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31" name="Content Placeholder 1">
            <a:extLst>
              <a:ext uri="{FF2B5EF4-FFF2-40B4-BE49-F238E27FC236}">
                <a16:creationId xmlns:a16="http://schemas.microsoft.com/office/drawing/2014/main" id="{EBE507F4-8B55-CC0C-C764-DAB2167EFA13}"/>
              </a:ext>
            </a:extLst>
          </p:cNvPr>
          <p:cNvSpPr txBox="1">
            <a:spLocks/>
          </p:cNvSpPr>
          <p:nvPr/>
        </p:nvSpPr>
        <p:spPr>
          <a:xfrm>
            <a:off x="324464" y="1276244"/>
            <a:ext cx="7261647" cy="32227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noProof="0" dirty="0">
              <a:solidFill>
                <a:schemeClr val="accent4"/>
              </a:solidFill>
              <a:latin typeface="+mn-lt"/>
            </a:endParaRPr>
          </a:p>
          <a:p>
            <a:endParaRPr lang="en-US" sz="2400" noProof="0" dirty="0">
              <a:solidFill>
                <a:schemeClr val="tx1">
                  <a:lumMod val="50000"/>
                </a:schemeClr>
              </a:solidFill>
              <a:latin typeface="+mn-lt"/>
            </a:endParaRPr>
          </a:p>
          <a:p>
            <a:pPr lvl="1"/>
            <a:endParaRPr lang="en-US" sz="2000" noProof="0" dirty="0">
              <a:solidFill>
                <a:schemeClr val="tx1">
                  <a:lumMod val="50000"/>
                </a:schemeClr>
              </a:solidFill>
              <a:latin typeface="+mn-lt"/>
            </a:endParaRPr>
          </a:p>
          <a:p>
            <a:pPr lvl="1"/>
            <a:endParaRPr lang="en-US" sz="2000" noProof="0" dirty="0">
              <a:solidFill>
                <a:srgbClr val="000000"/>
              </a:solidFill>
              <a:latin typeface="+mn-lt"/>
            </a:endParaRPr>
          </a:p>
          <a:p>
            <a:pPr marL="457189" lvl="1" indent="0">
              <a:buNone/>
            </a:pPr>
            <a:endParaRPr lang="en-US" sz="20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p:txBody>
      </p:sp>
      <p:sp>
        <p:nvSpPr>
          <p:cNvPr id="20" name="Content Placeholder 1">
            <a:extLst>
              <a:ext uri="{FF2B5EF4-FFF2-40B4-BE49-F238E27FC236}">
                <a16:creationId xmlns:a16="http://schemas.microsoft.com/office/drawing/2014/main" id="{9798DDA7-3868-501E-17BC-06FA8FD22474}"/>
              </a:ext>
            </a:extLst>
          </p:cNvPr>
          <p:cNvSpPr txBox="1">
            <a:spLocks/>
          </p:cNvSpPr>
          <p:nvPr/>
        </p:nvSpPr>
        <p:spPr>
          <a:xfrm>
            <a:off x="9156764" y="1790061"/>
            <a:ext cx="1380442" cy="7881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1800" b="1" noProof="0" dirty="0">
              <a:solidFill>
                <a:schemeClr val="accent1"/>
              </a:solidFill>
              <a:latin typeface="+mn-lt"/>
            </a:endParaRPr>
          </a:p>
          <a:p>
            <a:pPr marL="0" indent="0" algn="ctr">
              <a:buNone/>
            </a:pPr>
            <a:r>
              <a:rPr lang="en-US" sz="3200" b="1" noProof="0" dirty="0">
                <a:solidFill>
                  <a:schemeClr val="accent1"/>
                </a:solidFill>
                <a:latin typeface="+mn-lt"/>
              </a:rPr>
              <a:t>Key vault</a:t>
            </a:r>
          </a:p>
          <a:p>
            <a:pPr marL="0" indent="0">
              <a:buNone/>
            </a:pPr>
            <a:endParaRPr lang="en-US" sz="2400" noProof="0" dirty="0">
              <a:solidFill>
                <a:schemeClr val="tx1">
                  <a:lumMod val="50000"/>
                </a:schemeClr>
              </a:solidFill>
              <a:latin typeface="+mn-lt"/>
            </a:endParaRPr>
          </a:p>
          <a:p>
            <a:pPr marL="457189" lvl="1" indent="0">
              <a:buNone/>
            </a:pPr>
            <a:endParaRPr lang="en-US" sz="2000" noProof="0" dirty="0">
              <a:solidFill>
                <a:srgbClr val="000000"/>
              </a:solidFill>
              <a:latin typeface="+mn-lt"/>
            </a:endParaRPr>
          </a:p>
          <a:p>
            <a:pPr marL="457189" lvl="1" indent="0">
              <a:buNone/>
            </a:pPr>
            <a:endParaRPr lang="en-US" sz="20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p:txBody>
      </p:sp>
      <p:sp>
        <p:nvSpPr>
          <p:cNvPr id="22" name="Rectangle 21">
            <a:extLst>
              <a:ext uri="{FF2B5EF4-FFF2-40B4-BE49-F238E27FC236}">
                <a16:creationId xmlns:a16="http://schemas.microsoft.com/office/drawing/2014/main" id="{B053CBD4-2777-0D7A-280A-FAE5372CA95C}"/>
              </a:ext>
            </a:extLst>
          </p:cNvPr>
          <p:cNvSpPr/>
          <p:nvPr/>
        </p:nvSpPr>
        <p:spPr>
          <a:xfrm>
            <a:off x="9169482" y="1799581"/>
            <a:ext cx="1384725" cy="694469"/>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grpSp>
        <p:nvGrpSpPr>
          <p:cNvPr id="44" name="Group 43">
            <a:extLst>
              <a:ext uri="{FF2B5EF4-FFF2-40B4-BE49-F238E27FC236}">
                <a16:creationId xmlns:a16="http://schemas.microsoft.com/office/drawing/2014/main" id="{853D6826-A64B-759F-34C3-C0C567D04F8E}"/>
              </a:ext>
            </a:extLst>
          </p:cNvPr>
          <p:cNvGrpSpPr/>
          <p:nvPr/>
        </p:nvGrpSpPr>
        <p:grpSpPr>
          <a:xfrm>
            <a:off x="9139763" y="2531760"/>
            <a:ext cx="1414448" cy="660156"/>
            <a:chOff x="5703725" y="4021545"/>
            <a:chExt cx="2113527" cy="660156"/>
          </a:xfrm>
        </p:grpSpPr>
        <p:sp>
          <p:nvSpPr>
            <p:cNvPr id="39" name="Rounded Rectangle 38">
              <a:extLst>
                <a:ext uri="{FF2B5EF4-FFF2-40B4-BE49-F238E27FC236}">
                  <a16:creationId xmlns:a16="http://schemas.microsoft.com/office/drawing/2014/main" id="{39E63A08-6014-D3FF-8AD0-4737B3FD20FC}"/>
                </a:ext>
              </a:extLst>
            </p:cNvPr>
            <p:cNvSpPr/>
            <p:nvPr/>
          </p:nvSpPr>
          <p:spPr>
            <a:xfrm>
              <a:off x="5760688" y="4021545"/>
              <a:ext cx="2056564" cy="655411"/>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41" name="TextBox 40">
              <a:extLst>
                <a:ext uri="{FF2B5EF4-FFF2-40B4-BE49-F238E27FC236}">
                  <a16:creationId xmlns:a16="http://schemas.microsoft.com/office/drawing/2014/main" id="{560E764B-0631-7A6C-909A-FAAA2211EEDE}"/>
                </a:ext>
              </a:extLst>
            </p:cNvPr>
            <p:cNvSpPr txBox="1"/>
            <p:nvPr/>
          </p:nvSpPr>
          <p:spPr>
            <a:xfrm>
              <a:off x="6348054" y="4065408"/>
              <a:ext cx="1290242" cy="342658"/>
            </a:xfrm>
            <a:prstGeom prst="rect">
              <a:avLst/>
            </a:prstGeom>
            <a:noFill/>
          </p:spPr>
          <p:txBody>
            <a:bodyPr wrap="square" rtlCol="0">
              <a:spAutoFit/>
            </a:bodyPr>
            <a:lstStyle/>
            <a:p>
              <a:pPr algn="ctr"/>
              <a:r>
                <a:rPr lang="en-US" sz="1800" b="1" noProof="0" dirty="0"/>
                <a:t>HSM</a:t>
              </a:r>
              <a:endParaRPr lang="en-US" sz="1200" i="1" noProof="0" dirty="0"/>
            </a:p>
          </p:txBody>
        </p:sp>
        <p:pic>
          <p:nvPicPr>
            <p:cNvPr id="42" name="Picture 4" descr="Private key - Free security icons">
              <a:extLst>
                <a:ext uri="{FF2B5EF4-FFF2-40B4-BE49-F238E27FC236}">
                  <a16:creationId xmlns:a16="http://schemas.microsoft.com/office/drawing/2014/main" id="{FDF5E573-ACC1-CE03-DD38-01C7701F113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03725" y="4034287"/>
              <a:ext cx="834232" cy="64741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7" name="Straight Connector 46">
            <a:extLst>
              <a:ext uri="{FF2B5EF4-FFF2-40B4-BE49-F238E27FC236}">
                <a16:creationId xmlns:a16="http://schemas.microsoft.com/office/drawing/2014/main" id="{57EBA213-E83C-1FF4-8CD9-F2517E886B1F}"/>
              </a:ext>
            </a:extLst>
          </p:cNvPr>
          <p:cNvCxnSpPr>
            <a:cxnSpLocks/>
          </p:cNvCxnSpPr>
          <p:nvPr/>
        </p:nvCxnSpPr>
        <p:spPr>
          <a:xfrm>
            <a:off x="1976845" y="1564415"/>
            <a:ext cx="0" cy="2665627"/>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2CAD5A34-4B32-8A5D-4827-88DA8E34C586}"/>
              </a:ext>
            </a:extLst>
          </p:cNvPr>
          <p:cNvCxnSpPr>
            <a:cxnSpLocks/>
            <a:endCxn id="5" idx="3"/>
          </p:cNvCxnSpPr>
          <p:nvPr/>
        </p:nvCxnSpPr>
        <p:spPr>
          <a:xfrm flipV="1">
            <a:off x="6080673" y="3338044"/>
            <a:ext cx="5365275" cy="185702"/>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grpSp>
        <p:nvGrpSpPr>
          <p:cNvPr id="34" name="Groupe 33">
            <a:extLst>
              <a:ext uri="{FF2B5EF4-FFF2-40B4-BE49-F238E27FC236}">
                <a16:creationId xmlns:a16="http://schemas.microsoft.com/office/drawing/2014/main" id="{BCF0337F-065E-AF01-3231-C4ABFF485730}"/>
              </a:ext>
            </a:extLst>
          </p:cNvPr>
          <p:cNvGrpSpPr/>
          <p:nvPr/>
        </p:nvGrpSpPr>
        <p:grpSpPr>
          <a:xfrm>
            <a:off x="10694518" y="1776411"/>
            <a:ext cx="1328889" cy="1206304"/>
            <a:chOff x="7868489" y="1281508"/>
            <a:chExt cx="996667" cy="904728"/>
          </a:xfrm>
        </p:grpSpPr>
        <p:pic>
          <p:nvPicPr>
            <p:cNvPr id="7" name="Picture 2" descr="Free vector robotic artificial intelligence technology smart lerning from bigdata">
              <a:extLst>
                <a:ext uri="{FF2B5EF4-FFF2-40B4-BE49-F238E27FC236}">
                  <a16:creationId xmlns:a16="http://schemas.microsoft.com/office/drawing/2014/main" id="{6B817511-0B70-7FB6-72E4-4CEB9A7F958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95820" y="1491878"/>
              <a:ext cx="869336" cy="694358"/>
            </a:xfrm>
            <a:prstGeom prst="rect">
              <a:avLst/>
            </a:prstGeom>
            <a:noFill/>
            <a:extLst>
              <a:ext uri="{909E8E84-426E-40DD-AFC4-6F175D3DCCD1}">
                <a14:hiddenFill xmlns:a14="http://schemas.microsoft.com/office/drawing/2010/main">
                  <a:solidFill>
                    <a:srgbClr val="FFFFFF"/>
                  </a:solidFill>
                </a14:hiddenFill>
              </a:ext>
            </a:extLst>
          </p:spPr>
        </p:pic>
        <p:pic>
          <p:nvPicPr>
            <p:cNvPr id="33" name="Graphique 32" descr="Verrou avec un remplissage uni">
              <a:extLst>
                <a:ext uri="{FF2B5EF4-FFF2-40B4-BE49-F238E27FC236}">
                  <a16:creationId xmlns:a16="http://schemas.microsoft.com/office/drawing/2014/main" id="{30A2CD1C-02AB-5E33-B7CC-272DC0A13C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68489" y="1281508"/>
              <a:ext cx="280165" cy="280165"/>
            </a:xfrm>
            <a:prstGeom prst="rect">
              <a:avLst/>
            </a:prstGeom>
          </p:spPr>
        </p:pic>
      </p:grpSp>
      <p:cxnSp>
        <p:nvCxnSpPr>
          <p:cNvPr id="6" name="Straight Arrow Connector 5">
            <a:extLst>
              <a:ext uri="{FF2B5EF4-FFF2-40B4-BE49-F238E27FC236}">
                <a16:creationId xmlns:a16="http://schemas.microsoft.com/office/drawing/2014/main" id="{6BE5D66E-93EE-CEC9-9191-1336D1B96A4E}"/>
              </a:ext>
            </a:extLst>
          </p:cNvPr>
          <p:cNvCxnSpPr/>
          <p:nvPr/>
        </p:nvCxnSpPr>
        <p:spPr>
          <a:xfrm>
            <a:off x="1951003" y="2176090"/>
            <a:ext cx="833465"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2" descr="Free vector robotic artificial intelligence technology smart lerning from bigdata">
            <a:extLst>
              <a:ext uri="{FF2B5EF4-FFF2-40B4-BE49-F238E27FC236}">
                <a16:creationId xmlns:a16="http://schemas.microsoft.com/office/drawing/2014/main" id="{D33D3D03-CAC8-79E0-BB8A-F6D9C5DE355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397290" y="2160105"/>
            <a:ext cx="1029907" cy="822610"/>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C419F17A-6B15-BABF-E5EB-9EEC203D2B1B}"/>
              </a:ext>
            </a:extLst>
          </p:cNvPr>
          <p:cNvCxnSpPr>
            <a:cxnSpLocks/>
          </p:cNvCxnSpPr>
          <p:nvPr/>
        </p:nvCxnSpPr>
        <p:spPr>
          <a:xfrm>
            <a:off x="8712445" y="2167838"/>
            <a:ext cx="4657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DA3D152-C263-4DCD-8E05-33D279693F51}"/>
              </a:ext>
            </a:extLst>
          </p:cNvPr>
          <p:cNvCxnSpPr>
            <a:cxnSpLocks/>
          </p:cNvCxnSpPr>
          <p:nvPr/>
        </p:nvCxnSpPr>
        <p:spPr>
          <a:xfrm>
            <a:off x="6689718" y="1593641"/>
            <a:ext cx="0" cy="2665627"/>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ZoneTexte 26">
            <a:extLst>
              <a:ext uri="{FF2B5EF4-FFF2-40B4-BE49-F238E27FC236}">
                <a16:creationId xmlns:a16="http://schemas.microsoft.com/office/drawing/2014/main" id="{3B1DDF5D-8BD2-89F3-F509-2EF64E50E4A8}"/>
              </a:ext>
            </a:extLst>
          </p:cNvPr>
          <p:cNvSpPr txBox="1"/>
          <p:nvPr/>
        </p:nvSpPr>
        <p:spPr>
          <a:xfrm>
            <a:off x="6818072" y="1931749"/>
            <a:ext cx="1035364" cy="830740"/>
          </a:xfrm>
          <a:prstGeom prst="rect">
            <a:avLst/>
          </a:prstGeom>
          <a:noFill/>
        </p:spPr>
        <p:txBody>
          <a:bodyPr wrap="square" rtlCol="0">
            <a:spAutoFit/>
          </a:bodyPr>
          <a:lstStyle/>
          <a:p>
            <a:pPr algn="ctr"/>
            <a:r>
              <a:rPr lang="en-US" sz="1333" noProof="0" dirty="0">
                <a:solidFill>
                  <a:schemeClr val="accent1"/>
                </a:solidFill>
              </a:rPr>
              <a:t>(1) Get secrets from key vault</a:t>
            </a:r>
          </a:p>
        </p:txBody>
      </p:sp>
      <p:sp>
        <p:nvSpPr>
          <p:cNvPr id="48" name="ZoneTexte 26">
            <a:extLst>
              <a:ext uri="{FF2B5EF4-FFF2-40B4-BE49-F238E27FC236}">
                <a16:creationId xmlns:a16="http://schemas.microsoft.com/office/drawing/2014/main" id="{9E79E91F-1E26-300E-88A9-4C7EEE297D34}"/>
              </a:ext>
            </a:extLst>
          </p:cNvPr>
          <p:cNvSpPr txBox="1"/>
          <p:nvPr/>
        </p:nvSpPr>
        <p:spPr>
          <a:xfrm>
            <a:off x="6535071" y="3296215"/>
            <a:ext cx="1767615" cy="941091"/>
          </a:xfrm>
          <a:prstGeom prst="rect">
            <a:avLst/>
          </a:prstGeom>
          <a:noFill/>
        </p:spPr>
        <p:txBody>
          <a:bodyPr wrap="square" rtlCol="0">
            <a:spAutoFit/>
          </a:bodyPr>
          <a:lstStyle/>
          <a:p>
            <a:pPr algn="ctr"/>
            <a:r>
              <a:rPr lang="en-US" sz="1333" noProof="0" dirty="0">
                <a:solidFill>
                  <a:schemeClr val="accent1"/>
                </a:solidFill>
              </a:rPr>
              <a:t>(2) Get encrypted model from storage</a:t>
            </a:r>
          </a:p>
          <a:p>
            <a:pPr algn="ctr"/>
            <a:endParaRPr lang="en-US" sz="1333" noProof="0" dirty="0">
              <a:solidFill>
                <a:schemeClr val="accent1"/>
              </a:solidFill>
            </a:endParaRPr>
          </a:p>
        </p:txBody>
      </p:sp>
      <p:sp>
        <p:nvSpPr>
          <p:cNvPr id="11" name="Title 2">
            <a:extLst>
              <a:ext uri="{FF2B5EF4-FFF2-40B4-BE49-F238E27FC236}">
                <a16:creationId xmlns:a16="http://schemas.microsoft.com/office/drawing/2014/main" id="{7678BE01-A0EF-C55C-61CF-D9D25A418900}"/>
              </a:ext>
            </a:extLst>
          </p:cNvPr>
          <p:cNvSpPr txBox="1">
            <a:spLocks/>
          </p:cNvSpPr>
          <p:nvPr/>
        </p:nvSpPr>
        <p:spPr>
          <a:xfrm>
            <a:off x="3323" y="41945"/>
            <a:ext cx="12188677" cy="46459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2800" kern="1200" dirty="0">
                <a:solidFill>
                  <a:schemeClr val="tx2"/>
                </a:solidFill>
                <a:latin typeface="IntelOne Display Medium" panose="020B0703020203020204" pitchFamily="34" charset="0"/>
                <a:ea typeface="+mj-ea"/>
                <a:cs typeface="+mj-cs"/>
              </a:defRPr>
            </a:lvl1pPr>
          </a:lstStyle>
          <a:p>
            <a:r>
              <a:rPr lang="en-US" b="1" dirty="0">
                <a:solidFill>
                  <a:schemeClr val="accent6"/>
                </a:solidFill>
              </a:rPr>
              <a:t>The Solution: A Zero-Trust, HW-Rooted, Unified, Extensible &amp; Verifiable Identity</a:t>
            </a:r>
          </a:p>
        </p:txBody>
      </p:sp>
      <p:cxnSp>
        <p:nvCxnSpPr>
          <p:cNvPr id="19" name="Straight Arrow Connector 18">
            <a:extLst>
              <a:ext uri="{FF2B5EF4-FFF2-40B4-BE49-F238E27FC236}">
                <a16:creationId xmlns:a16="http://schemas.microsoft.com/office/drawing/2014/main" id="{083C6FC6-CC7F-47E7-8412-5273E6F13C27}"/>
              </a:ext>
            </a:extLst>
          </p:cNvPr>
          <p:cNvCxnSpPr>
            <a:cxnSpLocks/>
          </p:cNvCxnSpPr>
          <p:nvPr/>
        </p:nvCxnSpPr>
        <p:spPr>
          <a:xfrm>
            <a:off x="5998529" y="2170636"/>
            <a:ext cx="21399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7" name="Picture 2">
            <a:extLst>
              <a:ext uri="{FF2B5EF4-FFF2-40B4-BE49-F238E27FC236}">
                <a16:creationId xmlns:a16="http://schemas.microsoft.com/office/drawing/2014/main" id="{C9C66A91-62FC-B37F-97F3-F4D400D537D4}"/>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90967" y="2081301"/>
            <a:ext cx="732962" cy="732962"/>
          </a:xfrm>
          <a:prstGeom prst="rect">
            <a:avLst/>
          </a:prstGeom>
          <a:noFill/>
          <a:extLst>
            <a:ext uri="{909E8E84-426E-40DD-AFC4-6F175D3DCCD1}">
              <a14:hiddenFill xmlns:a14="http://schemas.microsoft.com/office/drawing/2010/main">
                <a:solidFill>
                  <a:srgbClr val="FFFFFF"/>
                </a:solidFill>
              </a14:hiddenFill>
            </a:ext>
          </a:extLst>
        </p:spPr>
      </p:pic>
      <p:pic>
        <p:nvPicPr>
          <p:cNvPr id="4" name="Google Shape;315;p11" descr="Laptop with solid fill">
            <a:extLst>
              <a:ext uri="{FF2B5EF4-FFF2-40B4-BE49-F238E27FC236}">
                <a16:creationId xmlns:a16="http://schemas.microsoft.com/office/drawing/2014/main" id="{99C51D97-3DDD-A873-386B-981E138C4169}"/>
              </a:ext>
            </a:extLst>
          </p:cNvPr>
          <p:cNvPicPr preferRelativeResize="0"/>
          <p:nvPr/>
        </p:nvPicPr>
        <p:blipFill rotWithShape="1">
          <a:blip r:embed="rId11">
            <a:alphaModFix/>
          </a:blip>
          <a:srcRect/>
          <a:stretch/>
        </p:blipFill>
        <p:spPr>
          <a:xfrm>
            <a:off x="419464" y="2695649"/>
            <a:ext cx="659171" cy="1008344"/>
          </a:xfrm>
          <a:prstGeom prst="rect">
            <a:avLst/>
          </a:prstGeom>
          <a:noFill/>
          <a:ln>
            <a:noFill/>
          </a:ln>
        </p:spPr>
      </p:pic>
      <p:pic>
        <p:nvPicPr>
          <p:cNvPr id="21" name="Graphic 20" descr="User outline">
            <a:extLst>
              <a:ext uri="{FF2B5EF4-FFF2-40B4-BE49-F238E27FC236}">
                <a16:creationId xmlns:a16="http://schemas.microsoft.com/office/drawing/2014/main" id="{9C29D00F-B7DA-C8DA-C084-6DF94A760A7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16463" y="2939217"/>
            <a:ext cx="286692" cy="286692"/>
          </a:xfrm>
          <a:prstGeom prst="rect">
            <a:avLst/>
          </a:prstGeom>
        </p:spPr>
      </p:pic>
      <p:sp>
        <p:nvSpPr>
          <p:cNvPr id="9" name="Google Shape;301;p13">
            <a:extLst>
              <a:ext uri="{FF2B5EF4-FFF2-40B4-BE49-F238E27FC236}">
                <a16:creationId xmlns:a16="http://schemas.microsoft.com/office/drawing/2014/main" id="{0B03752B-C3E8-3DBB-9461-D6F166EAC31D}"/>
              </a:ext>
            </a:extLst>
          </p:cNvPr>
          <p:cNvSpPr/>
          <p:nvPr/>
        </p:nvSpPr>
        <p:spPr>
          <a:xfrm>
            <a:off x="2818965" y="1676708"/>
            <a:ext cx="854182" cy="1023789"/>
          </a:xfrm>
          <a:prstGeom prst="rect">
            <a:avLst/>
          </a:prstGeom>
          <a:solidFill>
            <a:schemeClr val="accent2">
              <a:lumMod val="20000"/>
              <a:lumOff val="80000"/>
            </a:schemeClr>
          </a:solidFill>
          <a:ln w="12700" cap="flat" cmpd="sng">
            <a:solidFill>
              <a:srgbClr val="1C3052"/>
            </a:solidFill>
            <a:prstDash val="solid"/>
            <a:miter lim="800000"/>
            <a:headEnd type="none" w="sm" len="sm"/>
            <a:tailEnd type="none" w="sm" len="sm"/>
          </a:ln>
        </p:spPr>
        <p:txBody>
          <a:bodyPr spcFirstLastPara="1" wrap="square" lIns="91425" tIns="45700" rIns="91425" bIns="45700" anchor="b" anchorCtr="0">
            <a:noAutofit/>
          </a:bodyPr>
          <a:lstStyle/>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br>
              <a:rPr lang="en-US" sz="1400" b="1" noProof="0" dirty="0">
                <a:latin typeface="Play"/>
                <a:ea typeface="Play"/>
                <a:cs typeface="Play"/>
                <a:sym typeface="Play"/>
              </a:rPr>
            </a:b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endParaRPr lang="en-US" sz="1400" b="1" dirty="0">
              <a:latin typeface="Play"/>
              <a:ea typeface="Play"/>
              <a:cs typeface="Play"/>
              <a:sym typeface="Play"/>
            </a:endParaRPr>
          </a:p>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r>
              <a:rPr lang="en-US" sz="1400" b="1" noProof="0" dirty="0">
                <a:latin typeface="Play"/>
                <a:ea typeface="Play"/>
                <a:cs typeface="Play"/>
                <a:sym typeface="Play"/>
              </a:rPr>
              <a:t>ZTNA in API Gateway </a:t>
            </a:r>
          </a:p>
          <a:p>
            <a:pPr algn="ctr">
              <a:spcBef>
                <a:spcPts val="0"/>
              </a:spcBef>
              <a:buClr>
                <a:schemeClr val="lt1"/>
              </a:buClr>
              <a:buSzPts val="1800"/>
            </a:pPr>
            <a:endParaRPr lang="en-US" sz="1400" b="1" noProof="0" dirty="0">
              <a:latin typeface="Play"/>
              <a:ea typeface="Play"/>
              <a:cs typeface="Play"/>
              <a:sym typeface="Play"/>
            </a:endParaRPr>
          </a:p>
        </p:txBody>
      </p:sp>
      <p:sp>
        <p:nvSpPr>
          <p:cNvPr id="23" name="ZoneTexte 26">
            <a:extLst>
              <a:ext uri="{FF2B5EF4-FFF2-40B4-BE49-F238E27FC236}">
                <a16:creationId xmlns:a16="http://schemas.microsoft.com/office/drawing/2014/main" id="{198F9397-131D-6540-FC59-31C1CE2D371D}"/>
              </a:ext>
            </a:extLst>
          </p:cNvPr>
          <p:cNvSpPr txBox="1"/>
          <p:nvPr/>
        </p:nvSpPr>
        <p:spPr>
          <a:xfrm>
            <a:off x="1934734" y="1521851"/>
            <a:ext cx="894067" cy="646139"/>
          </a:xfrm>
          <a:prstGeom prst="rect">
            <a:avLst/>
          </a:prstGeom>
          <a:noFill/>
        </p:spPr>
        <p:txBody>
          <a:bodyPr wrap="square" rtlCol="0">
            <a:spAutoFit/>
          </a:bodyPr>
          <a:lstStyle/>
          <a:p>
            <a:pPr algn="ctr"/>
            <a:r>
              <a:rPr lang="en-US" sz="1333" noProof="0" dirty="0">
                <a:solidFill>
                  <a:schemeClr val="accent1"/>
                </a:solidFill>
              </a:rPr>
              <a:t>(3) Inference data</a:t>
            </a:r>
          </a:p>
        </p:txBody>
      </p:sp>
      <p:sp>
        <p:nvSpPr>
          <p:cNvPr id="24" name="TextBox 23">
            <a:extLst>
              <a:ext uri="{FF2B5EF4-FFF2-40B4-BE49-F238E27FC236}">
                <a16:creationId xmlns:a16="http://schemas.microsoft.com/office/drawing/2014/main" id="{310B1433-290C-9EB6-A046-8373C0E3B320}"/>
              </a:ext>
            </a:extLst>
          </p:cNvPr>
          <p:cNvSpPr txBox="1"/>
          <p:nvPr/>
        </p:nvSpPr>
        <p:spPr>
          <a:xfrm>
            <a:off x="97539" y="4269610"/>
            <a:ext cx="12076850" cy="2668423"/>
          </a:xfrm>
          <a:prstGeom prst="rect">
            <a:avLst/>
          </a:prstGeom>
          <a:noFill/>
        </p:spPr>
        <p:txBody>
          <a:bodyPr wrap="square" rtlCol="0">
            <a:spAutoFit/>
          </a:bodyPr>
          <a:lstStyle/>
          <a:p>
            <a:pPr>
              <a:spcBef>
                <a:spcPts val="0"/>
              </a:spcBef>
            </a:pPr>
            <a:r>
              <a:rPr lang="en-US" sz="1800" b="1" dirty="0">
                <a:solidFill>
                  <a:schemeClr val="accent6"/>
                </a:solidFill>
              </a:rPr>
              <a:t>Address</a:t>
            </a:r>
            <a:r>
              <a:rPr lang="en-US" sz="1800" b="1" dirty="0">
                <a:solidFill>
                  <a:srgbClr val="FF0000"/>
                </a:solidFill>
              </a:rPr>
              <a:t> </a:t>
            </a:r>
            <a:r>
              <a:rPr lang="en-US" sz="1800" b="1" dirty="0">
                <a:solidFill>
                  <a:srgbClr val="C00000"/>
                </a:solidFill>
              </a:rPr>
              <a:t>Bearer/Proof of possession token issue </a:t>
            </a:r>
            <a:r>
              <a:rPr lang="en-US" sz="1800" b="1" dirty="0">
                <a:solidFill>
                  <a:schemeClr val="accent6"/>
                </a:solidFill>
                <a:latin typeface="IntelOne Display Regular" panose="020B0503020203020204" pitchFamily="34" charset="77"/>
                <a:ea typeface="Aptos" panose="020B0004020202020204" pitchFamily="34" charset="0"/>
                <a:cs typeface="Arial" panose="020B0604020202020204" pitchFamily="34" charset="0"/>
              </a:rPr>
              <a:t>by Proof of Residency (PoR) </a:t>
            </a:r>
          </a:p>
          <a:p>
            <a:pPr marL="285750" indent="-285750">
              <a:spcBef>
                <a:spcPts val="0"/>
              </a:spcBef>
              <a:buFont typeface="Arial" panose="020B0604020202020204" pitchFamily="34" charset="0"/>
              <a:buChar char="•"/>
            </a:pPr>
            <a:r>
              <a:rPr lang="en-US" sz="1600" dirty="0">
                <a:solidFill>
                  <a:schemeClr val="tx1">
                    <a:lumMod val="50000"/>
                  </a:schemeClr>
                </a:solidFill>
                <a:latin typeface="IntelOne Display Regular" panose="020B0503020203020204" pitchFamily="34" charset="77"/>
                <a:ea typeface="Aptos" panose="020B0004020202020204" pitchFamily="34" charset="0"/>
                <a:cs typeface="Arial" panose="020B0604020202020204" pitchFamily="34" charset="0"/>
              </a:rPr>
              <a:t>Cryptographically bind (vs convention &amp; configuration) Workload identity (executable code hash etc.) + Approved host platform hardware identity (TPM PKI key etc.)/platform policy (Linux kernel version etc.) to generate a PoR workload certificate/token.</a:t>
            </a:r>
          </a:p>
          <a:p>
            <a:pPr>
              <a:spcBef>
                <a:spcPts val="0"/>
              </a:spcBef>
            </a:pPr>
            <a:endParaRPr lang="en-US" sz="2000" b="1" dirty="0">
              <a:solidFill>
                <a:schemeClr val="accent6"/>
              </a:solidFill>
            </a:endParaRPr>
          </a:p>
          <a:p>
            <a:pPr>
              <a:spcBef>
                <a:spcPts val="0"/>
              </a:spcBef>
            </a:pPr>
            <a:r>
              <a:rPr lang="en-US" sz="1800" b="1" dirty="0">
                <a:solidFill>
                  <a:schemeClr val="accent6"/>
                </a:solidFill>
              </a:rPr>
              <a:t>Address</a:t>
            </a:r>
            <a:r>
              <a:rPr lang="en-US" sz="1800" b="1" dirty="0">
                <a:solidFill>
                  <a:srgbClr val="FF0000"/>
                </a:solidFill>
              </a:rPr>
              <a:t> </a:t>
            </a:r>
            <a:r>
              <a:rPr lang="en-US" sz="1800" b="1" dirty="0">
                <a:solidFill>
                  <a:srgbClr val="C00000"/>
                </a:solidFill>
              </a:rPr>
              <a:t>Bearer/Proof of possession token and Source IP issue </a:t>
            </a:r>
            <a:r>
              <a:rPr lang="en-US" sz="1800" b="1" dirty="0">
                <a:solidFill>
                  <a:schemeClr val="accent6"/>
                </a:solidFill>
                <a:latin typeface="IntelOne Display Regular" panose="020B0503020203020204" pitchFamily="34" charset="77"/>
                <a:ea typeface="Aptos" panose="020B0004020202020204" pitchFamily="34" charset="0"/>
                <a:cs typeface="Arial" panose="020B0604020202020204" pitchFamily="34" charset="0"/>
              </a:rPr>
              <a:t>by Proof of Geofencing (PoG)</a:t>
            </a:r>
          </a:p>
          <a:p>
            <a:pPr marL="285750" indent="-285750">
              <a:spcBef>
                <a:spcPts val="0"/>
              </a:spcBef>
              <a:buFont typeface="Arial" panose="020B0604020202020204" pitchFamily="34" charset="0"/>
              <a:buChar char="•"/>
            </a:pPr>
            <a:r>
              <a:rPr lang="en-US" sz="1600" dirty="0">
                <a:solidFill>
                  <a:schemeClr val="tx1">
                    <a:lumMod val="50000"/>
                  </a:schemeClr>
                </a:solidFill>
                <a:latin typeface="IntelOne Display Regular" panose="020B0503020203020204" pitchFamily="34" charset="77"/>
                <a:ea typeface="Aptos" panose="020B0004020202020204" pitchFamily="34" charset="0"/>
                <a:cs typeface="Arial" panose="020B0604020202020204" pitchFamily="34" charset="0"/>
              </a:rPr>
              <a:t>Cryptographically bind PoR + Approved host platform location hardware identity (GNSS or mobile sensor serial number) to generate a PoG workload certificate/token.</a:t>
            </a:r>
          </a:p>
          <a:p>
            <a:pPr>
              <a:spcBef>
                <a:spcPts val="0"/>
              </a:spcBef>
            </a:pPr>
            <a:endParaRPr lang="en-US" sz="1600" b="1" dirty="0"/>
          </a:p>
          <a:p>
            <a:pPr>
              <a:spcBef>
                <a:spcPts val="0"/>
              </a:spcBef>
            </a:pPr>
            <a:r>
              <a:rPr lang="en-US" sz="1800" b="1" dirty="0">
                <a:solidFill>
                  <a:schemeClr val="accent6"/>
                </a:solidFill>
              </a:rPr>
              <a:t>Dynamic Hardware Integrity</a:t>
            </a:r>
            <a:endParaRPr lang="en-US" sz="1800" dirty="0">
              <a:solidFill>
                <a:schemeClr val="accent6"/>
              </a:solidFill>
            </a:endParaRPr>
          </a:p>
          <a:p>
            <a:pPr marL="285750" indent="-285750">
              <a:spcBef>
                <a:spcPts val="0"/>
              </a:spcBef>
              <a:buFont typeface="Arial" panose="020B0604020202020204" pitchFamily="34" charset="0"/>
              <a:buChar char="•"/>
            </a:pPr>
            <a:r>
              <a:rPr lang="en-US" sz="1600" dirty="0"/>
              <a:t>Real-time data about the host’s health, GNSS/mobile sensor status (e.g., connected/disconnected) and GPU status (e.g., temperature and utilization), is collected by specialized plugins and included in the attestation process.</a:t>
            </a:r>
            <a:endParaRPr lang="en-US" sz="1600" dirty="0">
              <a:solidFill>
                <a:schemeClr val="tx1">
                  <a:lumMod val="50000"/>
                </a:schemeClr>
              </a:solidFill>
              <a:latin typeface="IntelOne Display Regular" panose="020B0503020203020204" pitchFamily="34" charset="77"/>
              <a:cs typeface="Arial" panose="020B0604020202020204" pitchFamily="34" charset="0"/>
            </a:endParaRPr>
          </a:p>
        </p:txBody>
      </p:sp>
      <p:sp>
        <p:nvSpPr>
          <p:cNvPr id="26" name="ZoneTexte 26">
            <a:extLst>
              <a:ext uri="{FF2B5EF4-FFF2-40B4-BE49-F238E27FC236}">
                <a16:creationId xmlns:a16="http://schemas.microsoft.com/office/drawing/2014/main" id="{38B6B749-BE41-AE9D-B262-E599A1170E62}"/>
              </a:ext>
            </a:extLst>
          </p:cNvPr>
          <p:cNvSpPr txBox="1"/>
          <p:nvPr/>
        </p:nvSpPr>
        <p:spPr>
          <a:xfrm>
            <a:off x="1769670" y="2388167"/>
            <a:ext cx="1200549" cy="854080"/>
          </a:xfrm>
          <a:prstGeom prst="rect">
            <a:avLst/>
          </a:prstGeom>
          <a:noFill/>
        </p:spPr>
        <p:txBody>
          <a:bodyPr wrap="square" rtlCol="0">
            <a:spAutoFit/>
          </a:bodyPr>
          <a:lstStyle/>
          <a:p>
            <a:pPr algn="ctr"/>
            <a:r>
              <a:rPr lang="en-US" sz="1100" b="1" noProof="0" dirty="0">
                <a:solidFill>
                  <a:schemeClr val="accent6"/>
                </a:solidFill>
              </a:rPr>
              <a:t>(</a:t>
            </a:r>
            <a:r>
              <a:rPr lang="en-US" sz="1100" b="1" dirty="0">
                <a:solidFill>
                  <a:schemeClr val="accent6"/>
                </a:solidFill>
              </a:rPr>
              <a:t>Proof of geofencing</a:t>
            </a:r>
            <a:r>
              <a:rPr lang="en-US" sz="1100" b="1" noProof="0" dirty="0">
                <a:solidFill>
                  <a:schemeClr val="accent6"/>
                </a:solidFill>
              </a:rPr>
              <a:t> workload certificate/ token)</a:t>
            </a:r>
          </a:p>
        </p:txBody>
      </p:sp>
      <p:sp>
        <p:nvSpPr>
          <p:cNvPr id="28" name="ZoneTexte 26">
            <a:extLst>
              <a:ext uri="{FF2B5EF4-FFF2-40B4-BE49-F238E27FC236}">
                <a16:creationId xmlns:a16="http://schemas.microsoft.com/office/drawing/2014/main" id="{0D618CDF-0C9D-32BF-1002-2A81AD1968AA}"/>
              </a:ext>
            </a:extLst>
          </p:cNvPr>
          <p:cNvSpPr txBox="1"/>
          <p:nvPr/>
        </p:nvSpPr>
        <p:spPr>
          <a:xfrm>
            <a:off x="6648236" y="2625911"/>
            <a:ext cx="1383946" cy="701731"/>
          </a:xfrm>
          <a:prstGeom prst="rect">
            <a:avLst/>
          </a:prstGeom>
          <a:noFill/>
        </p:spPr>
        <p:txBody>
          <a:bodyPr wrap="square" rtlCol="0">
            <a:spAutoFit/>
          </a:bodyPr>
          <a:lstStyle/>
          <a:p>
            <a:pPr algn="ctr"/>
            <a:r>
              <a:rPr lang="en-US" sz="1100" b="1" noProof="0" dirty="0">
                <a:solidFill>
                  <a:schemeClr val="accent6"/>
                </a:solidFill>
              </a:rPr>
              <a:t>(</a:t>
            </a:r>
            <a:r>
              <a:rPr lang="en-US" sz="1100" b="1" dirty="0">
                <a:solidFill>
                  <a:schemeClr val="accent6"/>
                </a:solidFill>
              </a:rPr>
              <a:t>Proof of geofencing</a:t>
            </a:r>
            <a:r>
              <a:rPr lang="en-US" sz="1100" b="1" noProof="0" dirty="0">
                <a:solidFill>
                  <a:schemeClr val="accent6"/>
                </a:solidFill>
              </a:rPr>
              <a:t> workload certificate/token)</a:t>
            </a:r>
          </a:p>
        </p:txBody>
      </p:sp>
      <p:sp>
        <p:nvSpPr>
          <p:cNvPr id="37" name="ZoneTexte 26">
            <a:extLst>
              <a:ext uri="{FF2B5EF4-FFF2-40B4-BE49-F238E27FC236}">
                <a16:creationId xmlns:a16="http://schemas.microsoft.com/office/drawing/2014/main" id="{57721184-E01B-A72A-DB2A-F93423F77948}"/>
              </a:ext>
            </a:extLst>
          </p:cNvPr>
          <p:cNvSpPr txBox="1"/>
          <p:nvPr/>
        </p:nvSpPr>
        <p:spPr>
          <a:xfrm>
            <a:off x="6704774" y="3660107"/>
            <a:ext cx="1383946" cy="701731"/>
          </a:xfrm>
          <a:prstGeom prst="rect">
            <a:avLst/>
          </a:prstGeom>
          <a:noFill/>
        </p:spPr>
        <p:txBody>
          <a:bodyPr wrap="square" rtlCol="0">
            <a:spAutoFit/>
          </a:bodyPr>
          <a:lstStyle/>
          <a:p>
            <a:pPr algn="ctr"/>
            <a:r>
              <a:rPr lang="en-US" sz="1100" b="1" noProof="0" dirty="0">
                <a:solidFill>
                  <a:schemeClr val="accent6"/>
                </a:solidFill>
              </a:rPr>
              <a:t>(</a:t>
            </a:r>
            <a:r>
              <a:rPr lang="en-US" sz="1100" b="1" dirty="0">
                <a:solidFill>
                  <a:schemeClr val="accent6"/>
                </a:solidFill>
              </a:rPr>
              <a:t>Proof of residency</a:t>
            </a:r>
            <a:r>
              <a:rPr lang="en-US" sz="1100" b="1" noProof="0" dirty="0">
                <a:solidFill>
                  <a:schemeClr val="accent6"/>
                </a:solidFill>
              </a:rPr>
              <a:t> workload certificate/token)</a:t>
            </a:r>
          </a:p>
        </p:txBody>
      </p:sp>
      <p:cxnSp>
        <p:nvCxnSpPr>
          <p:cNvPr id="38" name="Straight Arrow Connector 37">
            <a:extLst>
              <a:ext uri="{FF2B5EF4-FFF2-40B4-BE49-F238E27FC236}">
                <a16:creationId xmlns:a16="http://schemas.microsoft.com/office/drawing/2014/main" id="{9A564739-DD52-A9F7-D19E-F51114875D8D}"/>
              </a:ext>
            </a:extLst>
          </p:cNvPr>
          <p:cNvCxnSpPr/>
          <p:nvPr/>
        </p:nvCxnSpPr>
        <p:spPr>
          <a:xfrm>
            <a:off x="3684338" y="2163898"/>
            <a:ext cx="353473"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2BC44D6-1BCB-20F9-9351-BC9D249537D6}"/>
              </a:ext>
            </a:extLst>
          </p:cNvPr>
          <p:cNvSpPr txBox="1"/>
          <p:nvPr/>
        </p:nvSpPr>
        <p:spPr>
          <a:xfrm>
            <a:off x="3799192" y="583124"/>
            <a:ext cx="2580201" cy="535531"/>
          </a:xfrm>
          <a:prstGeom prst="rect">
            <a:avLst/>
          </a:prstGeom>
          <a:solidFill>
            <a:schemeClr val="accent6">
              <a:lumMod val="20000"/>
              <a:lumOff val="80000"/>
            </a:schemeClr>
          </a:solidFill>
        </p:spPr>
        <p:txBody>
          <a:bodyPr wrap="square" rtlCol="0">
            <a:spAutoFit/>
          </a:bodyPr>
          <a:lstStyle/>
          <a:p>
            <a:pPr algn="ctr">
              <a:spcBef>
                <a:spcPts val="0"/>
              </a:spcBef>
            </a:pPr>
            <a:r>
              <a:rPr lang="en-US" sz="1600" b="1" dirty="0"/>
              <a:t>Workload Identity Manager (e.g., Spiffe/Spire Server)</a:t>
            </a:r>
            <a:endParaRPr lang="en-US" sz="1200" dirty="0"/>
          </a:p>
        </p:txBody>
      </p:sp>
      <p:sp>
        <p:nvSpPr>
          <p:cNvPr id="51" name="TextBox 50">
            <a:extLst>
              <a:ext uri="{FF2B5EF4-FFF2-40B4-BE49-F238E27FC236}">
                <a16:creationId xmlns:a16="http://schemas.microsoft.com/office/drawing/2014/main" id="{0C45C971-1880-66B3-DDF9-703CD60A71B6}"/>
              </a:ext>
            </a:extLst>
          </p:cNvPr>
          <p:cNvSpPr txBox="1"/>
          <p:nvPr/>
        </p:nvSpPr>
        <p:spPr>
          <a:xfrm>
            <a:off x="4052325" y="3664164"/>
            <a:ext cx="1071452" cy="507831"/>
          </a:xfrm>
          <a:prstGeom prst="rect">
            <a:avLst/>
          </a:prstGeom>
          <a:solidFill>
            <a:schemeClr val="bg1"/>
          </a:solidFill>
        </p:spPr>
        <p:txBody>
          <a:bodyPr wrap="square" rtlCol="0">
            <a:spAutoFit/>
          </a:bodyPr>
          <a:lstStyle/>
          <a:p>
            <a:pPr algn="ctr"/>
            <a:r>
              <a:rPr lang="en-US" sz="1000" b="1" dirty="0">
                <a:solidFill>
                  <a:schemeClr val="accent6"/>
                </a:solidFill>
              </a:rPr>
              <a:t>Workload Identity (e.g., Spire Agent)</a:t>
            </a:r>
          </a:p>
        </p:txBody>
      </p:sp>
      <p:cxnSp>
        <p:nvCxnSpPr>
          <p:cNvPr id="57" name="Connector: Curved 56">
            <a:extLst>
              <a:ext uri="{FF2B5EF4-FFF2-40B4-BE49-F238E27FC236}">
                <a16:creationId xmlns:a16="http://schemas.microsoft.com/office/drawing/2014/main" id="{951568CF-EC52-74D5-F3F4-D9B6EE07DADC}"/>
              </a:ext>
            </a:extLst>
          </p:cNvPr>
          <p:cNvCxnSpPr>
            <a:cxnSpLocks/>
            <a:stCxn id="51" idx="1"/>
            <a:endCxn id="40" idx="2"/>
          </p:cNvCxnSpPr>
          <p:nvPr/>
        </p:nvCxnSpPr>
        <p:spPr>
          <a:xfrm rot="10800000" flipH="1">
            <a:off x="4052325" y="1118656"/>
            <a:ext cx="1036968" cy="2799425"/>
          </a:xfrm>
          <a:prstGeom prst="curvedConnector4">
            <a:avLst>
              <a:gd name="adj1" fmla="val -22045"/>
              <a:gd name="adj2" fmla="val 54535"/>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301;p13">
            <a:extLst>
              <a:ext uri="{FF2B5EF4-FFF2-40B4-BE49-F238E27FC236}">
                <a16:creationId xmlns:a16="http://schemas.microsoft.com/office/drawing/2014/main" id="{5EA98A41-7F1C-6F09-0AAC-60AFD185C7C7}"/>
              </a:ext>
            </a:extLst>
          </p:cNvPr>
          <p:cNvSpPr/>
          <p:nvPr/>
        </p:nvSpPr>
        <p:spPr>
          <a:xfrm>
            <a:off x="8123567" y="1670997"/>
            <a:ext cx="854182" cy="1023789"/>
          </a:xfrm>
          <a:prstGeom prst="rect">
            <a:avLst/>
          </a:prstGeom>
          <a:solidFill>
            <a:schemeClr val="accent2">
              <a:lumMod val="20000"/>
              <a:lumOff val="80000"/>
            </a:schemeClr>
          </a:solidFill>
          <a:ln w="12700" cap="flat" cmpd="sng">
            <a:solidFill>
              <a:srgbClr val="1C3052"/>
            </a:solidFill>
            <a:prstDash val="solid"/>
            <a:miter lim="800000"/>
            <a:headEnd type="none" w="sm" len="sm"/>
            <a:tailEnd type="none" w="sm" len="sm"/>
          </a:ln>
        </p:spPr>
        <p:txBody>
          <a:bodyPr spcFirstLastPara="1" wrap="square" lIns="91425" tIns="45700" rIns="91425" bIns="45700" anchor="b" anchorCtr="0">
            <a:noAutofit/>
          </a:bodyPr>
          <a:lstStyle/>
          <a:p>
            <a:pPr algn="ctr">
              <a:spcBef>
                <a:spcPts val="0"/>
              </a:spcBef>
              <a:buClr>
                <a:schemeClr val="lt1"/>
              </a:buClr>
              <a:buSzPts val="1800"/>
            </a:pPr>
            <a:endParaRPr lang="en-US" sz="1400" b="1" noProof="0" dirty="0">
              <a:latin typeface="Play"/>
              <a:ea typeface="Play"/>
              <a:cs typeface="Play"/>
              <a:sym typeface="Play"/>
            </a:endParaRPr>
          </a:p>
          <a:p>
            <a:pPr algn="ctr">
              <a:spcBef>
                <a:spcPts val="0"/>
              </a:spcBef>
              <a:buClr>
                <a:schemeClr val="lt1"/>
              </a:buClr>
              <a:buSzPts val="1800"/>
            </a:pPr>
            <a:r>
              <a:rPr lang="en-US" sz="1400" b="1" noProof="0" dirty="0">
                <a:latin typeface="Play"/>
                <a:ea typeface="Play"/>
                <a:cs typeface="Play"/>
                <a:sym typeface="Play"/>
              </a:rPr>
              <a:t>ZTNA in API Gateway (e.g., Envoy)</a:t>
            </a:r>
          </a:p>
        </p:txBody>
      </p:sp>
      <p:sp>
        <p:nvSpPr>
          <p:cNvPr id="15" name="TextBox 14">
            <a:extLst>
              <a:ext uri="{FF2B5EF4-FFF2-40B4-BE49-F238E27FC236}">
                <a16:creationId xmlns:a16="http://schemas.microsoft.com/office/drawing/2014/main" id="{41091D53-C118-8BBC-334F-AAA5AD47DB0E}"/>
              </a:ext>
            </a:extLst>
          </p:cNvPr>
          <p:cNvSpPr txBox="1"/>
          <p:nvPr/>
        </p:nvSpPr>
        <p:spPr>
          <a:xfrm>
            <a:off x="5170837" y="3672699"/>
            <a:ext cx="945337" cy="507831"/>
          </a:xfrm>
          <a:prstGeom prst="rect">
            <a:avLst/>
          </a:prstGeom>
          <a:solidFill>
            <a:schemeClr val="bg1"/>
          </a:solidFill>
        </p:spPr>
        <p:txBody>
          <a:bodyPr wrap="square" rtlCol="0">
            <a:spAutoFit/>
          </a:bodyPr>
          <a:lstStyle/>
          <a:p>
            <a:pPr algn="ctr"/>
            <a:r>
              <a:rPr lang="en-US" sz="1000" b="1" dirty="0">
                <a:solidFill>
                  <a:schemeClr val="accent6"/>
                </a:solidFill>
              </a:rPr>
              <a:t>Host Identity (e.g., Keylime Agent)</a:t>
            </a:r>
          </a:p>
        </p:txBody>
      </p:sp>
      <p:sp>
        <p:nvSpPr>
          <p:cNvPr id="29" name="TextBox 28">
            <a:extLst>
              <a:ext uri="{FF2B5EF4-FFF2-40B4-BE49-F238E27FC236}">
                <a16:creationId xmlns:a16="http://schemas.microsoft.com/office/drawing/2014/main" id="{16DB278C-D5E8-A76A-B63D-329A5D4EA9A9}"/>
              </a:ext>
            </a:extLst>
          </p:cNvPr>
          <p:cNvSpPr txBox="1"/>
          <p:nvPr/>
        </p:nvSpPr>
        <p:spPr>
          <a:xfrm>
            <a:off x="6624934" y="582971"/>
            <a:ext cx="2158318" cy="535531"/>
          </a:xfrm>
          <a:prstGeom prst="rect">
            <a:avLst/>
          </a:prstGeom>
          <a:solidFill>
            <a:schemeClr val="accent6">
              <a:lumMod val="20000"/>
              <a:lumOff val="80000"/>
            </a:schemeClr>
          </a:solidFill>
        </p:spPr>
        <p:txBody>
          <a:bodyPr wrap="square" rtlCol="0">
            <a:spAutoFit/>
          </a:bodyPr>
          <a:lstStyle/>
          <a:p>
            <a:pPr algn="ctr">
              <a:spcBef>
                <a:spcPts val="0"/>
              </a:spcBef>
            </a:pPr>
            <a:r>
              <a:rPr lang="en-US" sz="1600" b="1" dirty="0"/>
              <a:t>Host Identity Manager (e.g., Keylime)</a:t>
            </a:r>
            <a:endParaRPr lang="en-US" sz="1200" dirty="0">
              <a:solidFill>
                <a:schemeClr val="tx1"/>
              </a:solidFill>
            </a:endParaRPr>
          </a:p>
        </p:txBody>
      </p:sp>
      <p:cxnSp>
        <p:nvCxnSpPr>
          <p:cNvPr id="32" name="Connector: Curved 31">
            <a:extLst>
              <a:ext uri="{FF2B5EF4-FFF2-40B4-BE49-F238E27FC236}">
                <a16:creationId xmlns:a16="http://schemas.microsoft.com/office/drawing/2014/main" id="{3E2EB8E2-4F86-1C29-ADDE-044DF36BD85C}"/>
              </a:ext>
            </a:extLst>
          </p:cNvPr>
          <p:cNvCxnSpPr>
            <a:cxnSpLocks/>
            <a:stCxn id="15" idx="0"/>
            <a:endCxn id="29" idx="2"/>
          </p:cNvCxnSpPr>
          <p:nvPr/>
        </p:nvCxnSpPr>
        <p:spPr>
          <a:xfrm rot="5400000" flipH="1" flipV="1">
            <a:off x="5396701" y="1365308"/>
            <a:ext cx="2554197" cy="2060587"/>
          </a:xfrm>
          <a:prstGeom prst="curvedConnector3">
            <a:avLst>
              <a:gd name="adj1" fmla="val 94892"/>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nector: Curved 55">
            <a:extLst>
              <a:ext uri="{FF2B5EF4-FFF2-40B4-BE49-F238E27FC236}">
                <a16:creationId xmlns:a16="http://schemas.microsoft.com/office/drawing/2014/main" id="{674FC6E8-343C-CF0A-1765-6CD2A0963D54}"/>
              </a:ext>
            </a:extLst>
          </p:cNvPr>
          <p:cNvCxnSpPr>
            <a:cxnSpLocks/>
          </p:cNvCxnSpPr>
          <p:nvPr/>
        </p:nvCxnSpPr>
        <p:spPr>
          <a:xfrm flipV="1">
            <a:off x="6388357" y="850737"/>
            <a:ext cx="236245" cy="153"/>
          </a:xfrm>
          <a:prstGeom prst="curvedConnector3">
            <a:avLst>
              <a:gd name="adj1" fmla="val 50000"/>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Content Placeholder 1">
            <a:extLst>
              <a:ext uri="{FF2B5EF4-FFF2-40B4-BE49-F238E27FC236}">
                <a16:creationId xmlns:a16="http://schemas.microsoft.com/office/drawing/2014/main" id="{0CF711E9-6267-CD87-4F97-2EC03F1E71E3}"/>
              </a:ext>
            </a:extLst>
          </p:cNvPr>
          <p:cNvSpPr txBox="1">
            <a:spLocks/>
          </p:cNvSpPr>
          <p:nvPr/>
        </p:nvSpPr>
        <p:spPr>
          <a:xfrm>
            <a:off x="10665086" y="3929427"/>
            <a:ext cx="1466081" cy="330698"/>
          </a:xfrm>
          <a:prstGeom prst="rect">
            <a:avLst/>
          </a:prstGeom>
          <a:solidFill>
            <a:schemeClr val="bg1"/>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noProof="0" dirty="0">
                <a:solidFill>
                  <a:schemeClr val="tx1">
                    <a:lumMod val="50000"/>
                  </a:schemeClr>
                </a:solidFill>
                <a:latin typeface="+mn-lt"/>
              </a:rPr>
              <a:t>Demo Scope</a:t>
            </a:r>
            <a:endParaRPr lang="en-US" sz="18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p:txBody>
      </p:sp>
      <p:sp>
        <p:nvSpPr>
          <p:cNvPr id="12" name="Content Placeholder 1">
            <a:extLst>
              <a:ext uri="{FF2B5EF4-FFF2-40B4-BE49-F238E27FC236}">
                <a16:creationId xmlns:a16="http://schemas.microsoft.com/office/drawing/2014/main" id="{AB97281D-1E83-56D1-7CF9-1E1FD15E354B}"/>
              </a:ext>
            </a:extLst>
          </p:cNvPr>
          <p:cNvSpPr txBox="1">
            <a:spLocks/>
          </p:cNvSpPr>
          <p:nvPr/>
        </p:nvSpPr>
        <p:spPr>
          <a:xfrm>
            <a:off x="4315376" y="1204663"/>
            <a:ext cx="1840606" cy="5494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600" b="1" dirty="0">
                <a:solidFill>
                  <a:schemeClr val="accent6">
                    <a:lumMod val="75000"/>
                  </a:schemeClr>
                </a:solidFill>
                <a:latin typeface="+mn-lt"/>
              </a:rPr>
              <a:t>S</a:t>
            </a:r>
            <a:r>
              <a:rPr lang="en-US" sz="1600" b="1" dirty="0">
                <a:solidFill>
                  <a:schemeClr val="accent6">
                    <a:lumMod val="75000"/>
                  </a:schemeClr>
                </a:solidFill>
              </a:rPr>
              <a:t>overeign Public/Edge Cloud</a:t>
            </a:r>
            <a:endParaRPr lang="en-US" sz="1600" noProof="0" dirty="0">
              <a:solidFill>
                <a:schemeClr val="accent6">
                  <a:lumMod val="75000"/>
                </a:schemeClr>
              </a:solidFill>
              <a:latin typeface="+mn-lt"/>
            </a:endParaRPr>
          </a:p>
        </p:txBody>
      </p:sp>
      <p:sp>
        <p:nvSpPr>
          <p:cNvPr id="17" name="Content Placeholder 1">
            <a:extLst>
              <a:ext uri="{FF2B5EF4-FFF2-40B4-BE49-F238E27FC236}">
                <a16:creationId xmlns:a16="http://schemas.microsoft.com/office/drawing/2014/main" id="{547DDF8F-5706-23C4-0498-7A82BD47B123}"/>
              </a:ext>
            </a:extLst>
          </p:cNvPr>
          <p:cNvSpPr txBox="1">
            <a:spLocks/>
          </p:cNvSpPr>
          <p:nvPr/>
        </p:nvSpPr>
        <p:spPr>
          <a:xfrm>
            <a:off x="7586111" y="1271499"/>
            <a:ext cx="2638619" cy="2747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1600" b="1" noProof="0" dirty="0">
                <a:solidFill>
                  <a:schemeClr val="accent6">
                    <a:lumMod val="75000"/>
                  </a:schemeClr>
                </a:solidFill>
                <a:latin typeface="+mn-lt"/>
              </a:rPr>
              <a:t>On-prem Private Cloud</a:t>
            </a:r>
            <a:endParaRPr lang="en-US" sz="1600" noProof="0" dirty="0">
              <a:solidFill>
                <a:schemeClr val="accent6">
                  <a:lumMod val="75000"/>
                </a:schemeClr>
              </a:solidFill>
              <a:latin typeface="+mn-lt"/>
            </a:endParaRPr>
          </a:p>
        </p:txBody>
      </p:sp>
    </p:spTree>
    <p:extLst>
      <p:ext uri="{BB962C8B-B14F-4D97-AF65-F5344CB8AC3E}">
        <p14:creationId xmlns:p14="http://schemas.microsoft.com/office/powerpoint/2010/main" val="302028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46" grpId="0"/>
      <p:bldP spid="48" grpId="0"/>
      <p:bldP spid="23" grpId="0"/>
      <p:bldP spid="26" grpId="0"/>
      <p:bldP spid="28" grpId="0"/>
      <p:bldP spid="37" grpId="0"/>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46EFC-A251-944C-1A4B-686885BDAEE1}"/>
            </a:ext>
          </a:extLst>
        </p:cNvPr>
        <p:cNvGrpSpPr/>
        <p:nvPr/>
      </p:nvGrpSpPr>
      <p:grpSpPr>
        <a:xfrm>
          <a:off x="0" y="0"/>
          <a:ext cx="0" cy="0"/>
          <a:chOff x="0" y="0"/>
          <a:chExt cx="0" cy="0"/>
        </a:xfrm>
      </p:grpSpPr>
      <p:sp>
        <p:nvSpPr>
          <p:cNvPr id="43" name="Google Shape;301;p13">
            <a:extLst>
              <a:ext uri="{FF2B5EF4-FFF2-40B4-BE49-F238E27FC236}">
                <a16:creationId xmlns:a16="http://schemas.microsoft.com/office/drawing/2014/main" id="{49F8385C-EC65-660F-E3DE-90927B1F0460}"/>
              </a:ext>
            </a:extLst>
          </p:cNvPr>
          <p:cNvSpPr/>
          <p:nvPr/>
        </p:nvSpPr>
        <p:spPr>
          <a:xfrm>
            <a:off x="840036" y="1216129"/>
            <a:ext cx="4884106" cy="1020030"/>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sp>
        <p:nvSpPr>
          <p:cNvPr id="3" name="Title 2">
            <a:extLst>
              <a:ext uri="{FF2B5EF4-FFF2-40B4-BE49-F238E27FC236}">
                <a16:creationId xmlns:a16="http://schemas.microsoft.com/office/drawing/2014/main" id="{FB34B770-F34A-BE53-0523-1AA0468450CE}"/>
              </a:ext>
            </a:extLst>
          </p:cNvPr>
          <p:cNvSpPr>
            <a:spLocks noGrp="1"/>
          </p:cNvSpPr>
          <p:nvPr>
            <p:ph type="title"/>
          </p:nvPr>
        </p:nvSpPr>
        <p:spPr>
          <a:xfrm>
            <a:off x="23944" y="69294"/>
            <a:ext cx="11832413" cy="459342"/>
          </a:xfrm>
        </p:spPr>
        <p:txBody>
          <a:bodyPr>
            <a:noAutofit/>
          </a:bodyPr>
          <a:lstStyle/>
          <a:p>
            <a:r>
              <a:rPr lang="en-US" dirty="0">
                <a:solidFill>
                  <a:schemeClr val="accent6"/>
                </a:solidFill>
              </a:rPr>
              <a:t>Demo Act 1  - Trusted Infrastructure Setup</a:t>
            </a:r>
          </a:p>
        </p:txBody>
      </p:sp>
      <p:cxnSp>
        <p:nvCxnSpPr>
          <p:cNvPr id="50" name="Straight Connector 49">
            <a:extLst>
              <a:ext uri="{FF2B5EF4-FFF2-40B4-BE49-F238E27FC236}">
                <a16:creationId xmlns:a16="http://schemas.microsoft.com/office/drawing/2014/main" id="{79D5E63F-31DE-672D-10CA-7C805586B201}"/>
              </a:ext>
            </a:extLst>
          </p:cNvPr>
          <p:cNvCxnSpPr>
            <a:cxnSpLocks/>
          </p:cNvCxnSpPr>
          <p:nvPr/>
        </p:nvCxnSpPr>
        <p:spPr>
          <a:xfrm>
            <a:off x="6403403" y="794045"/>
            <a:ext cx="0" cy="5714007"/>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2" name="Content Placeholder 1">
            <a:extLst>
              <a:ext uri="{FF2B5EF4-FFF2-40B4-BE49-F238E27FC236}">
                <a16:creationId xmlns:a16="http://schemas.microsoft.com/office/drawing/2014/main" id="{E93E9A24-4ADE-2F96-943C-3824409E848B}"/>
              </a:ext>
            </a:extLst>
          </p:cNvPr>
          <p:cNvSpPr txBox="1">
            <a:spLocks/>
          </p:cNvSpPr>
          <p:nvPr/>
        </p:nvSpPr>
        <p:spPr>
          <a:xfrm>
            <a:off x="1431386" y="574067"/>
            <a:ext cx="3350111" cy="448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2000" b="1" noProof="0" dirty="0">
                <a:solidFill>
                  <a:schemeClr val="accent6">
                    <a:lumMod val="75000"/>
                  </a:schemeClr>
                </a:solidFill>
                <a:latin typeface="+mn-lt"/>
              </a:rPr>
              <a:t>Sovereign Public/Edge Cloud</a:t>
            </a:r>
          </a:p>
        </p:txBody>
      </p:sp>
      <p:sp>
        <p:nvSpPr>
          <p:cNvPr id="54" name="Content Placeholder 1">
            <a:extLst>
              <a:ext uri="{FF2B5EF4-FFF2-40B4-BE49-F238E27FC236}">
                <a16:creationId xmlns:a16="http://schemas.microsoft.com/office/drawing/2014/main" id="{067D1A38-992C-2A3F-D643-C297CE9FA1AA}"/>
              </a:ext>
            </a:extLst>
          </p:cNvPr>
          <p:cNvSpPr txBox="1">
            <a:spLocks/>
          </p:cNvSpPr>
          <p:nvPr/>
        </p:nvSpPr>
        <p:spPr>
          <a:xfrm>
            <a:off x="7450307" y="550818"/>
            <a:ext cx="3809209" cy="35611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US" sz="2000" b="1" dirty="0">
                <a:solidFill>
                  <a:schemeClr val="accent6">
                    <a:lumMod val="75000"/>
                  </a:schemeClr>
                </a:solidFill>
                <a:latin typeface="+mn-lt"/>
              </a:rPr>
              <a:t>O</a:t>
            </a:r>
            <a:r>
              <a:rPr lang="en-US" sz="2000" b="1" noProof="0" dirty="0">
                <a:solidFill>
                  <a:schemeClr val="accent6">
                    <a:lumMod val="75000"/>
                  </a:schemeClr>
                </a:solidFill>
                <a:latin typeface="+mn-lt"/>
              </a:rPr>
              <a:t>n-Prem Private Cloud</a:t>
            </a:r>
          </a:p>
        </p:txBody>
      </p:sp>
      <p:sp>
        <p:nvSpPr>
          <p:cNvPr id="55" name="Google Shape;301;p13">
            <a:extLst>
              <a:ext uri="{FF2B5EF4-FFF2-40B4-BE49-F238E27FC236}">
                <a16:creationId xmlns:a16="http://schemas.microsoft.com/office/drawing/2014/main" id="{2FA652C4-527E-DFE3-B5EB-375F3F4A6C5F}"/>
              </a:ext>
            </a:extLst>
          </p:cNvPr>
          <p:cNvSpPr/>
          <p:nvPr/>
        </p:nvSpPr>
        <p:spPr>
          <a:xfrm>
            <a:off x="7113731" y="2353389"/>
            <a:ext cx="4525500" cy="2599923"/>
          </a:xfrm>
          <a:prstGeom prst="rect">
            <a:avLst/>
          </a:prstGeom>
          <a:solidFill>
            <a:schemeClr val="accent2">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pic>
        <p:nvPicPr>
          <p:cNvPr id="56" name="Graphic 55" descr="Server with solid fill">
            <a:extLst>
              <a:ext uri="{FF2B5EF4-FFF2-40B4-BE49-F238E27FC236}">
                <a16:creationId xmlns:a16="http://schemas.microsoft.com/office/drawing/2014/main" id="{9A2FE3C1-944D-9811-925F-4D0B5040DA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93968" y="2247941"/>
            <a:ext cx="265472" cy="325991"/>
          </a:xfrm>
          <a:prstGeom prst="rect">
            <a:avLst/>
          </a:prstGeom>
        </p:spPr>
      </p:pic>
      <p:sp>
        <p:nvSpPr>
          <p:cNvPr id="59" name="TextBox 58">
            <a:extLst>
              <a:ext uri="{FF2B5EF4-FFF2-40B4-BE49-F238E27FC236}">
                <a16:creationId xmlns:a16="http://schemas.microsoft.com/office/drawing/2014/main" id="{5D1ECCD2-762B-16E5-51D6-CBEA85B139EE}"/>
              </a:ext>
            </a:extLst>
          </p:cNvPr>
          <p:cNvSpPr txBox="1"/>
          <p:nvPr/>
        </p:nvSpPr>
        <p:spPr>
          <a:xfrm>
            <a:off x="7209111" y="2638751"/>
            <a:ext cx="2015964" cy="9233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2000" b="1" dirty="0">
                <a:solidFill>
                  <a:schemeClr val="accent6"/>
                </a:solidFill>
              </a:rPr>
              <a:t>ZTNA in API Gateway (Envoy)</a:t>
            </a:r>
          </a:p>
          <a:p>
            <a:pPr algn="ctr">
              <a:spcBef>
                <a:spcPts val="0"/>
              </a:spcBef>
            </a:pPr>
            <a:endParaRPr lang="en-US" sz="2000" b="1" dirty="0">
              <a:solidFill>
                <a:schemeClr val="accent6"/>
              </a:solidFill>
            </a:endParaRPr>
          </a:p>
        </p:txBody>
      </p:sp>
      <p:sp>
        <p:nvSpPr>
          <p:cNvPr id="60" name="Content Placeholder 1">
            <a:extLst>
              <a:ext uri="{FF2B5EF4-FFF2-40B4-BE49-F238E27FC236}">
                <a16:creationId xmlns:a16="http://schemas.microsoft.com/office/drawing/2014/main" id="{8B201AA2-86B4-0BBF-D826-D0461408F9A6}"/>
              </a:ext>
            </a:extLst>
          </p:cNvPr>
          <p:cNvSpPr txBox="1">
            <a:spLocks/>
          </p:cNvSpPr>
          <p:nvPr/>
        </p:nvSpPr>
        <p:spPr>
          <a:xfrm>
            <a:off x="7162724" y="2098067"/>
            <a:ext cx="4450740"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API Gateway and Server Application host</a:t>
            </a:r>
            <a:endParaRPr lang="en-US" sz="1600" noProof="0" dirty="0">
              <a:solidFill>
                <a:schemeClr val="tx1"/>
              </a:solidFill>
              <a:latin typeface="+mn-lt"/>
            </a:endParaRPr>
          </a:p>
        </p:txBody>
      </p:sp>
      <p:cxnSp>
        <p:nvCxnSpPr>
          <p:cNvPr id="73" name="Straight Arrow Connector 72">
            <a:extLst>
              <a:ext uri="{FF2B5EF4-FFF2-40B4-BE49-F238E27FC236}">
                <a16:creationId xmlns:a16="http://schemas.microsoft.com/office/drawing/2014/main" id="{3A0DD644-A182-F6DE-650D-88B7B3B231C9}"/>
              </a:ext>
            </a:extLst>
          </p:cNvPr>
          <p:cNvCxnSpPr>
            <a:cxnSpLocks/>
          </p:cNvCxnSpPr>
          <p:nvPr/>
        </p:nvCxnSpPr>
        <p:spPr>
          <a:xfrm>
            <a:off x="9201628" y="3085901"/>
            <a:ext cx="1306551" cy="790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6" name="Content Placeholder 1">
            <a:extLst>
              <a:ext uri="{FF2B5EF4-FFF2-40B4-BE49-F238E27FC236}">
                <a16:creationId xmlns:a16="http://schemas.microsoft.com/office/drawing/2014/main" id="{23737305-CC07-C3D8-4DCA-0F028CB5AAB3}"/>
              </a:ext>
            </a:extLst>
          </p:cNvPr>
          <p:cNvSpPr txBox="1">
            <a:spLocks/>
          </p:cNvSpPr>
          <p:nvPr/>
        </p:nvSpPr>
        <p:spPr>
          <a:xfrm>
            <a:off x="9266764" y="2786474"/>
            <a:ext cx="1117196" cy="2995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HTTPS/mTLS</a:t>
            </a:r>
            <a:endParaRPr lang="en-US" sz="1400" noProof="0" dirty="0">
              <a:solidFill>
                <a:schemeClr val="accent1"/>
              </a:solidFill>
              <a:latin typeface="+mn-lt"/>
            </a:endParaRPr>
          </a:p>
        </p:txBody>
      </p:sp>
      <p:sp>
        <p:nvSpPr>
          <p:cNvPr id="2" name="TextBox 1">
            <a:extLst>
              <a:ext uri="{FF2B5EF4-FFF2-40B4-BE49-F238E27FC236}">
                <a16:creationId xmlns:a16="http://schemas.microsoft.com/office/drawing/2014/main" id="{75756816-7F71-DB13-DD3A-13AD16BBDC6D}"/>
              </a:ext>
            </a:extLst>
          </p:cNvPr>
          <p:cNvSpPr txBox="1"/>
          <p:nvPr/>
        </p:nvSpPr>
        <p:spPr>
          <a:xfrm>
            <a:off x="7221245" y="4027775"/>
            <a:ext cx="2015964" cy="71558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500" b="1" dirty="0">
                <a:solidFill>
                  <a:schemeClr val="accent6"/>
                </a:solidFill>
              </a:rPr>
              <a:t>Mobile Geolocation Service (CAMARA API)</a:t>
            </a:r>
          </a:p>
          <a:p>
            <a:pPr algn="ctr">
              <a:spcBef>
                <a:spcPts val="0"/>
              </a:spcBef>
            </a:pPr>
            <a:r>
              <a:rPr lang="en-US" sz="1500" b="1" dirty="0">
                <a:solidFill>
                  <a:schemeClr val="accent6"/>
                </a:solidFill>
              </a:rPr>
              <a:t>Sidecar</a:t>
            </a:r>
          </a:p>
        </p:txBody>
      </p:sp>
      <p:cxnSp>
        <p:nvCxnSpPr>
          <p:cNvPr id="4" name="Straight Arrow Connector 3">
            <a:extLst>
              <a:ext uri="{FF2B5EF4-FFF2-40B4-BE49-F238E27FC236}">
                <a16:creationId xmlns:a16="http://schemas.microsoft.com/office/drawing/2014/main" id="{626539FD-8005-EF2D-47B7-D11343A1C783}"/>
              </a:ext>
            </a:extLst>
          </p:cNvPr>
          <p:cNvCxnSpPr>
            <a:cxnSpLocks/>
          </p:cNvCxnSpPr>
          <p:nvPr/>
        </p:nvCxnSpPr>
        <p:spPr>
          <a:xfrm>
            <a:off x="8229227" y="3571769"/>
            <a:ext cx="0" cy="44791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 name="Content Placeholder 1">
            <a:extLst>
              <a:ext uri="{FF2B5EF4-FFF2-40B4-BE49-F238E27FC236}">
                <a16:creationId xmlns:a16="http://schemas.microsoft.com/office/drawing/2014/main" id="{620C2882-B0D3-0FB8-6BD2-C308E58C4AB1}"/>
              </a:ext>
            </a:extLst>
          </p:cNvPr>
          <p:cNvSpPr txBox="1">
            <a:spLocks/>
          </p:cNvSpPr>
          <p:nvPr/>
        </p:nvSpPr>
        <p:spPr>
          <a:xfrm>
            <a:off x="7944567" y="3663986"/>
            <a:ext cx="1015633" cy="2995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HTTP</a:t>
            </a:r>
            <a:endParaRPr lang="en-US" sz="1400" noProof="0" dirty="0">
              <a:solidFill>
                <a:schemeClr val="accent1"/>
              </a:solidFill>
              <a:latin typeface="+mn-lt"/>
            </a:endParaRPr>
          </a:p>
        </p:txBody>
      </p:sp>
      <p:sp>
        <p:nvSpPr>
          <p:cNvPr id="5" name="TextBox 4">
            <a:extLst>
              <a:ext uri="{FF2B5EF4-FFF2-40B4-BE49-F238E27FC236}">
                <a16:creationId xmlns:a16="http://schemas.microsoft.com/office/drawing/2014/main" id="{9B6C6829-D95B-A381-47EF-A790032E16E0}"/>
              </a:ext>
            </a:extLst>
          </p:cNvPr>
          <p:cNvSpPr txBox="1"/>
          <p:nvPr/>
        </p:nvSpPr>
        <p:spPr>
          <a:xfrm>
            <a:off x="10391361" y="2676069"/>
            <a:ext cx="1069578" cy="729430"/>
          </a:xfrm>
          <a:prstGeom prst="rect">
            <a:avLst/>
          </a:prstGeom>
          <a:solidFill>
            <a:schemeClr val="bg1"/>
          </a:solidFill>
          <a:ln w="19050">
            <a:solidFill>
              <a:schemeClr val="accent1"/>
            </a:solidFill>
          </a:ln>
        </p:spPr>
        <p:txBody>
          <a:bodyPr wrap="square" rtlCol="0">
            <a:spAutoFit/>
          </a:bodyPr>
          <a:lstStyle/>
          <a:p>
            <a:pPr algn="ctr">
              <a:spcBef>
                <a:spcPts val="0"/>
              </a:spcBef>
            </a:pPr>
            <a:r>
              <a:rPr lang="en-US" sz="1800" b="1" dirty="0">
                <a:solidFill>
                  <a:schemeClr val="accent1"/>
                </a:solidFill>
              </a:rPr>
              <a:t>Key vault</a:t>
            </a:r>
          </a:p>
          <a:p>
            <a:pPr algn="ctr">
              <a:spcBef>
                <a:spcPts val="0"/>
              </a:spcBef>
            </a:pPr>
            <a:r>
              <a:rPr lang="en-US" sz="1400" dirty="0">
                <a:solidFill>
                  <a:schemeClr val="accent6">
                    <a:lumMod val="50000"/>
                  </a:schemeClr>
                </a:solidFill>
              </a:rPr>
              <a:t>(Server App)</a:t>
            </a:r>
          </a:p>
        </p:txBody>
      </p:sp>
      <p:sp>
        <p:nvSpPr>
          <p:cNvPr id="13" name="TextBox 12">
            <a:extLst>
              <a:ext uri="{FF2B5EF4-FFF2-40B4-BE49-F238E27FC236}">
                <a16:creationId xmlns:a16="http://schemas.microsoft.com/office/drawing/2014/main" id="{50E0ACC3-5C76-D6D6-B730-1E3DF672AC22}"/>
              </a:ext>
            </a:extLst>
          </p:cNvPr>
          <p:cNvSpPr txBox="1"/>
          <p:nvPr/>
        </p:nvSpPr>
        <p:spPr>
          <a:xfrm>
            <a:off x="7540762" y="3225732"/>
            <a:ext cx="1376931" cy="313932"/>
          </a:xfrm>
          <a:prstGeom prst="rect">
            <a:avLst/>
          </a:prstGeom>
          <a:solidFill>
            <a:schemeClr val="bg1"/>
          </a:solidFill>
          <a:ln w="12700">
            <a:solidFill>
              <a:schemeClr val="accent1"/>
            </a:solidFill>
          </a:ln>
        </p:spPr>
        <p:txBody>
          <a:bodyPr wrap="square" rtlCol="0">
            <a:spAutoFit/>
          </a:bodyPr>
          <a:lstStyle/>
          <a:p>
            <a:pPr algn="ctr">
              <a:spcBef>
                <a:spcPts val="0"/>
              </a:spcBef>
            </a:pPr>
            <a:r>
              <a:rPr lang="en-US" sz="1600" dirty="0">
                <a:solidFill>
                  <a:schemeClr val="accent6">
                    <a:lumMod val="50000"/>
                  </a:schemeClr>
                </a:solidFill>
              </a:rPr>
              <a:t>WASM plugin</a:t>
            </a:r>
          </a:p>
        </p:txBody>
      </p:sp>
      <p:sp>
        <p:nvSpPr>
          <p:cNvPr id="16" name="TextBox 15">
            <a:extLst>
              <a:ext uri="{FF2B5EF4-FFF2-40B4-BE49-F238E27FC236}">
                <a16:creationId xmlns:a16="http://schemas.microsoft.com/office/drawing/2014/main" id="{8350B4EE-242D-C561-A3EA-059A89FB48C0}"/>
              </a:ext>
            </a:extLst>
          </p:cNvPr>
          <p:cNvSpPr txBox="1"/>
          <p:nvPr/>
        </p:nvSpPr>
        <p:spPr>
          <a:xfrm>
            <a:off x="946438" y="1309095"/>
            <a:ext cx="1783037"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Host Identity (Keylime Verifier &amp; Registrar)</a:t>
            </a:r>
            <a:endParaRPr lang="en-US" sz="1800" dirty="0">
              <a:solidFill>
                <a:schemeClr val="accent6"/>
              </a:solidFill>
            </a:endParaRPr>
          </a:p>
        </p:txBody>
      </p:sp>
      <p:sp>
        <p:nvSpPr>
          <p:cNvPr id="17" name="TextBox 16">
            <a:extLst>
              <a:ext uri="{FF2B5EF4-FFF2-40B4-BE49-F238E27FC236}">
                <a16:creationId xmlns:a16="http://schemas.microsoft.com/office/drawing/2014/main" id="{0B7422E1-EF6A-5A6F-AA66-3DA9EBB0114E}"/>
              </a:ext>
            </a:extLst>
          </p:cNvPr>
          <p:cNvSpPr txBox="1"/>
          <p:nvPr/>
        </p:nvSpPr>
        <p:spPr>
          <a:xfrm>
            <a:off x="2959214" y="1308981"/>
            <a:ext cx="1517123"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Workload Identity (Spire Server)</a:t>
            </a:r>
            <a:endParaRPr lang="en-US" sz="1800" dirty="0">
              <a:solidFill>
                <a:schemeClr val="accent6"/>
              </a:solidFill>
            </a:endParaRPr>
          </a:p>
        </p:txBody>
      </p:sp>
      <p:cxnSp>
        <p:nvCxnSpPr>
          <p:cNvPr id="27" name="Straight Arrow Connector 26">
            <a:extLst>
              <a:ext uri="{FF2B5EF4-FFF2-40B4-BE49-F238E27FC236}">
                <a16:creationId xmlns:a16="http://schemas.microsoft.com/office/drawing/2014/main" id="{05292CE6-89FC-31A7-2D63-88538905A909}"/>
              </a:ext>
            </a:extLst>
          </p:cNvPr>
          <p:cNvCxnSpPr>
            <a:cxnSpLocks/>
            <a:stCxn id="16" idx="3"/>
            <a:endCxn id="17" idx="1"/>
          </p:cNvCxnSpPr>
          <p:nvPr/>
        </p:nvCxnSpPr>
        <p:spPr>
          <a:xfrm flipV="1">
            <a:off x="2729475" y="1729096"/>
            <a:ext cx="229739" cy="11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481E517-3B68-32BD-A5A9-6AEADF47213F}"/>
              </a:ext>
            </a:extLst>
          </p:cNvPr>
          <p:cNvGrpSpPr/>
          <p:nvPr/>
        </p:nvGrpSpPr>
        <p:grpSpPr>
          <a:xfrm>
            <a:off x="10153547" y="3584232"/>
            <a:ext cx="1414448" cy="660156"/>
            <a:chOff x="5703725" y="4021545"/>
            <a:chExt cx="2113527" cy="660156"/>
          </a:xfrm>
        </p:grpSpPr>
        <p:sp>
          <p:nvSpPr>
            <p:cNvPr id="22" name="Rounded Rectangle 38">
              <a:extLst>
                <a:ext uri="{FF2B5EF4-FFF2-40B4-BE49-F238E27FC236}">
                  <a16:creationId xmlns:a16="http://schemas.microsoft.com/office/drawing/2014/main" id="{BAC5302F-BFE0-DD25-FF3D-930019F656CA}"/>
                </a:ext>
              </a:extLst>
            </p:cNvPr>
            <p:cNvSpPr/>
            <p:nvPr/>
          </p:nvSpPr>
          <p:spPr>
            <a:xfrm>
              <a:off x="5760688" y="4021545"/>
              <a:ext cx="2056564" cy="655411"/>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23" name="TextBox 22">
              <a:extLst>
                <a:ext uri="{FF2B5EF4-FFF2-40B4-BE49-F238E27FC236}">
                  <a16:creationId xmlns:a16="http://schemas.microsoft.com/office/drawing/2014/main" id="{B2DA7D77-C788-627D-C3B9-23BD17784C29}"/>
                </a:ext>
              </a:extLst>
            </p:cNvPr>
            <p:cNvSpPr txBox="1"/>
            <p:nvPr/>
          </p:nvSpPr>
          <p:spPr>
            <a:xfrm>
              <a:off x="6348054" y="4065408"/>
              <a:ext cx="1290242" cy="342658"/>
            </a:xfrm>
            <a:prstGeom prst="rect">
              <a:avLst/>
            </a:prstGeom>
            <a:noFill/>
          </p:spPr>
          <p:txBody>
            <a:bodyPr wrap="square" rtlCol="0">
              <a:spAutoFit/>
            </a:bodyPr>
            <a:lstStyle/>
            <a:p>
              <a:pPr algn="ctr"/>
              <a:r>
                <a:rPr lang="en-US" sz="1800" b="1" noProof="0" dirty="0"/>
                <a:t>HSM</a:t>
              </a:r>
              <a:endParaRPr lang="en-US" sz="1200" i="1" noProof="0" dirty="0"/>
            </a:p>
          </p:txBody>
        </p:sp>
        <p:pic>
          <p:nvPicPr>
            <p:cNvPr id="25" name="Picture 4" descr="Private key - Free security icons">
              <a:extLst>
                <a:ext uri="{FF2B5EF4-FFF2-40B4-BE49-F238E27FC236}">
                  <a16:creationId xmlns:a16="http://schemas.microsoft.com/office/drawing/2014/main" id="{50E21A6D-2F69-8F2A-9346-6619F377857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03725" y="4034287"/>
              <a:ext cx="834232" cy="647414"/>
            </a:xfrm>
            <a:prstGeom prst="rect">
              <a:avLst/>
            </a:prstGeom>
            <a:noFill/>
            <a:extLst>
              <a:ext uri="{909E8E84-426E-40DD-AFC4-6F175D3DCCD1}">
                <a14:hiddenFill xmlns:a14="http://schemas.microsoft.com/office/drawing/2010/main">
                  <a:solidFill>
                    <a:srgbClr val="FFFFFF"/>
                  </a:solidFill>
                </a14:hiddenFill>
              </a:ext>
            </a:extLst>
          </p:spPr>
        </p:pic>
      </p:grpSp>
      <p:sp>
        <p:nvSpPr>
          <p:cNvPr id="64" name="Content Placeholder 1">
            <a:extLst>
              <a:ext uri="{FF2B5EF4-FFF2-40B4-BE49-F238E27FC236}">
                <a16:creationId xmlns:a16="http://schemas.microsoft.com/office/drawing/2014/main" id="{DCD51D71-D897-C8B6-E635-986C92C98F9F}"/>
              </a:ext>
            </a:extLst>
          </p:cNvPr>
          <p:cNvSpPr txBox="1">
            <a:spLocks/>
          </p:cNvSpPr>
          <p:nvPr/>
        </p:nvSpPr>
        <p:spPr>
          <a:xfrm>
            <a:off x="889636" y="949721"/>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Control Plane host</a:t>
            </a:r>
          </a:p>
        </p:txBody>
      </p:sp>
      <p:pic>
        <p:nvPicPr>
          <p:cNvPr id="65" name="Graphic 64" descr="Server with solid fill">
            <a:extLst>
              <a:ext uri="{FF2B5EF4-FFF2-40B4-BE49-F238E27FC236}">
                <a16:creationId xmlns:a16="http://schemas.microsoft.com/office/drawing/2014/main" id="{23CBD17A-8C82-DE60-1284-68345F885A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48" y="1006788"/>
            <a:ext cx="265472" cy="325991"/>
          </a:xfrm>
          <a:prstGeom prst="rect">
            <a:avLst/>
          </a:prstGeom>
        </p:spPr>
      </p:pic>
    </p:spTree>
    <p:extLst>
      <p:ext uri="{BB962C8B-B14F-4D97-AF65-F5344CB8AC3E}">
        <p14:creationId xmlns:p14="http://schemas.microsoft.com/office/powerpoint/2010/main" val="62071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C872E-522D-85E1-CEB3-7869AB45D68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C4783CFD-0D7E-9DC8-FBA5-9C3590DE3238}"/>
              </a:ext>
            </a:extLst>
          </p:cNvPr>
          <p:cNvGrpSpPr/>
          <p:nvPr/>
        </p:nvGrpSpPr>
        <p:grpSpPr>
          <a:xfrm>
            <a:off x="26706" y="1770250"/>
            <a:ext cx="764246" cy="1226633"/>
            <a:chOff x="26706" y="797790"/>
            <a:chExt cx="764246" cy="1226633"/>
          </a:xfrm>
        </p:grpSpPr>
        <p:pic>
          <p:nvPicPr>
            <p:cNvPr id="47" name="Picture 6" descr="UAYESOK Heavy Duty Magnetic Mount Mobile Antenna Dual-Band 2m 70cm VHF/UHF  Mag Base Antenna PL-259 Plug for Vehicel Truck SUV Mobile Radio Scanner ...">
              <a:extLst>
                <a:ext uri="{FF2B5EF4-FFF2-40B4-BE49-F238E27FC236}">
                  <a16:creationId xmlns:a16="http://schemas.microsoft.com/office/drawing/2014/main" id="{86A9EEBF-8933-681C-26D3-06DEDB9F4C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706" y="857524"/>
              <a:ext cx="764246" cy="89709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85F5D6A1-BC78-0C9E-48AB-3B09DE830A2C}"/>
                </a:ext>
              </a:extLst>
            </p:cNvPr>
            <p:cNvPicPr>
              <a:picLocks noChangeAspect="1"/>
            </p:cNvPicPr>
            <p:nvPr/>
          </p:nvPicPr>
          <p:blipFill>
            <a:blip r:embed="rId4"/>
            <a:stretch>
              <a:fillRect/>
            </a:stretch>
          </p:blipFill>
          <p:spPr>
            <a:xfrm>
              <a:off x="143391" y="797790"/>
              <a:ext cx="528270" cy="295325"/>
            </a:xfrm>
            <a:prstGeom prst="rect">
              <a:avLst/>
            </a:prstGeom>
          </p:spPr>
        </p:pic>
        <p:sp>
          <p:nvSpPr>
            <p:cNvPr id="15" name="TextBox 14">
              <a:extLst>
                <a:ext uri="{FF2B5EF4-FFF2-40B4-BE49-F238E27FC236}">
                  <a16:creationId xmlns:a16="http://schemas.microsoft.com/office/drawing/2014/main" id="{2DF85912-15A5-80D1-4AD1-4AC7B138C63A}"/>
                </a:ext>
              </a:extLst>
            </p:cNvPr>
            <p:cNvSpPr txBox="1"/>
            <p:nvPr/>
          </p:nvSpPr>
          <p:spPr>
            <a:xfrm>
              <a:off x="130954" y="1765891"/>
              <a:ext cx="565541" cy="2585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RAN</a:t>
              </a:r>
            </a:p>
          </p:txBody>
        </p:sp>
      </p:grpSp>
      <p:sp>
        <p:nvSpPr>
          <p:cNvPr id="43" name="Google Shape;301;p13">
            <a:extLst>
              <a:ext uri="{FF2B5EF4-FFF2-40B4-BE49-F238E27FC236}">
                <a16:creationId xmlns:a16="http://schemas.microsoft.com/office/drawing/2014/main" id="{4E37E862-05C3-4BD5-622B-851C26099F2D}"/>
              </a:ext>
            </a:extLst>
          </p:cNvPr>
          <p:cNvSpPr/>
          <p:nvPr/>
        </p:nvSpPr>
        <p:spPr>
          <a:xfrm>
            <a:off x="840036" y="1363360"/>
            <a:ext cx="4884106" cy="1020030"/>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sp>
        <p:nvSpPr>
          <p:cNvPr id="3" name="Title 2">
            <a:extLst>
              <a:ext uri="{FF2B5EF4-FFF2-40B4-BE49-F238E27FC236}">
                <a16:creationId xmlns:a16="http://schemas.microsoft.com/office/drawing/2014/main" id="{AA7E8AB5-7B31-6789-3029-A9A758AD6605}"/>
              </a:ext>
            </a:extLst>
          </p:cNvPr>
          <p:cNvSpPr>
            <a:spLocks noGrp="1"/>
          </p:cNvSpPr>
          <p:nvPr>
            <p:ph type="title"/>
          </p:nvPr>
        </p:nvSpPr>
        <p:spPr>
          <a:xfrm>
            <a:off x="23944" y="69294"/>
            <a:ext cx="11832413" cy="459342"/>
          </a:xfrm>
        </p:spPr>
        <p:txBody>
          <a:bodyPr>
            <a:noAutofit/>
          </a:bodyPr>
          <a:lstStyle/>
          <a:p>
            <a:r>
              <a:rPr lang="en-US" dirty="0">
                <a:solidFill>
                  <a:schemeClr val="accent6"/>
                </a:solidFill>
              </a:rPr>
              <a:t>Demo Act 2.1 – The Happy Path (Proof of Geofencing) </a:t>
            </a:r>
          </a:p>
        </p:txBody>
      </p:sp>
      <p:sp>
        <p:nvSpPr>
          <p:cNvPr id="34" name="Google Shape;301;p13">
            <a:extLst>
              <a:ext uri="{FF2B5EF4-FFF2-40B4-BE49-F238E27FC236}">
                <a16:creationId xmlns:a16="http://schemas.microsoft.com/office/drawing/2014/main" id="{784185D6-2BB3-72E1-DD20-D3872E3D07C3}"/>
              </a:ext>
            </a:extLst>
          </p:cNvPr>
          <p:cNvSpPr/>
          <p:nvPr/>
        </p:nvSpPr>
        <p:spPr>
          <a:xfrm>
            <a:off x="850588" y="2864056"/>
            <a:ext cx="4884106" cy="2245619"/>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pic>
        <p:nvPicPr>
          <p:cNvPr id="37" name="Graphic 36" descr="Server with solid fill">
            <a:extLst>
              <a:ext uri="{FF2B5EF4-FFF2-40B4-BE49-F238E27FC236}">
                <a16:creationId xmlns:a16="http://schemas.microsoft.com/office/drawing/2014/main" id="{F41867E2-DCC0-AAF8-CC43-7BA80D3A644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3569" y="2721929"/>
            <a:ext cx="265472" cy="325991"/>
          </a:xfrm>
          <a:prstGeom prst="rect">
            <a:avLst/>
          </a:prstGeom>
        </p:spPr>
      </p:pic>
      <p:sp>
        <p:nvSpPr>
          <p:cNvPr id="45" name="TextBox 44">
            <a:extLst>
              <a:ext uri="{FF2B5EF4-FFF2-40B4-BE49-F238E27FC236}">
                <a16:creationId xmlns:a16="http://schemas.microsoft.com/office/drawing/2014/main" id="{00A54216-0815-4DD0-A4A4-01FDD9A11BCE}"/>
              </a:ext>
            </a:extLst>
          </p:cNvPr>
          <p:cNvSpPr txBox="1"/>
          <p:nvPr/>
        </p:nvSpPr>
        <p:spPr>
          <a:xfrm>
            <a:off x="4108121" y="2939796"/>
            <a:ext cx="1602978" cy="840230"/>
          </a:xfrm>
          <a:prstGeom prst="rect">
            <a:avLst/>
          </a:prstGeom>
          <a:solidFill>
            <a:schemeClr val="bg1"/>
          </a:solidFill>
          <a:ln w="19050">
            <a:solidFill>
              <a:schemeClr val="accent1"/>
            </a:solidFill>
          </a:ln>
        </p:spPr>
        <p:txBody>
          <a:bodyPr wrap="square" rtlCol="0">
            <a:spAutoFit/>
          </a:bodyPr>
          <a:lstStyle/>
          <a:p>
            <a:pPr algn="ctr">
              <a:spcBef>
                <a:spcPts val="0"/>
              </a:spcBef>
            </a:pPr>
            <a:endParaRPr lang="en-US" sz="1800" dirty="0">
              <a:solidFill>
                <a:schemeClr val="accent6">
                  <a:lumMod val="50000"/>
                </a:schemeClr>
              </a:solidFill>
            </a:endParaRPr>
          </a:p>
          <a:p>
            <a:pPr algn="ctr">
              <a:spcBef>
                <a:spcPts val="0"/>
              </a:spcBef>
            </a:pPr>
            <a:r>
              <a:rPr lang="en-US" sz="1800" dirty="0">
                <a:solidFill>
                  <a:schemeClr val="accent6">
                    <a:lumMod val="50000"/>
                  </a:schemeClr>
                </a:solidFill>
              </a:rPr>
              <a:t>Inference App (</a:t>
            </a:r>
            <a:r>
              <a:rPr lang="en-US" sz="1400" dirty="0">
                <a:solidFill>
                  <a:schemeClr val="accent6">
                    <a:lumMod val="50000"/>
                  </a:schemeClr>
                </a:solidFill>
              </a:rPr>
              <a:t>Client App)</a:t>
            </a:r>
          </a:p>
        </p:txBody>
      </p:sp>
      <p:sp>
        <p:nvSpPr>
          <p:cNvPr id="46" name="Content Placeholder 1">
            <a:extLst>
              <a:ext uri="{FF2B5EF4-FFF2-40B4-BE49-F238E27FC236}">
                <a16:creationId xmlns:a16="http://schemas.microsoft.com/office/drawing/2014/main" id="{AE220117-D4F9-6CBF-976F-F125403F380D}"/>
              </a:ext>
            </a:extLst>
          </p:cNvPr>
          <p:cNvSpPr txBox="1">
            <a:spLocks/>
          </p:cNvSpPr>
          <p:nvPr/>
        </p:nvSpPr>
        <p:spPr>
          <a:xfrm>
            <a:off x="895994" y="2610801"/>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Location Anchor &amp; Client Application BM host</a:t>
            </a:r>
          </a:p>
        </p:txBody>
      </p:sp>
      <p:cxnSp>
        <p:nvCxnSpPr>
          <p:cNvPr id="50" name="Straight Connector 49">
            <a:extLst>
              <a:ext uri="{FF2B5EF4-FFF2-40B4-BE49-F238E27FC236}">
                <a16:creationId xmlns:a16="http://schemas.microsoft.com/office/drawing/2014/main" id="{36EAA5AC-9C9B-E5A6-6B5E-3AACD3060DC5}"/>
              </a:ext>
            </a:extLst>
          </p:cNvPr>
          <p:cNvCxnSpPr>
            <a:cxnSpLocks/>
          </p:cNvCxnSpPr>
          <p:nvPr/>
        </p:nvCxnSpPr>
        <p:spPr>
          <a:xfrm>
            <a:off x="6403403" y="1348233"/>
            <a:ext cx="0" cy="5194552"/>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046D0DBA-CDEC-9353-C582-3E0B8711EACA}"/>
              </a:ext>
            </a:extLst>
          </p:cNvPr>
          <p:cNvGrpSpPr/>
          <p:nvPr/>
        </p:nvGrpSpPr>
        <p:grpSpPr>
          <a:xfrm>
            <a:off x="4295768" y="4620313"/>
            <a:ext cx="1007465" cy="426498"/>
            <a:chOff x="5703725" y="3536385"/>
            <a:chExt cx="2113527" cy="1145316"/>
          </a:xfrm>
        </p:grpSpPr>
        <p:sp>
          <p:nvSpPr>
            <p:cNvPr id="9" name="Rounded Rectangle 38">
              <a:extLst>
                <a:ext uri="{FF2B5EF4-FFF2-40B4-BE49-F238E27FC236}">
                  <a16:creationId xmlns:a16="http://schemas.microsoft.com/office/drawing/2014/main" id="{8FD10C0A-1CA6-FE1C-B7D1-E7C708D8E045}"/>
                </a:ext>
              </a:extLst>
            </p:cNvPr>
            <p:cNvSpPr/>
            <p:nvPr/>
          </p:nvSpPr>
          <p:spPr>
            <a:xfrm>
              <a:off x="5760688" y="3536385"/>
              <a:ext cx="2056564" cy="114057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10" name="TextBox 9">
              <a:extLst>
                <a:ext uri="{FF2B5EF4-FFF2-40B4-BE49-F238E27FC236}">
                  <a16:creationId xmlns:a16="http://schemas.microsoft.com/office/drawing/2014/main" id="{65385EED-EAD3-6ECA-7B42-B20D9CEE8CC5}"/>
                </a:ext>
              </a:extLst>
            </p:cNvPr>
            <p:cNvSpPr txBox="1"/>
            <p:nvPr/>
          </p:nvSpPr>
          <p:spPr>
            <a:xfrm>
              <a:off x="6170429" y="3898932"/>
              <a:ext cx="1290240" cy="524952"/>
            </a:xfrm>
            <a:prstGeom prst="rect">
              <a:avLst/>
            </a:prstGeom>
            <a:noFill/>
          </p:spPr>
          <p:txBody>
            <a:bodyPr wrap="square" rtlCol="0">
              <a:spAutoFit/>
            </a:bodyPr>
            <a:lstStyle/>
            <a:p>
              <a:pPr algn="ctr"/>
              <a:r>
                <a:rPr lang="en-US" sz="1600" b="1" noProof="0" dirty="0"/>
                <a:t>TPM</a:t>
              </a:r>
              <a:endParaRPr lang="en-US" sz="1600" i="1" noProof="0" dirty="0"/>
            </a:p>
          </p:txBody>
        </p:sp>
        <p:pic>
          <p:nvPicPr>
            <p:cNvPr id="11" name="Picture 4" descr="Private key - Free security icons">
              <a:extLst>
                <a:ext uri="{FF2B5EF4-FFF2-40B4-BE49-F238E27FC236}">
                  <a16:creationId xmlns:a16="http://schemas.microsoft.com/office/drawing/2014/main" id="{4B8FA816-6658-76BF-A488-D122B101ACC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03725" y="4034287"/>
              <a:ext cx="634384" cy="647414"/>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TextBox 11">
            <a:extLst>
              <a:ext uri="{FF2B5EF4-FFF2-40B4-BE49-F238E27FC236}">
                <a16:creationId xmlns:a16="http://schemas.microsoft.com/office/drawing/2014/main" id="{AB9F835D-0EA5-B330-511F-3F6970EB2343}"/>
              </a:ext>
            </a:extLst>
          </p:cNvPr>
          <p:cNvSpPr txBox="1"/>
          <p:nvPr/>
        </p:nvSpPr>
        <p:spPr>
          <a:xfrm>
            <a:off x="903579" y="4625940"/>
            <a:ext cx="2616502" cy="4247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Mobile location sensor                               (e.g., USB tethered smartphone)</a:t>
            </a:r>
          </a:p>
        </p:txBody>
      </p:sp>
      <p:sp>
        <p:nvSpPr>
          <p:cNvPr id="16" name="TextBox 15">
            <a:extLst>
              <a:ext uri="{FF2B5EF4-FFF2-40B4-BE49-F238E27FC236}">
                <a16:creationId xmlns:a16="http://schemas.microsoft.com/office/drawing/2014/main" id="{927152C9-A6DF-5830-6553-443E13CEF2FD}"/>
              </a:ext>
            </a:extLst>
          </p:cNvPr>
          <p:cNvSpPr txBox="1"/>
          <p:nvPr/>
        </p:nvSpPr>
        <p:spPr>
          <a:xfrm>
            <a:off x="946438" y="1456326"/>
            <a:ext cx="1783037"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Host Identity (Keylime Verifier &amp; Registrar)</a:t>
            </a:r>
            <a:endParaRPr lang="en-US" sz="1800" dirty="0">
              <a:solidFill>
                <a:schemeClr val="accent6"/>
              </a:solidFill>
            </a:endParaRPr>
          </a:p>
        </p:txBody>
      </p:sp>
      <p:sp>
        <p:nvSpPr>
          <p:cNvPr id="17" name="TextBox 16">
            <a:extLst>
              <a:ext uri="{FF2B5EF4-FFF2-40B4-BE49-F238E27FC236}">
                <a16:creationId xmlns:a16="http://schemas.microsoft.com/office/drawing/2014/main" id="{3BF2BFE6-CFAA-00C5-2293-8425BD984C60}"/>
              </a:ext>
            </a:extLst>
          </p:cNvPr>
          <p:cNvSpPr txBox="1"/>
          <p:nvPr/>
        </p:nvSpPr>
        <p:spPr>
          <a:xfrm>
            <a:off x="2959214" y="1456212"/>
            <a:ext cx="1517123"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Workload Identity (Spire Server)</a:t>
            </a:r>
            <a:endParaRPr lang="en-US" sz="1800" dirty="0">
              <a:solidFill>
                <a:schemeClr val="accent6"/>
              </a:solidFill>
            </a:endParaRPr>
          </a:p>
        </p:txBody>
      </p:sp>
      <p:sp>
        <p:nvSpPr>
          <p:cNvPr id="18" name="TextBox 17">
            <a:extLst>
              <a:ext uri="{FF2B5EF4-FFF2-40B4-BE49-F238E27FC236}">
                <a16:creationId xmlns:a16="http://schemas.microsoft.com/office/drawing/2014/main" id="{1946D43A-C441-20E9-D2C7-795A2565CF5D}"/>
              </a:ext>
            </a:extLst>
          </p:cNvPr>
          <p:cNvSpPr txBox="1"/>
          <p:nvPr/>
        </p:nvSpPr>
        <p:spPr>
          <a:xfrm>
            <a:off x="946438" y="3919834"/>
            <a:ext cx="976743"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Keylime Agent</a:t>
            </a:r>
            <a:endParaRPr lang="en-US" sz="1800" dirty="0">
              <a:solidFill>
                <a:schemeClr val="accent6"/>
              </a:solidFill>
            </a:endParaRPr>
          </a:p>
        </p:txBody>
      </p:sp>
      <p:sp>
        <p:nvSpPr>
          <p:cNvPr id="19" name="TextBox 18">
            <a:extLst>
              <a:ext uri="{FF2B5EF4-FFF2-40B4-BE49-F238E27FC236}">
                <a16:creationId xmlns:a16="http://schemas.microsoft.com/office/drawing/2014/main" id="{69376F70-DF60-01CD-BBD2-3E999C528373}"/>
              </a:ext>
            </a:extLst>
          </p:cNvPr>
          <p:cNvSpPr txBox="1"/>
          <p:nvPr/>
        </p:nvSpPr>
        <p:spPr>
          <a:xfrm>
            <a:off x="2207312" y="3919833"/>
            <a:ext cx="101081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Agent</a:t>
            </a:r>
            <a:endParaRPr lang="en-US" sz="1800" dirty="0">
              <a:solidFill>
                <a:schemeClr val="accent6"/>
              </a:solidFill>
            </a:endParaRPr>
          </a:p>
        </p:txBody>
      </p:sp>
      <p:sp>
        <p:nvSpPr>
          <p:cNvPr id="20" name="TextBox 19">
            <a:extLst>
              <a:ext uri="{FF2B5EF4-FFF2-40B4-BE49-F238E27FC236}">
                <a16:creationId xmlns:a16="http://schemas.microsoft.com/office/drawing/2014/main" id="{F455B937-8F64-F570-0525-C3D0951F937B}"/>
              </a:ext>
            </a:extLst>
          </p:cNvPr>
          <p:cNvSpPr txBox="1"/>
          <p:nvPr/>
        </p:nvSpPr>
        <p:spPr>
          <a:xfrm>
            <a:off x="3501498" y="3915835"/>
            <a:ext cx="117367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TPM Plugin</a:t>
            </a:r>
            <a:endParaRPr lang="en-US" sz="1800" dirty="0">
              <a:solidFill>
                <a:schemeClr val="accent6"/>
              </a:solidFill>
            </a:endParaRPr>
          </a:p>
        </p:txBody>
      </p:sp>
      <p:cxnSp>
        <p:nvCxnSpPr>
          <p:cNvPr id="21" name="Straight Arrow Connector 20">
            <a:extLst>
              <a:ext uri="{FF2B5EF4-FFF2-40B4-BE49-F238E27FC236}">
                <a16:creationId xmlns:a16="http://schemas.microsoft.com/office/drawing/2014/main" id="{AD511685-6144-30AA-AE35-F2B00C196B17}"/>
              </a:ext>
            </a:extLst>
          </p:cNvPr>
          <p:cNvCxnSpPr>
            <a:cxnSpLocks/>
            <a:stCxn id="45" idx="2"/>
          </p:cNvCxnSpPr>
          <p:nvPr/>
        </p:nvCxnSpPr>
        <p:spPr>
          <a:xfrm flipH="1">
            <a:off x="2668793" y="3780026"/>
            <a:ext cx="2240817" cy="11354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8095F21-2C36-AEED-1752-5781B0E5FBDE}"/>
              </a:ext>
            </a:extLst>
          </p:cNvPr>
          <p:cNvCxnSpPr>
            <a:cxnSpLocks/>
            <a:stCxn id="19" idx="0"/>
            <a:endCxn id="17" idx="2"/>
          </p:cNvCxnSpPr>
          <p:nvPr/>
        </p:nvCxnSpPr>
        <p:spPr>
          <a:xfrm flipV="1">
            <a:off x="2712717" y="2296442"/>
            <a:ext cx="1005059" cy="162339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21B9401-3E4D-09EE-46E5-B1B7F9BB22D3}"/>
              </a:ext>
            </a:extLst>
          </p:cNvPr>
          <p:cNvSpPr txBox="1"/>
          <p:nvPr/>
        </p:nvSpPr>
        <p:spPr>
          <a:xfrm>
            <a:off x="0" y="5153524"/>
            <a:ext cx="6496473" cy="757130"/>
          </a:xfrm>
          <a:prstGeom prst="rect">
            <a:avLst/>
          </a:prstGeom>
          <a:noFill/>
        </p:spPr>
        <p:txBody>
          <a:bodyPr wrap="square">
            <a:spAutoFit/>
          </a:bodyPr>
          <a:lstStyle/>
          <a:p>
            <a:pPr algn="l">
              <a:spcBef>
                <a:spcPts val="0"/>
              </a:spcBef>
              <a:buNone/>
            </a:pPr>
            <a:r>
              <a:rPr lang="en-US" sz="1600" b="1" i="0" dirty="0">
                <a:solidFill>
                  <a:srgbClr val="1F2328"/>
                </a:solidFill>
                <a:effectLst/>
                <a:latin typeface="-apple-system"/>
              </a:rPr>
              <a:t>System flow – Spire agent etc.</a:t>
            </a:r>
          </a:p>
          <a:p>
            <a:pPr marL="285750" indent="-285750" algn="l">
              <a:spcBef>
                <a:spcPts val="0"/>
              </a:spcBef>
              <a:buFont typeface="Arial" panose="020B0604020202020204" pitchFamily="34" charset="0"/>
              <a:buChar char="•"/>
            </a:pPr>
            <a:r>
              <a:rPr lang="en-US" sz="1600" b="1" dirty="0">
                <a:solidFill>
                  <a:srgbClr val="1F2328"/>
                </a:solidFill>
                <a:latin typeface="-apple-system"/>
              </a:rPr>
              <a:t>Authentication</a:t>
            </a:r>
            <a:r>
              <a:rPr lang="en-US" sz="1600" dirty="0">
                <a:solidFill>
                  <a:srgbClr val="1F2328"/>
                </a:solidFill>
                <a:latin typeface="-apple-system"/>
              </a:rPr>
              <a:t>: Spire agent refreshes unified identity w/ TPM-rooted key and TPM-attested geolocation from spire server</a:t>
            </a:r>
          </a:p>
        </p:txBody>
      </p:sp>
      <p:cxnSp>
        <p:nvCxnSpPr>
          <p:cNvPr id="27" name="Straight Arrow Connector 26">
            <a:extLst>
              <a:ext uri="{FF2B5EF4-FFF2-40B4-BE49-F238E27FC236}">
                <a16:creationId xmlns:a16="http://schemas.microsoft.com/office/drawing/2014/main" id="{E87CCC72-FF19-5AC6-000F-92125F12B9E6}"/>
              </a:ext>
            </a:extLst>
          </p:cNvPr>
          <p:cNvCxnSpPr>
            <a:cxnSpLocks/>
            <a:stCxn id="16" idx="3"/>
            <a:endCxn id="17" idx="1"/>
          </p:cNvCxnSpPr>
          <p:nvPr/>
        </p:nvCxnSpPr>
        <p:spPr>
          <a:xfrm flipV="1">
            <a:off x="2729475" y="1876327"/>
            <a:ext cx="229739" cy="11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6B9475C-025F-1A23-39BE-B36D8DF2876B}"/>
              </a:ext>
            </a:extLst>
          </p:cNvPr>
          <p:cNvCxnSpPr>
            <a:cxnSpLocks/>
            <a:stCxn id="18" idx="0"/>
            <a:endCxn id="16" idx="2"/>
          </p:cNvCxnSpPr>
          <p:nvPr/>
        </p:nvCxnSpPr>
        <p:spPr>
          <a:xfrm flipV="1">
            <a:off x="1434810" y="2296556"/>
            <a:ext cx="403147" cy="16232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61CB993-DE93-2129-4307-5E753DE5371B}"/>
              </a:ext>
            </a:extLst>
          </p:cNvPr>
          <p:cNvCxnSpPr>
            <a:cxnSpLocks/>
          </p:cNvCxnSpPr>
          <p:nvPr/>
        </p:nvCxnSpPr>
        <p:spPr>
          <a:xfrm flipH="1">
            <a:off x="1916268" y="4211301"/>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6FF1AF8-1E8D-95D9-A0F8-80E5B19D7E77}"/>
              </a:ext>
            </a:extLst>
          </p:cNvPr>
          <p:cNvCxnSpPr>
            <a:cxnSpLocks/>
            <a:stCxn id="19" idx="3"/>
            <a:endCxn id="20" idx="1"/>
          </p:cNvCxnSpPr>
          <p:nvPr/>
        </p:nvCxnSpPr>
        <p:spPr>
          <a:xfrm flipV="1">
            <a:off x="3218122" y="4211301"/>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8" name="Picture 2" descr="Free vector robotic artificial intelligence technology smart lerning from bigdata">
            <a:extLst>
              <a:ext uri="{FF2B5EF4-FFF2-40B4-BE49-F238E27FC236}">
                <a16:creationId xmlns:a16="http://schemas.microsoft.com/office/drawing/2014/main" id="{2EF7A018-E455-9E80-F964-B3E4C91084E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675168" y="2948136"/>
            <a:ext cx="417982" cy="333852"/>
          </a:xfrm>
          <a:prstGeom prst="rect">
            <a:avLst/>
          </a:prstGeom>
          <a:noFill/>
          <a:extLst>
            <a:ext uri="{909E8E84-426E-40DD-AFC4-6F175D3DCCD1}">
              <a14:hiddenFill xmlns:a14="http://schemas.microsoft.com/office/drawing/2010/main">
                <a:solidFill>
                  <a:srgbClr val="FFFFFF"/>
                </a:solidFill>
              </a14:hiddenFill>
            </a:ext>
          </a:extLst>
        </p:spPr>
      </p:pic>
      <p:sp>
        <p:nvSpPr>
          <p:cNvPr id="64" name="Content Placeholder 1">
            <a:extLst>
              <a:ext uri="{FF2B5EF4-FFF2-40B4-BE49-F238E27FC236}">
                <a16:creationId xmlns:a16="http://schemas.microsoft.com/office/drawing/2014/main" id="{E496A16A-1834-07FD-5761-488F5060DAF9}"/>
              </a:ext>
            </a:extLst>
          </p:cNvPr>
          <p:cNvSpPr txBox="1">
            <a:spLocks/>
          </p:cNvSpPr>
          <p:nvPr/>
        </p:nvSpPr>
        <p:spPr>
          <a:xfrm>
            <a:off x="889636" y="1120204"/>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Control Plane host</a:t>
            </a:r>
          </a:p>
        </p:txBody>
      </p:sp>
      <p:pic>
        <p:nvPicPr>
          <p:cNvPr id="65" name="Graphic 64" descr="Server with solid fill">
            <a:extLst>
              <a:ext uri="{FF2B5EF4-FFF2-40B4-BE49-F238E27FC236}">
                <a16:creationId xmlns:a16="http://schemas.microsoft.com/office/drawing/2014/main" id="{1877C2A0-69A0-1869-9FF4-EA010E0594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2748" y="1154019"/>
            <a:ext cx="265472" cy="325991"/>
          </a:xfrm>
          <a:prstGeom prst="rect">
            <a:avLst/>
          </a:prstGeom>
        </p:spPr>
      </p:pic>
      <p:sp>
        <p:nvSpPr>
          <p:cNvPr id="29" name="Content Placeholder 1">
            <a:extLst>
              <a:ext uri="{FF2B5EF4-FFF2-40B4-BE49-F238E27FC236}">
                <a16:creationId xmlns:a16="http://schemas.microsoft.com/office/drawing/2014/main" id="{AA11B992-47C3-41BA-7936-18A11F98E067}"/>
              </a:ext>
            </a:extLst>
          </p:cNvPr>
          <p:cNvSpPr>
            <a:spLocks noGrp="1"/>
          </p:cNvSpPr>
          <p:nvPr>
            <p:ph idx="1"/>
          </p:nvPr>
        </p:nvSpPr>
        <p:spPr>
          <a:xfrm>
            <a:off x="6403402" y="528536"/>
            <a:ext cx="5796347" cy="1002721"/>
          </a:xfrm>
        </p:spPr>
        <p:txBody>
          <a:bodyPr>
            <a:normAutofit/>
          </a:bodyPr>
          <a:lstStyle/>
          <a:p>
            <a:endParaRPr lang="en-US" b="1" dirty="0">
              <a:solidFill>
                <a:schemeClr val="accent6">
                  <a:lumMod val="50000"/>
                </a:schemeClr>
              </a:solidFill>
            </a:endParaRPr>
          </a:p>
          <a:p>
            <a:r>
              <a:rPr lang="en-US" b="1" dirty="0">
                <a:solidFill>
                  <a:schemeClr val="accent6">
                    <a:lumMod val="50000"/>
                  </a:schemeClr>
                </a:solidFill>
              </a:rPr>
              <a:t>Unified Identity Value for Spire Agent</a:t>
            </a:r>
            <a:r>
              <a:rPr lang="en-US" dirty="0">
                <a:solidFill>
                  <a:schemeClr val="accent6">
                    <a:lumMod val="50000"/>
                  </a:schemeClr>
                </a:solidFill>
              </a:rPr>
              <a:t>: You cannot peel away the host or location without invalidating the identity</a:t>
            </a:r>
          </a:p>
          <a:p>
            <a:pPr marL="457200" lvl="1" indent="0" eaLnBrk="0" fontAlgn="base" hangingPunct="0">
              <a:lnSpc>
                <a:spcPct val="100000"/>
              </a:lnSpc>
              <a:spcBef>
                <a:spcPct val="0"/>
              </a:spcBef>
              <a:spcAft>
                <a:spcPct val="0"/>
              </a:spcAft>
              <a:buNone/>
            </a:pPr>
            <a:endParaRPr lang="en-US" altLang="en-US" dirty="0">
              <a:solidFill>
                <a:schemeClr val="accent6"/>
              </a:solidFill>
              <a:latin typeface="+mn-lt"/>
            </a:endParaRPr>
          </a:p>
        </p:txBody>
      </p:sp>
      <p:sp>
        <p:nvSpPr>
          <p:cNvPr id="2" name="Oval 1">
            <a:extLst>
              <a:ext uri="{FF2B5EF4-FFF2-40B4-BE49-F238E27FC236}">
                <a16:creationId xmlns:a16="http://schemas.microsoft.com/office/drawing/2014/main" id="{4D5EADDA-AA50-BF71-F1CF-5A56B8DA0A4C}"/>
              </a:ext>
            </a:extLst>
          </p:cNvPr>
          <p:cNvSpPr/>
          <p:nvPr/>
        </p:nvSpPr>
        <p:spPr>
          <a:xfrm>
            <a:off x="7368498" y="1727766"/>
            <a:ext cx="3877063" cy="380341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1">
            <a:extLst>
              <a:ext uri="{FF2B5EF4-FFF2-40B4-BE49-F238E27FC236}">
                <a16:creationId xmlns:a16="http://schemas.microsoft.com/office/drawing/2014/main" id="{0954CA6E-AFF9-3EA3-F342-E3671CD21ACC}"/>
              </a:ext>
            </a:extLst>
          </p:cNvPr>
          <p:cNvSpPr txBox="1">
            <a:spLocks/>
          </p:cNvSpPr>
          <p:nvPr/>
        </p:nvSpPr>
        <p:spPr>
          <a:xfrm>
            <a:off x="7133631" y="1312436"/>
            <a:ext cx="3280371" cy="141778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1800" b="0" i="0" kern="1200">
                <a:solidFill>
                  <a:srgbClr val="0070C0"/>
                </a:solidFill>
                <a:latin typeface="IntelOne Display Regular" panose="020B05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Display Regular" panose="020B05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1400" b="0" i="0" kern="1200">
                <a:solidFill>
                  <a:srgbClr val="0070C0"/>
                </a:solidFill>
                <a:latin typeface="IntelOne Display Regular" panose="020B05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200" b="0" i="0" kern="1200">
                <a:solidFill>
                  <a:srgbClr val="0070C0"/>
                </a:solidFill>
                <a:latin typeface="IntelOne Display Regular" panose="020B05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000" b="0" i="0" kern="1200">
                <a:solidFill>
                  <a:srgbClr val="0070C0"/>
                </a:solidFill>
                <a:latin typeface="IntelOne Display Regular" panose="020B05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b="1" dirty="0">
              <a:solidFill>
                <a:schemeClr val="accent6">
                  <a:lumMod val="50000"/>
                </a:schemeClr>
              </a:solidFill>
            </a:endParaRPr>
          </a:p>
          <a:p>
            <a:pPr lvl="1" eaLnBrk="0" fontAlgn="base" hangingPunct="0">
              <a:lnSpc>
                <a:spcPct val="100000"/>
              </a:lnSpc>
              <a:spcBef>
                <a:spcPct val="0"/>
              </a:spcBef>
              <a:spcAft>
                <a:spcPct val="0"/>
              </a:spcAft>
            </a:pPr>
            <a:endParaRPr lang="en-US" altLang="en-US" dirty="0">
              <a:solidFill>
                <a:schemeClr val="accent6"/>
              </a:solidFill>
              <a:latin typeface="+mn-lt"/>
            </a:endParaRPr>
          </a:p>
          <a:p>
            <a:pPr marL="1371600" lvl="3" indent="0" eaLnBrk="0" fontAlgn="base" hangingPunct="0">
              <a:lnSpc>
                <a:spcPct val="100000"/>
              </a:lnSpc>
              <a:spcBef>
                <a:spcPct val="0"/>
              </a:spcBef>
              <a:spcAft>
                <a:spcPct val="0"/>
              </a:spcAft>
              <a:buNone/>
            </a:pPr>
            <a:r>
              <a:rPr lang="en-US" altLang="en-US" sz="2100" b="1" dirty="0">
                <a:solidFill>
                  <a:schemeClr val="bg1"/>
                </a:solidFill>
                <a:latin typeface="+mn-lt"/>
              </a:rPr>
              <a:t> </a:t>
            </a:r>
            <a:r>
              <a:rPr lang="en-US" altLang="en-US" sz="1800" b="1" dirty="0">
                <a:solidFill>
                  <a:schemeClr val="bg1"/>
                </a:solidFill>
                <a:latin typeface="+mn-lt"/>
              </a:rPr>
              <a:t>Spire                    Agent ID</a:t>
            </a:r>
            <a:r>
              <a:rPr lang="en-US" altLang="en-US" sz="1800" dirty="0">
                <a:solidFill>
                  <a:schemeClr val="bg1"/>
                </a:solidFill>
                <a:latin typeface="+mn-lt"/>
              </a:rPr>
              <a:t>                      (TPM rooted key)</a:t>
            </a:r>
          </a:p>
          <a:p>
            <a:pPr lvl="1" eaLnBrk="0" fontAlgn="base" hangingPunct="0">
              <a:lnSpc>
                <a:spcPct val="100000"/>
              </a:lnSpc>
              <a:spcBef>
                <a:spcPct val="0"/>
              </a:spcBef>
              <a:spcAft>
                <a:spcPct val="0"/>
              </a:spcAft>
            </a:pPr>
            <a:endParaRPr lang="en-US" altLang="en-US" sz="1900" dirty="0">
              <a:solidFill>
                <a:schemeClr val="accent6"/>
              </a:solidFill>
              <a:latin typeface="+mn-lt"/>
            </a:endParaRPr>
          </a:p>
          <a:p>
            <a:endParaRPr lang="en-US" sz="1600" dirty="0"/>
          </a:p>
          <a:p>
            <a:endParaRPr lang="en-US" dirty="0"/>
          </a:p>
        </p:txBody>
      </p:sp>
      <p:sp>
        <p:nvSpPr>
          <p:cNvPr id="13" name="Oval 12">
            <a:extLst>
              <a:ext uri="{FF2B5EF4-FFF2-40B4-BE49-F238E27FC236}">
                <a16:creationId xmlns:a16="http://schemas.microsoft.com/office/drawing/2014/main" id="{CE6C6C68-802E-33B6-3193-A1E1601F8025}"/>
              </a:ext>
            </a:extLst>
          </p:cNvPr>
          <p:cNvSpPr/>
          <p:nvPr/>
        </p:nvSpPr>
        <p:spPr>
          <a:xfrm>
            <a:off x="8219551" y="2584453"/>
            <a:ext cx="2110711" cy="208213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1">
            <a:extLst>
              <a:ext uri="{FF2B5EF4-FFF2-40B4-BE49-F238E27FC236}">
                <a16:creationId xmlns:a16="http://schemas.microsoft.com/office/drawing/2014/main" id="{297BFBE1-BDEF-98B3-1092-2925D8A760C7}"/>
              </a:ext>
            </a:extLst>
          </p:cNvPr>
          <p:cNvSpPr txBox="1">
            <a:spLocks/>
          </p:cNvSpPr>
          <p:nvPr/>
        </p:nvSpPr>
        <p:spPr>
          <a:xfrm>
            <a:off x="7201938" y="2490471"/>
            <a:ext cx="3153011" cy="159573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1800" b="0" i="0" kern="1200">
                <a:solidFill>
                  <a:srgbClr val="0070C0"/>
                </a:solidFill>
                <a:latin typeface="IntelOne Display Regular" panose="020B05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Display Regular" panose="020B05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1400" b="0" i="0" kern="1200">
                <a:solidFill>
                  <a:srgbClr val="0070C0"/>
                </a:solidFill>
                <a:latin typeface="IntelOne Display Regular" panose="020B05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200" b="0" i="0" kern="1200">
                <a:solidFill>
                  <a:srgbClr val="0070C0"/>
                </a:solidFill>
                <a:latin typeface="IntelOne Display Regular" panose="020B05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000" b="0" i="0" kern="1200">
                <a:solidFill>
                  <a:srgbClr val="0070C0"/>
                </a:solidFill>
                <a:latin typeface="IntelOne Display Regular" panose="020B05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b="1" dirty="0">
              <a:solidFill>
                <a:schemeClr val="accent6">
                  <a:lumMod val="50000"/>
                </a:schemeClr>
              </a:solidFill>
            </a:endParaRPr>
          </a:p>
          <a:p>
            <a:pPr lvl="1" eaLnBrk="0" fontAlgn="base" hangingPunct="0">
              <a:lnSpc>
                <a:spcPct val="100000"/>
              </a:lnSpc>
              <a:spcBef>
                <a:spcPct val="0"/>
              </a:spcBef>
              <a:spcAft>
                <a:spcPct val="0"/>
              </a:spcAft>
            </a:pPr>
            <a:endParaRPr lang="en-US" altLang="en-US" dirty="0">
              <a:solidFill>
                <a:schemeClr val="accent6"/>
              </a:solidFill>
              <a:latin typeface="+mn-lt"/>
            </a:endParaRPr>
          </a:p>
          <a:p>
            <a:pPr marL="457200" lvl="1" indent="0" eaLnBrk="0" fontAlgn="base" hangingPunct="0">
              <a:lnSpc>
                <a:spcPct val="100000"/>
              </a:lnSpc>
              <a:spcBef>
                <a:spcPct val="0"/>
              </a:spcBef>
              <a:spcAft>
                <a:spcPct val="0"/>
              </a:spcAft>
              <a:buNone/>
            </a:pPr>
            <a:endParaRPr lang="en-US" altLang="en-US" dirty="0">
              <a:solidFill>
                <a:schemeClr val="accent6"/>
              </a:solidFill>
              <a:latin typeface="+mn-lt"/>
            </a:endParaRPr>
          </a:p>
          <a:p>
            <a:pPr marL="1371600" lvl="3" indent="0" eaLnBrk="0" fontAlgn="base" hangingPunct="0">
              <a:lnSpc>
                <a:spcPct val="100000"/>
              </a:lnSpc>
              <a:spcBef>
                <a:spcPct val="0"/>
              </a:spcBef>
              <a:spcAft>
                <a:spcPct val="0"/>
              </a:spcAft>
              <a:buNone/>
            </a:pPr>
            <a:r>
              <a:rPr lang="en-US" altLang="en-US" sz="1900" b="1" dirty="0">
                <a:solidFill>
                  <a:schemeClr val="bg1"/>
                </a:solidFill>
                <a:latin typeface="+mn-lt"/>
              </a:rPr>
              <a:t>Location   Sensor ID</a:t>
            </a:r>
            <a:endParaRPr lang="en-US" altLang="en-US" sz="1900" dirty="0">
              <a:solidFill>
                <a:schemeClr val="bg1"/>
              </a:solidFill>
              <a:latin typeface="+mn-lt"/>
            </a:endParaRPr>
          </a:p>
          <a:p>
            <a:pPr marL="1371600" lvl="3" indent="0" eaLnBrk="0" fontAlgn="base" hangingPunct="0">
              <a:lnSpc>
                <a:spcPct val="100000"/>
              </a:lnSpc>
              <a:spcBef>
                <a:spcPct val="0"/>
              </a:spcBef>
              <a:spcAft>
                <a:spcPct val="0"/>
              </a:spcAft>
              <a:buNone/>
            </a:pPr>
            <a:r>
              <a:rPr lang="en-US" altLang="en-US" sz="1900" dirty="0">
                <a:solidFill>
                  <a:schemeClr val="bg1"/>
                </a:solidFill>
                <a:latin typeface="+mn-lt"/>
              </a:rPr>
              <a:t>(Sensor/Physics)</a:t>
            </a:r>
          </a:p>
          <a:p>
            <a:pPr lvl="1" eaLnBrk="0" fontAlgn="base" hangingPunct="0">
              <a:lnSpc>
                <a:spcPct val="100000"/>
              </a:lnSpc>
              <a:spcBef>
                <a:spcPct val="0"/>
              </a:spcBef>
              <a:spcAft>
                <a:spcPct val="0"/>
              </a:spcAft>
            </a:pPr>
            <a:endParaRPr lang="en-US" altLang="en-US" sz="1900" dirty="0">
              <a:solidFill>
                <a:schemeClr val="accent6"/>
              </a:solidFill>
              <a:latin typeface="+mn-lt"/>
            </a:endParaRPr>
          </a:p>
          <a:p>
            <a:endParaRPr lang="en-US" sz="1900" dirty="0"/>
          </a:p>
          <a:p>
            <a:endParaRPr lang="en-US" dirty="0"/>
          </a:p>
        </p:txBody>
      </p:sp>
    </p:spTree>
    <p:extLst>
      <p:ext uri="{BB962C8B-B14F-4D97-AF65-F5344CB8AC3E}">
        <p14:creationId xmlns:p14="http://schemas.microsoft.com/office/powerpoint/2010/main" val="2620383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xEl>
                                              <p:pRg st="1" end="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xEl>
                                              <p:pRg st="3" end="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xEl>
                                              <p:pRg st="4" end="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5" grpId="0" animBg="1"/>
      <p:bldP spid="46" grpId="0"/>
      <p:bldP spid="12" grpId="0" animBg="1"/>
      <p:bldP spid="18" grpId="0" animBg="1"/>
      <p:bldP spid="19" grpId="0" animBg="1"/>
      <p:bldP spid="20" grpId="0" animBg="1"/>
      <p:bldP spid="26" grpId="0"/>
      <p:bldP spid="29" grpId="0" build="p"/>
      <p:bldP spid="2" grpId="0" animBg="1"/>
      <p:bldP spid="5" grpId="0" build="p"/>
      <p:bldP spid="13" grpId="0" animBg="1"/>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168D-E22A-EFF6-3610-72275664CB21}"/>
            </a:ext>
          </a:extLst>
        </p:cNvPr>
        <p:cNvGrpSpPr/>
        <p:nvPr/>
      </p:nvGrpSpPr>
      <p:grpSpPr>
        <a:xfrm>
          <a:off x="0" y="0"/>
          <a:ext cx="0" cy="0"/>
          <a:chOff x="0" y="0"/>
          <a:chExt cx="0" cy="0"/>
        </a:xfrm>
      </p:grpSpPr>
      <p:sp>
        <p:nvSpPr>
          <p:cNvPr id="43" name="Google Shape;301;p13">
            <a:extLst>
              <a:ext uri="{FF2B5EF4-FFF2-40B4-BE49-F238E27FC236}">
                <a16:creationId xmlns:a16="http://schemas.microsoft.com/office/drawing/2014/main" id="{F3A3BA16-3AE7-1119-2A54-73F5BC81F358}"/>
              </a:ext>
            </a:extLst>
          </p:cNvPr>
          <p:cNvSpPr/>
          <p:nvPr/>
        </p:nvSpPr>
        <p:spPr>
          <a:xfrm>
            <a:off x="840036" y="1363360"/>
            <a:ext cx="4884106" cy="1020030"/>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sp>
        <p:nvSpPr>
          <p:cNvPr id="3" name="Title 2">
            <a:extLst>
              <a:ext uri="{FF2B5EF4-FFF2-40B4-BE49-F238E27FC236}">
                <a16:creationId xmlns:a16="http://schemas.microsoft.com/office/drawing/2014/main" id="{A43CB8E3-BA81-3820-5B70-DE5284F81F01}"/>
              </a:ext>
            </a:extLst>
          </p:cNvPr>
          <p:cNvSpPr>
            <a:spLocks noGrp="1"/>
          </p:cNvSpPr>
          <p:nvPr>
            <p:ph type="title"/>
          </p:nvPr>
        </p:nvSpPr>
        <p:spPr>
          <a:xfrm>
            <a:off x="23944" y="69294"/>
            <a:ext cx="11832413" cy="459342"/>
          </a:xfrm>
        </p:spPr>
        <p:txBody>
          <a:bodyPr>
            <a:noAutofit/>
          </a:bodyPr>
          <a:lstStyle/>
          <a:p>
            <a:r>
              <a:rPr lang="en-US" dirty="0">
                <a:solidFill>
                  <a:schemeClr val="accent6"/>
                </a:solidFill>
              </a:rPr>
              <a:t>Demo Act 2.2 – The Happy Path (Proof of Geofencing) </a:t>
            </a:r>
          </a:p>
        </p:txBody>
      </p:sp>
      <p:sp>
        <p:nvSpPr>
          <p:cNvPr id="34" name="Google Shape;301;p13">
            <a:extLst>
              <a:ext uri="{FF2B5EF4-FFF2-40B4-BE49-F238E27FC236}">
                <a16:creationId xmlns:a16="http://schemas.microsoft.com/office/drawing/2014/main" id="{9A86CD1D-03B6-968C-D8FE-D7F979EEFAB8}"/>
              </a:ext>
            </a:extLst>
          </p:cNvPr>
          <p:cNvSpPr/>
          <p:nvPr/>
        </p:nvSpPr>
        <p:spPr>
          <a:xfrm>
            <a:off x="850588" y="2864056"/>
            <a:ext cx="4884106" cy="2245619"/>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pic>
        <p:nvPicPr>
          <p:cNvPr id="37" name="Graphic 36" descr="Server with solid fill">
            <a:extLst>
              <a:ext uri="{FF2B5EF4-FFF2-40B4-BE49-F238E27FC236}">
                <a16:creationId xmlns:a16="http://schemas.microsoft.com/office/drawing/2014/main" id="{140568A6-41D5-EA53-941F-57216A5F09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569" y="2721929"/>
            <a:ext cx="265472" cy="325991"/>
          </a:xfrm>
          <a:prstGeom prst="rect">
            <a:avLst/>
          </a:prstGeom>
        </p:spPr>
      </p:pic>
      <p:sp>
        <p:nvSpPr>
          <p:cNvPr id="45" name="TextBox 44">
            <a:extLst>
              <a:ext uri="{FF2B5EF4-FFF2-40B4-BE49-F238E27FC236}">
                <a16:creationId xmlns:a16="http://schemas.microsoft.com/office/drawing/2014/main" id="{4F3B5272-6669-3FB1-1CC1-AF21BBEBB8AC}"/>
              </a:ext>
            </a:extLst>
          </p:cNvPr>
          <p:cNvSpPr txBox="1"/>
          <p:nvPr/>
        </p:nvSpPr>
        <p:spPr>
          <a:xfrm>
            <a:off x="4108121" y="2939796"/>
            <a:ext cx="1602978" cy="840230"/>
          </a:xfrm>
          <a:prstGeom prst="rect">
            <a:avLst/>
          </a:prstGeom>
          <a:solidFill>
            <a:schemeClr val="bg1"/>
          </a:solidFill>
          <a:ln w="19050">
            <a:solidFill>
              <a:schemeClr val="accent1"/>
            </a:solidFill>
          </a:ln>
        </p:spPr>
        <p:txBody>
          <a:bodyPr wrap="square" rtlCol="0">
            <a:spAutoFit/>
          </a:bodyPr>
          <a:lstStyle/>
          <a:p>
            <a:pPr algn="ctr">
              <a:spcBef>
                <a:spcPts val="0"/>
              </a:spcBef>
            </a:pPr>
            <a:endParaRPr lang="en-US" sz="1800" dirty="0">
              <a:solidFill>
                <a:schemeClr val="accent6">
                  <a:lumMod val="50000"/>
                </a:schemeClr>
              </a:solidFill>
            </a:endParaRPr>
          </a:p>
          <a:p>
            <a:pPr algn="ctr">
              <a:spcBef>
                <a:spcPts val="0"/>
              </a:spcBef>
            </a:pPr>
            <a:r>
              <a:rPr lang="en-US" sz="1800" dirty="0">
                <a:solidFill>
                  <a:schemeClr val="accent6">
                    <a:lumMod val="50000"/>
                  </a:schemeClr>
                </a:solidFill>
              </a:rPr>
              <a:t>Inference App (</a:t>
            </a:r>
            <a:r>
              <a:rPr lang="en-US" sz="1400" dirty="0">
                <a:solidFill>
                  <a:schemeClr val="accent6">
                    <a:lumMod val="50000"/>
                  </a:schemeClr>
                </a:solidFill>
              </a:rPr>
              <a:t>Client App)</a:t>
            </a:r>
          </a:p>
        </p:txBody>
      </p:sp>
      <p:sp>
        <p:nvSpPr>
          <p:cNvPr id="46" name="Content Placeholder 1">
            <a:extLst>
              <a:ext uri="{FF2B5EF4-FFF2-40B4-BE49-F238E27FC236}">
                <a16:creationId xmlns:a16="http://schemas.microsoft.com/office/drawing/2014/main" id="{68A2DED1-A064-04A6-B0E8-22BE5593EEEA}"/>
              </a:ext>
            </a:extLst>
          </p:cNvPr>
          <p:cNvSpPr txBox="1">
            <a:spLocks/>
          </p:cNvSpPr>
          <p:nvPr/>
        </p:nvSpPr>
        <p:spPr>
          <a:xfrm>
            <a:off x="895994" y="2610801"/>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Location Anchor &amp; Client Application BM host</a:t>
            </a:r>
          </a:p>
        </p:txBody>
      </p:sp>
      <p:cxnSp>
        <p:nvCxnSpPr>
          <p:cNvPr id="50" name="Straight Connector 49">
            <a:extLst>
              <a:ext uri="{FF2B5EF4-FFF2-40B4-BE49-F238E27FC236}">
                <a16:creationId xmlns:a16="http://schemas.microsoft.com/office/drawing/2014/main" id="{6CAB0D87-3712-4F38-47A4-D373A82611D6}"/>
              </a:ext>
            </a:extLst>
          </p:cNvPr>
          <p:cNvCxnSpPr>
            <a:cxnSpLocks/>
          </p:cNvCxnSpPr>
          <p:nvPr/>
        </p:nvCxnSpPr>
        <p:spPr>
          <a:xfrm>
            <a:off x="6403403" y="1348233"/>
            <a:ext cx="0" cy="5194552"/>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3DD70D3A-A344-B5AA-5AD4-5923861BD8A2}"/>
              </a:ext>
            </a:extLst>
          </p:cNvPr>
          <p:cNvGrpSpPr/>
          <p:nvPr/>
        </p:nvGrpSpPr>
        <p:grpSpPr>
          <a:xfrm>
            <a:off x="4295768" y="4620313"/>
            <a:ext cx="1007465" cy="426498"/>
            <a:chOff x="5703725" y="3536385"/>
            <a:chExt cx="2113527" cy="1145316"/>
          </a:xfrm>
        </p:grpSpPr>
        <p:sp>
          <p:nvSpPr>
            <p:cNvPr id="9" name="Rounded Rectangle 38">
              <a:extLst>
                <a:ext uri="{FF2B5EF4-FFF2-40B4-BE49-F238E27FC236}">
                  <a16:creationId xmlns:a16="http://schemas.microsoft.com/office/drawing/2014/main" id="{2495377D-C64F-F9C9-8109-1FA47126990D}"/>
                </a:ext>
              </a:extLst>
            </p:cNvPr>
            <p:cNvSpPr/>
            <p:nvPr/>
          </p:nvSpPr>
          <p:spPr>
            <a:xfrm>
              <a:off x="5760688" y="3536385"/>
              <a:ext cx="2056564" cy="114057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10" name="TextBox 9">
              <a:extLst>
                <a:ext uri="{FF2B5EF4-FFF2-40B4-BE49-F238E27FC236}">
                  <a16:creationId xmlns:a16="http://schemas.microsoft.com/office/drawing/2014/main" id="{D46429B6-96A5-3F90-9B20-B98EB9BFFF60}"/>
                </a:ext>
              </a:extLst>
            </p:cNvPr>
            <p:cNvSpPr txBox="1"/>
            <p:nvPr/>
          </p:nvSpPr>
          <p:spPr>
            <a:xfrm>
              <a:off x="6170429" y="3898932"/>
              <a:ext cx="1290240" cy="524952"/>
            </a:xfrm>
            <a:prstGeom prst="rect">
              <a:avLst/>
            </a:prstGeom>
            <a:noFill/>
          </p:spPr>
          <p:txBody>
            <a:bodyPr wrap="square" rtlCol="0">
              <a:spAutoFit/>
            </a:bodyPr>
            <a:lstStyle/>
            <a:p>
              <a:pPr algn="ctr"/>
              <a:r>
                <a:rPr lang="en-US" sz="1600" b="1" noProof="0" dirty="0"/>
                <a:t>TPM</a:t>
              </a:r>
              <a:endParaRPr lang="en-US" sz="1600" i="1" noProof="0" dirty="0"/>
            </a:p>
          </p:txBody>
        </p:sp>
        <p:pic>
          <p:nvPicPr>
            <p:cNvPr id="11" name="Picture 4" descr="Private key - Free security icons">
              <a:extLst>
                <a:ext uri="{FF2B5EF4-FFF2-40B4-BE49-F238E27FC236}">
                  <a16:creationId xmlns:a16="http://schemas.microsoft.com/office/drawing/2014/main" id="{EA407CC0-E5B9-14B9-0B26-1566596A8B3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03725" y="4034287"/>
              <a:ext cx="634384" cy="647414"/>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TextBox 11">
            <a:extLst>
              <a:ext uri="{FF2B5EF4-FFF2-40B4-BE49-F238E27FC236}">
                <a16:creationId xmlns:a16="http://schemas.microsoft.com/office/drawing/2014/main" id="{49430946-16B6-CA3A-CF36-6199F837F1FF}"/>
              </a:ext>
            </a:extLst>
          </p:cNvPr>
          <p:cNvSpPr txBox="1"/>
          <p:nvPr/>
        </p:nvSpPr>
        <p:spPr>
          <a:xfrm>
            <a:off x="903579" y="4625940"/>
            <a:ext cx="2616502" cy="4247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Mobile location sensor                               (e.g., USB tethered smartphone)</a:t>
            </a:r>
          </a:p>
        </p:txBody>
      </p:sp>
      <p:sp>
        <p:nvSpPr>
          <p:cNvPr id="16" name="TextBox 15">
            <a:extLst>
              <a:ext uri="{FF2B5EF4-FFF2-40B4-BE49-F238E27FC236}">
                <a16:creationId xmlns:a16="http://schemas.microsoft.com/office/drawing/2014/main" id="{EC22A196-E1C3-90AC-5B16-BA2766FFAE55}"/>
              </a:ext>
            </a:extLst>
          </p:cNvPr>
          <p:cNvSpPr txBox="1"/>
          <p:nvPr/>
        </p:nvSpPr>
        <p:spPr>
          <a:xfrm>
            <a:off x="946438" y="1456326"/>
            <a:ext cx="1783037"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Host Identity (Keylime Verifier &amp; Registrar)</a:t>
            </a:r>
            <a:endParaRPr lang="en-US" sz="1800" dirty="0">
              <a:solidFill>
                <a:schemeClr val="accent6"/>
              </a:solidFill>
            </a:endParaRPr>
          </a:p>
        </p:txBody>
      </p:sp>
      <p:sp>
        <p:nvSpPr>
          <p:cNvPr id="17" name="TextBox 16">
            <a:extLst>
              <a:ext uri="{FF2B5EF4-FFF2-40B4-BE49-F238E27FC236}">
                <a16:creationId xmlns:a16="http://schemas.microsoft.com/office/drawing/2014/main" id="{1A4780C0-4FE8-ED61-82DD-E71B04A86B2A}"/>
              </a:ext>
            </a:extLst>
          </p:cNvPr>
          <p:cNvSpPr txBox="1"/>
          <p:nvPr/>
        </p:nvSpPr>
        <p:spPr>
          <a:xfrm>
            <a:off x="2959214" y="1456212"/>
            <a:ext cx="1517123"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Workload Identity (Spire Server)</a:t>
            </a:r>
            <a:endParaRPr lang="en-US" sz="1800" dirty="0">
              <a:solidFill>
                <a:schemeClr val="accent6"/>
              </a:solidFill>
            </a:endParaRPr>
          </a:p>
        </p:txBody>
      </p:sp>
      <p:sp>
        <p:nvSpPr>
          <p:cNvPr id="18" name="TextBox 17">
            <a:extLst>
              <a:ext uri="{FF2B5EF4-FFF2-40B4-BE49-F238E27FC236}">
                <a16:creationId xmlns:a16="http://schemas.microsoft.com/office/drawing/2014/main" id="{70DDB0F6-A57C-B4B3-9B22-3E0CCEB9FF00}"/>
              </a:ext>
            </a:extLst>
          </p:cNvPr>
          <p:cNvSpPr txBox="1"/>
          <p:nvPr/>
        </p:nvSpPr>
        <p:spPr>
          <a:xfrm>
            <a:off x="946438" y="3919834"/>
            <a:ext cx="976743"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Keylime Agent</a:t>
            </a:r>
            <a:endParaRPr lang="en-US" sz="1800" dirty="0">
              <a:solidFill>
                <a:schemeClr val="accent6"/>
              </a:solidFill>
            </a:endParaRPr>
          </a:p>
        </p:txBody>
      </p:sp>
      <p:sp>
        <p:nvSpPr>
          <p:cNvPr id="19" name="TextBox 18">
            <a:extLst>
              <a:ext uri="{FF2B5EF4-FFF2-40B4-BE49-F238E27FC236}">
                <a16:creationId xmlns:a16="http://schemas.microsoft.com/office/drawing/2014/main" id="{DC716E18-42FD-24FA-50D4-3BDD0CE451D2}"/>
              </a:ext>
            </a:extLst>
          </p:cNvPr>
          <p:cNvSpPr txBox="1"/>
          <p:nvPr/>
        </p:nvSpPr>
        <p:spPr>
          <a:xfrm>
            <a:off x="2207312" y="3919833"/>
            <a:ext cx="101081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Agent</a:t>
            </a:r>
            <a:endParaRPr lang="en-US" sz="1800" dirty="0">
              <a:solidFill>
                <a:schemeClr val="accent6"/>
              </a:solidFill>
            </a:endParaRPr>
          </a:p>
        </p:txBody>
      </p:sp>
      <p:sp>
        <p:nvSpPr>
          <p:cNvPr id="20" name="TextBox 19">
            <a:extLst>
              <a:ext uri="{FF2B5EF4-FFF2-40B4-BE49-F238E27FC236}">
                <a16:creationId xmlns:a16="http://schemas.microsoft.com/office/drawing/2014/main" id="{170125E2-BA49-ED09-92F1-E394092D36C7}"/>
              </a:ext>
            </a:extLst>
          </p:cNvPr>
          <p:cNvSpPr txBox="1"/>
          <p:nvPr/>
        </p:nvSpPr>
        <p:spPr>
          <a:xfrm>
            <a:off x="3501498" y="3915835"/>
            <a:ext cx="117367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TPM Plugin</a:t>
            </a:r>
            <a:endParaRPr lang="en-US" sz="1800" dirty="0">
              <a:solidFill>
                <a:schemeClr val="accent6"/>
              </a:solidFill>
            </a:endParaRPr>
          </a:p>
        </p:txBody>
      </p:sp>
      <p:cxnSp>
        <p:nvCxnSpPr>
          <p:cNvPr id="21" name="Straight Arrow Connector 20">
            <a:extLst>
              <a:ext uri="{FF2B5EF4-FFF2-40B4-BE49-F238E27FC236}">
                <a16:creationId xmlns:a16="http://schemas.microsoft.com/office/drawing/2014/main" id="{B9A75566-9DD6-7515-DA8B-638F93BE40C3}"/>
              </a:ext>
            </a:extLst>
          </p:cNvPr>
          <p:cNvCxnSpPr>
            <a:cxnSpLocks/>
            <a:stCxn id="45" idx="2"/>
          </p:cNvCxnSpPr>
          <p:nvPr/>
        </p:nvCxnSpPr>
        <p:spPr>
          <a:xfrm flipH="1">
            <a:off x="2668793" y="3780026"/>
            <a:ext cx="2240817" cy="11354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79D5952-1087-1949-59BB-A82894E72B59}"/>
              </a:ext>
            </a:extLst>
          </p:cNvPr>
          <p:cNvCxnSpPr>
            <a:cxnSpLocks/>
            <a:stCxn id="19" idx="0"/>
            <a:endCxn id="17" idx="2"/>
          </p:cNvCxnSpPr>
          <p:nvPr/>
        </p:nvCxnSpPr>
        <p:spPr>
          <a:xfrm flipV="1">
            <a:off x="2712717" y="2296442"/>
            <a:ext cx="1005059" cy="162339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A871F38-8BCC-3049-C22D-2E91FC724467}"/>
              </a:ext>
            </a:extLst>
          </p:cNvPr>
          <p:cNvSpPr txBox="1"/>
          <p:nvPr/>
        </p:nvSpPr>
        <p:spPr>
          <a:xfrm>
            <a:off x="0" y="5153524"/>
            <a:ext cx="6496473" cy="757130"/>
          </a:xfrm>
          <a:prstGeom prst="rect">
            <a:avLst/>
          </a:prstGeom>
          <a:noFill/>
        </p:spPr>
        <p:txBody>
          <a:bodyPr wrap="square">
            <a:spAutoFit/>
          </a:bodyPr>
          <a:lstStyle/>
          <a:p>
            <a:pPr algn="l">
              <a:spcBef>
                <a:spcPts val="0"/>
              </a:spcBef>
            </a:pPr>
            <a:r>
              <a:rPr lang="en-US" sz="1600" b="1" dirty="0">
                <a:solidFill>
                  <a:srgbClr val="1F2328"/>
                </a:solidFill>
                <a:latin typeface="-apple-system"/>
              </a:rPr>
              <a:t>Client App flow</a:t>
            </a:r>
          </a:p>
          <a:p>
            <a:pPr marL="285750" indent="-285750" algn="l">
              <a:spcBef>
                <a:spcPts val="0"/>
              </a:spcBef>
              <a:buFont typeface="Arial" panose="020B0604020202020204" pitchFamily="34" charset="0"/>
              <a:buChar char="•"/>
            </a:pPr>
            <a:r>
              <a:rPr lang="en-US" sz="1600" b="1" dirty="0">
                <a:solidFill>
                  <a:srgbClr val="1F2328"/>
                </a:solidFill>
                <a:latin typeface="-apple-system"/>
              </a:rPr>
              <a:t>Authentication</a:t>
            </a:r>
            <a:r>
              <a:rPr lang="en-US" sz="1600" dirty="0">
                <a:solidFill>
                  <a:srgbClr val="1F2328"/>
                </a:solidFill>
                <a:latin typeface="-apple-system"/>
              </a:rPr>
              <a:t>: Client app inherits TPM-attested geolocation part of unified identity from spire agent</a:t>
            </a:r>
          </a:p>
        </p:txBody>
      </p:sp>
      <p:cxnSp>
        <p:nvCxnSpPr>
          <p:cNvPr id="27" name="Straight Arrow Connector 26">
            <a:extLst>
              <a:ext uri="{FF2B5EF4-FFF2-40B4-BE49-F238E27FC236}">
                <a16:creationId xmlns:a16="http://schemas.microsoft.com/office/drawing/2014/main" id="{AE6D2132-8184-3683-4F1E-AC66809CE265}"/>
              </a:ext>
            </a:extLst>
          </p:cNvPr>
          <p:cNvCxnSpPr>
            <a:cxnSpLocks/>
            <a:stCxn id="16" idx="3"/>
            <a:endCxn id="17" idx="1"/>
          </p:cNvCxnSpPr>
          <p:nvPr/>
        </p:nvCxnSpPr>
        <p:spPr>
          <a:xfrm flipV="1">
            <a:off x="2729475" y="1876327"/>
            <a:ext cx="229739" cy="11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830982F-F8F1-8B7B-4F90-2019FC7CBD21}"/>
              </a:ext>
            </a:extLst>
          </p:cNvPr>
          <p:cNvCxnSpPr>
            <a:cxnSpLocks/>
            <a:stCxn id="18" idx="0"/>
            <a:endCxn id="16" idx="2"/>
          </p:cNvCxnSpPr>
          <p:nvPr/>
        </p:nvCxnSpPr>
        <p:spPr>
          <a:xfrm flipV="1">
            <a:off x="1434810" y="2296556"/>
            <a:ext cx="403147" cy="16232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2A3D672-93B1-A774-B605-2F54FD3B5280}"/>
              </a:ext>
            </a:extLst>
          </p:cNvPr>
          <p:cNvCxnSpPr>
            <a:cxnSpLocks/>
          </p:cNvCxnSpPr>
          <p:nvPr/>
        </p:nvCxnSpPr>
        <p:spPr>
          <a:xfrm flipH="1">
            <a:off x="1916268" y="4211301"/>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31575CA-6EF0-DE82-CD26-41193E6A94F5}"/>
              </a:ext>
            </a:extLst>
          </p:cNvPr>
          <p:cNvCxnSpPr>
            <a:cxnSpLocks/>
            <a:stCxn id="19" idx="3"/>
            <a:endCxn id="20" idx="1"/>
          </p:cNvCxnSpPr>
          <p:nvPr/>
        </p:nvCxnSpPr>
        <p:spPr>
          <a:xfrm flipV="1">
            <a:off x="3218122" y="4211301"/>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8" name="Picture 2" descr="Free vector robotic artificial intelligence technology smart lerning from bigdata">
            <a:extLst>
              <a:ext uri="{FF2B5EF4-FFF2-40B4-BE49-F238E27FC236}">
                <a16:creationId xmlns:a16="http://schemas.microsoft.com/office/drawing/2014/main" id="{B267B772-54B3-268B-2D89-6E0A2B6BA9C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75168" y="2948136"/>
            <a:ext cx="417982" cy="333852"/>
          </a:xfrm>
          <a:prstGeom prst="rect">
            <a:avLst/>
          </a:prstGeom>
          <a:noFill/>
          <a:extLst>
            <a:ext uri="{909E8E84-426E-40DD-AFC4-6F175D3DCCD1}">
              <a14:hiddenFill xmlns:a14="http://schemas.microsoft.com/office/drawing/2010/main">
                <a:solidFill>
                  <a:srgbClr val="FFFFFF"/>
                </a:solidFill>
              </a14:hiddenFill>
            </a:ext>
          </a:extLst>
        </p:spPr>
      </p:pic>
      <p:sp>
        <p:nvSpPr>
          <p:cNvPr id="64" name="Content Placeholder 1">
            <a:extLst>
              <a:ext uri="{FF2B5EF4-FFF2-40B4-BE49-F238E27FC236}">
                <a16:creationId xmlns:a16="http://schemas.microsoft.com/office/drawing/2014/main" id="{E996E812-3F2B-3068-C336-AF7F2A99A2C3}"/>
              </a:ext>
            </a:extLst>
          </p:cNvPr>
          <p:cNvSpPr txBox="1">
            <a:spLocks/>
          </p:cNvSpPr>
          <p:nvPr/>
        </p:nvSpPr>
        <p:spPr>
          <a:xfrm>
            <a:off x="889636" y="1120204"/>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Control Plane host</a:t>
            </a:r>
          </a:p>
        </p:txBody>
      </p:sp>
      <p:pic>
        <p:nvPicPr>
          <p:cNvPr id="65" name="Graphic 64" descr="Server with solid fill">
            <a:extLst>
              <a:ext uri="{FF2B5EF4-FFF2-40B4-BE49-F238E27FC236}">
                <a16:creationId xmlns:a16="http://schemas.microsoft.com/office/drawing/2014/main" id="{2DC8D57D-9824-A8DF-BAC3-9FC9C6B523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48" y="1154019"/>
            <a:ext cx="265472" cy="325991"/>
          </a:xfrm>
          <a:prstGeom prst="rect">
            <a:avLst/>
          </a:prstGeom>
        </p:spPr>
      </p:pic>
      <p:sp>
        <p:nvSpPr>
          <p:cNvPr id="29" name="Content Placeholder 1">
            <a:extLst>
              <a:ext uri="{FF2B5EF4-FFF2-40B4-BE49-F238E27FC236}">
                <a16:creationId xmlns:a16="http://schemas.microsoft.com/office/drawing/2014/main" id="{10B1F161-5E12-4630-877E-794343CBE7ED}"/>
              </a:ext>
            </a:extLst>
          </p:cNvPr>
          <p:cNvSpPr>
            <a:spLocks noGrp="1"/>
          </p:cNvSpPr>
          <p:nvPr>
            <p:ph idx="1"/>
          </p:nvPr>
        </p:nvSpPr>
        <p:spPr>
          <a:xfrm>
            <a:off x="6403402" y="528536"/>
            <a:ext cx="5796347" cy="1161951"/>
          </a:xfrm>
        </p:spPr>
        <p:txBody>
          <a:bodyPr>
            <a:normAutofit/>
          </a:bodyPr>
          <a:lstStyle/>
          <a:p>
            <a:endParaRPr lang="en-US" b="1" dirty="0">
              <a:solidFill>
                <a:schemeClr val="accent6">
                  <a:lumMod val="50000"/>
                </a:schemeClr>
              </a:solidFill>
            </a:endParaRPr>
          </a:p>
          <a:p>
            <a:r>
              <a:rPr lang="en-US" b="1" dirty="0">
                <a:solidFill>
                  <a:schemeClr val="accent6">
                    <a:lumMod val="50000"/>
                  </a:schemeClr>
                </a:solidFill>
              </a:rPr>
              <a:t>Unified Identity Value for Client App</a:t>
            </a:r>
            <a:r>
              <a:rPr lang="en-US" dirty="0">
                <a:solidFill>
                  <a:schemeClr val="accent6">
                    <a:lumMod val="50000"/>
                  </a:schemeClr>
                </a:solidFill>
              </a:rPr>
              <a:t>: You cannot peel away the host or location without invalidating the identity</a:t>
            </a:r>
          </a:p>
          <a:p>
            <a:pPr lvl="1" eaLnBrk="0" fontAlgn="base" hangingPunct="0">
              <a:lnSpc>
                <a:spcPct val="100000"/>
              </a:lnSpc>
              <a:spcBef>
                <a:spcPct val="0"/>
              </a:spcBef>
              <a:spcAft>
                <a:spcPct val="0"/>
              </a:spcAft>
            </a:pPr>
            <a:endParaRPr lang="en-US" altLang="en-US" dirty="0">
              <a:solidFill>
                <a:schemeClr val="accent6"/>
              </a:solidFill>
              <a:latin typeface="+mn-lt"/>
            </a:endParaRPr>
          </a:p>
          <a:p>
            <a:pPr marL="0" indent="0">
              <a:buNone/>
            </a:pPr>
            <a:endParaRPr lang="en-US" sz="1600" dirty="0"/>
          </a:p>
          <a:p>
            <a:endParaRPr lang="en-US" dirty="0"/>
          </a:p>
        </p:txBody>
      </p:sp>
      <p:grpSp>
        <p:nvGrpSpPr>
          <p:cNvPr id="25" name="Group 24">
            <a:extLst>
              <a:ext uri="{FF2B5EF4-FFF2-40B4-BE49-F238E27FC236}">
                <a16:creationId xmlns:a16="http://schemas.microsoft.com/office/drawing/2014/main" id="{A0BC4CB3-112B-7445-6BEE-42AA04441682}"/>
              </a:ext>
            </a:extLst>
          </p:cNvPr>
          <p:cNvGrpSpPr/>
          <p:nvPr/>
        </p:nvGrpSpPr>
        <p:grpSpPr>
          <a:xfrm>
            <a:off x="26706" y="1770250"/>
            <a:ext cx="764246" cy="1226633"/>
            <a:chOff x="26706" y="797790"/>
            <a:chExt cx="764246" cy="1226633"/>
          </a:xfrm>
        </p:grpSpPr>
        <p:pic>
          <p:nvPicPr>
            <p:cNvPr id="31" name="Picture 6" descr="UAYESOK Heavy Duty Magnetic Mount Mobile Antenna Dual-Band 2m 70cm VHF/UHF  Mag Base Antenna PL-259 Plug for Vehicel Truck SUV Mobile Radio Scanner ...">
              <a:extLst>
                <a:ext uri="{FF2B5EF4-FFF2-40B4-BE49-F238E27FC236}">
                  <a16:creationId xmlns:a16="http://schemas.microsoft.com/office/drawing/2014/main" id="{278B69F7-42E5-9F48-CE27-819026FF1CA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706" y="857524"/>
              <a:ext cx="764246" cy="89709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FAECE3DA-4813-811E-E69B-AE6173C715F0}"/>
                </a:ext>
              </a:extLst>
            </p:cNvPr>
            <p:cNvPicPr>
              <a:picLocks noChangeAspect="1"/>
            </p:cNvPicPr>
            <p:nvPr/>
          </p:nvPicPr>
          <p:blipFill>
            <a:blip r:embed="rId8"/>
            <a:stretch>
              <a:fillRect/>
            </a:stretch>
          </p:blipFill>
          <p:spPr>
            <a:xfrm>
              <a:off x="143391" y="797790"/>
              <a:ext cx="528270" cy="295325"/>
            </a:xfrm>
            <a:prstGeom prst="rect">
              <a:avLst/>
            </a:prstGeom>
          </p:spPr>
        </p:pic>
        <p:sp>
          <p:nvSpPr>
            <p:cNvPr id="35" name="TextBox 34">
              <a:extLst>
                <a:ext uri="{FF2B5EF4-FFF2-40B4-BE49-F238E27FC236}">
                  <a16:creationId xmlns:a16="http://schemas.microsoft.com/office/drawing/2014/main" id="{EAC06167-6BA4-A190-9616-F181433573B1}"/>
                </a:ext>
              </a:extLst>
            </p:cNvPr>
            <p:cNvSpPr txBox="1"/>
            <p:nvPr/>
          </p:nvSpPr>
          <p:spPr>
            <a:xfrm>
              <a:off x="130954" y="1765891"/>
              <a:ext cx="565541" cy="2585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RAN</a:t>
              </a:r>
            </a:p>
          </p:txBody>
        </p:sp>
      </p:grpSp>
      <p:sp>
        <p:nvSpPr>
          <p:cNvPr id="2" name="Oval 1">
            <a:extLst>
              <a:ext uri="{FF2B5EF4-FFF2-40B4-BE49-F238E27FC236}">
                <a16:creationId xmlns:a16="http://schemas.microsoft.com/office/drawing/2014/main" id="{1A3E59C6-D767-81C3-B446-717630F48BD7}"/>
              </a:ext>
            </a:extLst>
          </p:cNvPr>
          <p:cNvSpPr/>
          <p:nvPr/>
        </p:nvSpPr>
        <p:spPr>
          <a:xfrm>
            <a:off x="7368498" y="1727766"/>
            <a:ext cx="3877063" cy="380341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C17CF7F0-FD7A-0E6C-229C-EE2BBBC2DDB6}"/>
              </a:ext>
            </a:extLst>
          </p:cNvPr>
          <p:cNvSpPr/>
          <p:nvPr/>
        </p:nvSpPr>
        <p:spPr>
          <a:xfrm>
            <a:off x="8219551" y="2613481"/>
            <a:ext cx="2110711" cy="208213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1">
            <a:extLst>
              <a:ext uri="{FF2B5EF4-FFF2-40B4-BE49-F238E27FC236}">
                <a16:creationId xmlns:a16="http://schemas.microsoft.com/office/drawing/2014/main" id="{1069ED76-2041-A13A-F653-173DF9FE2F16}"/>
              </a:ext>
            </a:extLst>
          </p:cNvPr>
          <p:cNvSpPr txBox="1">
            <a:spLocks/>
          </p:cNvSpPr>
          <p:nvPr/>
        </p:nvSpPr>
        <p:spPr>
          <a:xfrm>
            <a:off x="7205506" y="1414034"/>
            <a:ext cx="2937817" cy="14177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1800" b="0" i="0" kern="1200">
                <a:solidFill>
                  <a:srgbClr val="0070C0"/>
                </a:solidFill>
                <a:latin typeface="IntelOne Display Regular" panose="020B05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Display Regular" panose="020B05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1400" b="0" i="0" kern="1200">
                <a:solidFill>
                  <a:srgbClr val="0070C0"/>
                </a:solidFill>
                <a:latin typeface="IntelOne Display Regular" panose="020B05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200" b="0" i="0" kern="1200">
                <a:solidFill>
                  <a:srgbClr val="0070C0"/>
                </a:solidFill>
                <a:latin typeface="IntelOne Display Regular" panose="020B05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000" b="0" i="0" kern="1200">
                <a:solidFill>
                  <a:srgbClr val="0070C0"/>
                </a:solidFill>
                <a:latin typeface="IntelOne Display Regular" panose="020B05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b="1" dirty="0">
              <a:solidFill>
                <a:schemeClr val="accent6">
                  <a:lumMod val="50000"/>
                </a:schemeClr>
              </a:solidFill>
            </a:endParaRPr>
          </a:p>
          <a:p>
            <a:pPr lvl="1" eaLnBrk="0" fontAlgn="base" hangingPunct="0">
              <a:lnSpc>
                <a:spcPct val="100000"/>
              </a:lnSpc>
              <a:spcBef>
                <a:spcPct val="0"/>
              </a:spcBef>
              <a:spcAft>
                <a:spcPct val="0"/>
              </a:spcAft>
            </a:pPr>
            <a:endParaRPr lang="en-US" altLang="en-US" dirty="0">
              <a:solidFill>
                <a:schemeClr val="accent6"/>
              </a:solidFill>
              <a:latin typeface="+mn-lt"/>
            </a:endParaRPr>
          </a:p>
          <a:p>
            <a:pPr marL="1371600" lvl="3" indent="0" eaLnBrk="0" fontAlgn="base" hangingPunct="0">
              <a:lnSpc>
                <a:spcPct val="100000"/>
              </a:lnSpc>
              <a:spcBef>
                <a:spcPct val="0"/>
              </a:spcBef>
              <a:spcAft>
                <a:spcPct val="0"/>
              </a:spcAft>
              <a:buNone/>
            </a:pPr>
            <a:r>
              <a:rPr lang="en-US" altLang="en-US" sz="1800" b="1" dirty="0">
                <a:solidFill>
                  <a:schemeClr val="bg1"/>
                </a:solidFill>
                <a:latin typeface="+mn-lt"/>
              </a:rPr>
              <a:t>Workload ID</a:t>
            </a:r>
            <a:r>
              <a:rPr lang="en-US" altLang="en-US" sz="1800" dirty="0">
                <a:solidFill>
                  <a:schemeClr val="bg1"/>
                </a:solidFill>
                <a:latin typeface="+mn-lt"/>
              </a:rPr>
              <a:t> </a:t>
            </a:r>
          </a:p>
          <a:p>
            <a:pPr marL="1371600" lvl="3" indent="0" eaLnBrk="0" fontAlgn="base" hangingPunct="0">
              <a:lnSpc>
                <a:spcPct val="100000"/>
              </a:lnSpc>
              <a:spcBef>
                <a:spcPct val="0"/>
              </a:spcBef>
              <a:spcAft>
                <a:spcPct val="0"/>
              </a:spcAft>
              <a:buNone/>
            </a:pPr>
            <a:r>
              <a:rPr lang="en-US" altLang="en-US" sz="1800" dirty="0">
                <a:solidFill>
                  <a:schemeClr val="bg1"/>
                </a:solidFill>
                <a:latin typeface="+mn-lt"/>
              </a:rPr>
              <a:t>  (Software)</a:t>
            </a:r>
          </a:p>
          <a:p>
            <a:pPr lvl="1" eaLnBrk="0" fontAlgn="base" hangingPunct="0">
              <a:lnSpc>
                <a:spcPct val="100000"/>
              </a:lnSpc>
              <a:spcBef>
                <a:spcPct val="0"/>
              </a:spcBef>
              <a:spcAft>
                <a:spcPct val="0"/>
              </a:spcAft>
            </a:pPr>
            <a:endParaRPr lang="en-US" altLang="en-US" dirty="0">
              <a:solidFill>
                <a:schemeClr val="accent6"/>
              </a:solidFill>
              <a:latin typeface="+mn-lt"/>
            </a:endParaRPr>
          </a:p>
          <a:p>
            <a:endParaRPr lang="en-US" sz="1600" dirty="0"/>
          </a:p>
          <a:p>
            <a:endParaRPr lang="en-US" dirty="0"/>
          </a:p>
        </p:txBody>
      </p:sp>
      <p:sp>
        <p:nvSpPr>
          <p:cNvPr id="6" name="Content Placeholder 1">
            <a:extLst>
              <a:ext uri="{FF2B5EF4-FFF2-40B4-BE49-F238E27FC236}">
                <a16:creationId xmlns:a16="http://schemas.microsoft.com/office/drawing/2014/main" id="{C99B271D-2A5F-7797-5AC2-4CB3DE07A345}"/>
              </a:ext>
            </a:extLst>
          </p:cNvPr>
          <p:cNvSpPr txBox="1">
            <a:spLocks/>
          </p:cNvSpPr>
          <p:nvPr/>
        </p:nvSpPr>
        <p:spPr>
          <a:xfrm>
            <a:off x="7181161" y="2483427"/>
            <a:ext cx="3153011" cy="159573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1800" b="0" i="0" kern="1200">
                <a:solidFill>
                  <a:srgbClr val="0070C0"/>
                </a:solidFill>
                <a:latin typeface="IntelOne Display Regular" panose="020B05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Display Regular" panose="020B05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1400" b="0" i="0" kern="1200">
                <a:solidFill>
                  <a:srgbClr val="0070C0"/>
                </a:solidFill>
                <a:latin typeface="IntelOne Display Regular" panose="020B05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200" b="0" i="0" kern="1200">
                <a:solidFill>
                  <a:srgbClr val="0070C0"/>
                </a:solidFill>
                <a:latin typeface="IntelOne Display Regular" panose="020B05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000" b="0" i="0" kern="1200">
                <a:solidFill>
                  <a:srgbClr val="0070C0"/>
                </a:solidFill>
                <a:latin typeface="IntelOne Display Regular" panose="020B05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b="1" dirty="0">
              <a:solidFill>
                <a:schemeClr val="accent6">
                  <a:lumMod val="50000"/>
                </a:schemeClr>
              </a:solidFill>
            </a:endParaRPr>
          </a:p>
          <a:p>
            <a:pPr lvl="1" eaLnBrk="0" fontAlgn="base" hangingPunct="0">
              <a:lnSpc>
                <a:spcPct val="100000"/>
              </a:lnSpc>
              <a:spcBef>
                <a:spcPct val="0"/>
              </a:spcBef>
              <a:spcAft>
                <a:spcPct val="0"/>
              </a:spcAft>
            </a:pPr>
            <a:endParaRPr lang="en-US" altLang="en-US" dirty="0">
              <a:solidFill>
                <a:schemeClr val="accent6"/>
              </a:solidFill>
              <a:latin typeface="+mn-lt"/>
            </a:endParaRPr>
          </a:p>
          <a:p>
            <a:pPr marL="457200" lvl="1" indent="0" eaLnBrk="0" fontAlgn="base" hangingPunct="0">
              <a:lnSpc>
                <a:spcPct val="100000"/>
              </a:lnSpc>
              <a:spcBef>
                <a:spcPct val="0"/>
              </a:spcBef>
              <a:spcAft>
                <a:spcPct val="0"/>
              </a:spcAft>
              <a:buNone/>
            </a:pPr>
            <a:endParaRPr lang="en-US" altLang="en-US" dirty="0">
              <a:solidFill>
                <a:schemeClr val="accent6"/>
              </a:solidFill>
              <a:latin typeface="+mn-lt"/>
            </a:endParaRPr>
          </a:p>
          <a:p>
            <a:pPr marL="1371600" lvl="3" indent="0" eaLnBrk="0" fontAlgn="base" hangingPunct="0">
              <a:lnSpc>
                <a:spcPct val="100000"/>
              </a:lnSpc>
              <a:spcBef>
                <a:spcPct val="0"/>
              </a:spcBef>
              <a:spcAft>
                <a:spcPct val="0"/>
              </a:spcAft>
              <a:buNone/>
            </a:pPr>
            <a:r>
              <a:rPr lang="en-US" altLang="en-US" sz="1900" b="1" dirty="0">
                <a:solidFill>
                  <a:schemeClr val="bg1"/>
                </a:solidFill>
                <a:latin typeface="+mn-lt"/>
              </a:rPr>
              <a:t>Spire Agent ID</a:t>
            </a:r>
            <a:endParaRPr lang="en-US" altLang="en-US" sz="1900" dirty="0">
              <a:solidFill>
                <a:schemeClr val="bg1"/>
              </a:solidFill>
              <a:latin typeface="+mn-lt"/>
            </a:endParaRPr>
          </a:p>
          <a:p>
            <a:pPr marL="1371600" lvl="3" indent="0" eaLnBrk="0" fontAlgn="base" hangingPunct="0">
              <a:lnSpc>
                <a:spcPct val="100000"/>
              </a:lnSpc>
              <a:spcBef>
                <a:spcPct val="0"/>
              </a:spcBef>
              <a:spcAft>
                <a:spcPct val="0"/>
              </a:spcAft>
              <a:buNone/>
            </a:pPr>
            <a:r>
              <a:rPr lang="en-US" altLang="en-US" sz="1900" dirty="0">
                <a:solidFill>
                  <a:schemeClr val="bg1"/>
                </a:solidFill>
                <a:latin typeface="+mn-lt"/>
              </a:rPr>
              <a:t>(TPM attested geolocation)</a:t>
            </a:r>
          </a:p>
          <a:p>
            <a:pPr lvl="1" eaLnBrk="0" fontAlgn="base" hangingPunct="0">
              <a:lnSpc>
                <a:spcPct val="100000"/>
              </a:lnSpc>
              <a:spcBef>
                <a:spcPct val="0"/>
              </a:spcBef>
              <a:spcAft>
                <a:spcPct val="0"/>
              </a:spcAft>
            </a:pPr>
            <a:endParaRPr lang="en-US" altLang="en-US" sz="1900" dirty="0">
              <a:solidFill>
                <a:schemeClr val="accent6"/>
              </a:solidFill>
              <a:latin typeface="+mn-lt"/>
            </a:endParaRPr>
          </a:p>
          <a:p>
            <a:endParaRPr lang="en-US" sz="1900" dirty="0"/>
          </a:p>
          <a:p>
            <a:endParaRPr lang="en-US" dirty="0"/>
          </a:p>
        </p:txBody>
      </p:sp>
    </p:spTree>
    <p:extLst>
      <p:ext uri="{BB962C8B-B14F-4D97-AF65-F5344CB8AC3E}">
        <p14:creationId xmlns:p14="http://schemas.microsoft.com/office/powerpoint/2010/main" val="1674901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26" grpId="0"/>
      <p:bldP spid="29" grpId="0" build="p"/>
      <p:bldP spid="2" grpId="0" animBg="1"/>
      <p:bldP spid="4" grpId="0" animBg="1"/>
      <p:bldP spid="5" grpId="0" build="p"/>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C3210-8B86-DE6D-54F7-DB84FFDABCD8}"/>
            </a:ext>
          </a:extLst>
        </p:cNvPr>
        <p:cNvGrpSpPr/>
        <p:nvPr/>
      </p:nvGrpSpPr>
      <p:grpSpPr>
        <a:xfrm>
          <a:off x="0" y="0"/>
          <a:ext cx="0" cy="0"/>
          <a:chOff x="0" y="0"/>
          <a:chExt cx="0" cy="0"/>
        </a:xfrm>
      </p:grpSpPr>
      <p:sp>
        <p:nvSpPr>
          <p:cNvPr id="43" name="Google Shape;301;p13">
            <a:extLst>
              <a:ext uri="{FF2B5EF4-FFF2-40B4-BE49-F238E27FC236}">
                <a16:creationId xmlns:a16="http://schemas.microsoft.com/office/drawing/2014/main" id="{BC5F05A2-055C-D833-D1F8-56AE45EF72F2}"/>
              </a:ext>
            </a:extLst>
          </p:cNvPr>
          <p:cNvSpPr/>
          <p:nvPr/>
        </p:nvSpPr>
        <p:spPr>
          <a:xfrm>
            <a:off x="840036" y="1363360"/>
            <a:ext cx="4884106" cy="1020030"/>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sp>
        <p:nvSpPr>
          <p:cNvPr id="3" name="Title 2">
            <a:extLst>
              <a:ext uri="{FF2B5EF4-FFF2-40B4-BE49-F238E27FC236}">
                <a16:creationId xmlns:a16="http://schemas.microsoft.com/office/drawing/2014/main" id="{D653D965-7574-A545-B3AC-5EA4D9168FBD}"/>
              </a:ext>
            </a:extLst>
          </p:cNvPr>
          <p:cNvSpPr>
            <a:spLocks noGrp="1"/>
          </p:cNvSpPr>
          <p:nvPr>
            <p:ph type="title"/>
          </p:nvPr>
        </p:nvSpPr>
        <p:spPr>
          <a:xfrm>
            <a:off x="23944" y="69294"/>
            <a:ext cx="11832413" cy="459342"/>
          </a:xfrm>
        </p:spPr>
        <p:txBody>
          <a:bodyPr>
            <a:noAutofit/>
          </a:bodyPr>
          <a:lstStyle/>
          <a:p>
            <a:r>
              <a:rPr lang="en-US" dirty="0">
                <a:solidFill>
                  <a:schemeClr val="accent6"/>
                </a:solidFill>
              </a:rPr>
              <a:t>Demo Act 2.3 – The Happy Path (Proof of Geofencing) </a:t>
            </a:r>
          </a:p>
        </p:txBody>
      </p:sp>
      <p:sp>
        <p:nvSpPr>
          <p:cNvPr id="34" name="Google Shape;301;p13">
            <a:extLst>
              <a:ext uri="{FF2B5EF4-FFF2-40B4-BE49-F238E27FC236}">
                <a16:creationId xmlns:a16="http://schemas.microsoft.com/office/drawing/2014/main" id="{3A41FF0C-DADA-A988-838D-F9FB30DB520E}"/>
              </a:ext>
            </a:extLst>
          </p:cNvPr>
          <p:cNvSpPr/>
          <p:nvPr/>
        </p:nvSpPr>
        <p:spPr>
          <a:xfrm>
            <a:off x="850588" y="2864056"/>
            <a:ext cx="4884106" cy="2245619"/>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pic>
        <p:nvPicPr>
          <p:cNvPr id="37" name="Graphic 36" descr="Server with solid fill">
            <a:extLst>
              <a:ext uri="{FF2B5EF4-FFF2-40B4-BE49-F238E27FC236}">
                <a16:creationId xmlns:a16="http://schemas.microsoft.com/office/drawing/2014/main" id="{C6C78C06-3F71-4E4F-BD10-B5664DEA8C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569" y="2721929"/>
            <a:ext cx="265472" cy="325991"/>
          </a:xfrm>
          <a:prstGeom prst="rect">
            <a:avLst/>
          </a:prstGeom>
        </p:spPr>
      </p:pic>
      <p:sp>
        <p:nvSpPr>
          <p:cNvPr id="45" name="TextBox 44">
            <a:extLst>
              <a:ext uri="{FF2B5EF4-FFF2-40B4-BE49-F238E27FC236}">
                <a16:creationId xmlns:a16="http://schemas.microsoft.com/office/drawing/2014/main" id="{CABB182E-01DD-F2C5-3EB4-020A1AAD4E39}"/>
              </a:ext>
            </a:extLst>
          </p:cNvPr>
          <p:cNvSpPr txBox="1"/>
          <p:nvPr/>
        </p:nvSpPr>
        <p:spPr>
          <a:xfrm>
            <a:off x="4108121" y="2939796"/>
            <a:ext cx="1602978" cy="840230"/>
          </a:xfrm>
          <a:prstGeom prst="rect">
            <a:avLst/>
          </a:prstGeom>
          <a:solidFill>
            <a:schemeClr val="bg1"/>
          </a:solidFill>
          <a:ln w="19050">
            <a:solidFill>
              <a:schemeClr val="accent1"/>
            </a:solidFill>
          </a:ln>
        </p:spPr>
        <p:txBody>
          <a:bodyPr wrap="square" rtlCol="0">
            <a:spAutoFit/>
          </a:bodyPr>
          <a:lstStyle/>
          <a:p>
            <a:pPr algn="ctr">
              <a:spcBef>
                <a:spcPts val="0"/>
              </a:spcBef>
            </a:pPr>
            <a:endParaRPr lang="en-US" sz="1800" dirty="0">
              <a:solidFill>
                <a:schemeClr val="accent6">
                  <a:lumMod val="50000"/>
                </a:schemeClr>
              </a:solidFill>
            </a:endParaRPr>
          </a:p>
          <a:p>
            <a:pPr algn="ctr">
              <a:spcBef>
                <a:spcPts val="0"/>
              </a:spcBef>
            </a:pPr>
            <a:r>
              <a:rPr lang="en-US" sz="1800" dirty="0">
                <a:solidFill>
                  <a:schemeClr val="accent6">
                    <a:lumMod val="50000"/>
                  </a:schemeClr>
                </a:solidFill>
              </a:rPr>
              <a:t>Inference App (</a:t>
            </a:r>
            <a:r>
              <a:rPr lang="en-US" sz="1400" dirty="0">
                <a:solidFill>
                  <a:schemeClr val="accent6">
                    <a:lumMod val="50000"/>
                  </a:schemeClr>
                </a:solidFill>
              </a:rPr>
              <a:t>Client App)</a:t>
            </a:r>
          </a:p>
        </p:txBody>
      </p:sp>
      <p:sp>
        <p:nvSpPr>
          <p:cNvPr id="46" name="Content Placeholder 1">
            <a:extLst>
              <a:ext uri="{FF2B5EF4-FFF2-40B4-BE49-F238E27FC236}">
                <a16:creationId xmlns:a16="http://schemas.microsoft.com/office/drawing/2014/main" id="{4C215F22-2A00-0B88-5E85-0553CB981D7A}"/>
              </a:ext>
            </a:extLst>
          </p:cNvPr>
          <p:cNvSpPr txBox="1">
            <a:spLocks/>
          </p:cNvSpPr>
          <p:nvPr/>
        </p:nvSpPr>
        <p:spPr>
          <a:xfrm>
            <a:off x="895994" y="2610801"/>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Location Anchor &amp; Client Application BM host</a:t>
            </a:r>
          </a:p>
        </p:txBody>
      </p:sp>
      <p:cxnSp>
        <p:nvCxnSpPr>
          <p:cNvPr id="50" name="Straight Connector 49">
            <a:extLst>
              <a:ext uri="{FF2B5EF4-FFF2-40B4-BE49-F238E27FC236}">
                <a16:creationId xmlns:a16="http://schemas.microsoft.com/office/drawing/2014/main" id="{C31C9B0F-FA44-7141-385E-EE2F43582814}"/>
              </a:ext>
            </a:extLst>
          </p:cNvPr>
          <p:cNvCxnSpPr>
            <a:cxnSpLocks/>
          </p:cNvCxnSpPr>
          <p:nvPr/>
        </p:nvCxnSpPr>
        <p:spPr>
          <a:xfrm>
            <a:off x="6403403" y="1348233"/>
            <a:ext cx="0" cy="5194552"/>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5" name="Google Shape;301;p13">
            <a:extLst>
              <a:ext uri="{FF2B5EF4-FFF2-40B4-BE49-F238E27FC236}">
                <a16:creationId xmlns:a16="http://schemas.microsoft.com/office/drawing/2014/main" id="{51D62F8A-FC88-6E77-A5FD-09032E6661D0}"/>
              </a:ext>
            </a:extLst>
          </p:cNvPr>
          <p:cNvSpPr/>
          <p:nvPr/>
        </p:nvSpPr>
        <p:spPr>
          <a:xfrm>
            <a:off x="7113731" y="2500620"/>
            <a:ext cx="4525500" cy="2599923"/>
          </a:xfrm>
          <a:prstGeom prst="rect">
            <a:avLst/>
          </a:prstGeom>
          <a:solidFill>
            <a:schemeClr val="accent2">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pic>
        <p:nvPicPr>
          <p:cNvPr id="56" name="Graphic 55" descr="Server with solid fill">
            <a:extLst>
              <a:ext uri="{FF2B5EF4-FFF2-40B4-BE49-F238E27FC236}">
                <a16:creationId xmlns:a16="http://schemas.microsoft.com/office/drawing/2014/main" id="{132BF450-4E6B-25FB-22C7-BC6000562B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93968" y="2395172"/>
            <a:ext cx="265472" cy="325991"/>
          </a:xfrm>
          <a:prstGeom prst="rect">
            <a:avLst/>
          </a:prstGeom>
        </p:spPr>
      </p:pic>
      <p:sp>
        <p:nvSpPr>
          <p:cNvPr id="59" name="TextBox 58">
            <a:extLst>
              <a:ext uri="{FF2B5EF4-FFF2-40B4-BE49-F238E27FC236}">
                <a16:creationId xmlns:a16="http://schemas.microsoft.com/office/drawing/2014/main" id="{3E7565AD-4D11-4D6E-4D4F-CD46F68C26A8}"/>
              </a:ext>
            </a:extLst>
          </p:cNvPr>
          <p:cNvSpPr txBox="1"/>
          <p:nvPr/>
        </p:nvSpPr>
        <p:spPr>
          <a:xfrm>
            <a:off x="7209111" y="2785982"/>
            <a:ext cx="2015964" cy="9233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2000" b="1" dirty="0">
                <a:solidFill>
                  <a:schemeClr val="accent6"/>
                </a:solidFill>
              </a:rPr>
              <a:t>ZTNA in API Gateway (Envoy)</a:t>
            </a:r>
          </a:p>
          <a:p>
            <a:pPr algn="ctr">
              <a:spcBef>
                <a:spcPts val="0"/>
              </a:spcBef>
            </a:pPr>
            <a:endParaRPr lang="en-US" sz="2000" b="1" dirty="0">
              <a:solidFill>
                <a:schemeClr val="accent6"/>
              </a:solidFill>
            </a:endParaRPr>
          </a:p>
        </p:txBody>
      </p:sp>
      <p:sp>
        <p:nvSpPr>
          <p:cNvPr id="60" name="Content Placeholder 1">
            <a:extLst>
              <a:ext uri="{FF2B5EF4-FFF2-40B4-BE49-F238E27FC236}">
                <a16:creationId xmlns:a16="http://schemas.microsoft.com/office/drawing/2014/main" id="{F025E0BD-46EB-3A3B-6A30-919CC1EB3B07}"/>
              </a:ext>
            </a:extLst>
          </p:cNvPr>
          <p:cNvSpPr txBox="1">
            <a:spLocks/>
          </p:cNvSpPr>
          <p:nvPr/>
        </p:nvSpPr>
        <p:spPr>
          <a:xfrm>
            <a:off x="7162724" y="2245298"/>
            <a:ext cx="4450740"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API Gateway and Server Application host</a:t>
            </a:r>
            <a:endParaRPr lang="en-US" sz="1600" noProof="0" dirty="0">
              <a:solidFill>
                <a:schemeClr val="tx1"/>
              </a:solidFill>
              <a:latin typeface="+mn-lt"/>
            </a:endParaRPr>
          </a:p>
        </p:txBody>
      </p:sp>
      <p:cxnSp>
        <p:nvCxnSpPr>
          <p:cNvPr id="69" name="Straight Arrow Connector 68">
            <a:extLst>
              <a:ext uri="{FF2B5EF4-FFF2-40B4-BE49-F238E27FC236}">
                <a16:creationId xmlns:a16="http://schemas.microsoft.com/office/drawing/2014/main" id="{BD5F7A81-83FE-BDF8-7FDE-BF63C5545E4B}"/>
              </a:ext>
            </a:extLst>
          </p:cNvPr>
          <p:cNvCxnSpPr>
            <a:cxnSpLocks/>
          </p:cNvCxnSpPr>
          <p:nvPr/>
        </p:nvCxnSpPr>
        <p:spPr>
          <a:xfrm flipV="1">
            <a:off x="5706123" y="3240881"/>
            <a:ext cx="1485690" cy="1103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9460CEA-E3E2-851B-765B-FA7E60DC35A9}"/>
              </a:ext>
            </a:extLst>
          </p:cNvPr>
          <p:cNvCxnSpPr>
            <a:cxnSpLocks/>
          </p:cNvCxnSpPr>
          <p:nvPr/>
        </p:nvCxnSpPr>
        <p:spPr>
          <a:xfrm>
            <a:off x="9222271" y="3233132"/>
            <a:ext cx="1187774" cy="790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Content Placeholder 1">
            <a:extLst>
              <a:ext uri="{FF2B5EF4-FFF2-40B4-BE49-F238E27FC236}">
                <a16:creationId xmlns:a16="http://schemas.microsoft.com/office/drawing/2014/main" id="{08AE6F25-845E-0225-8B8C-8A9F33DDDDE7}"/>
              </a:ext>
            </a:extLst>
          </p:cNvPr>
          <p:cNvSpPr txBox="1">
            <a:spLocks/>
          </p:cNvSpPr>
          <p:nvPr/>
        </p:nvSpPr>
        <p:spPr>
          <a:xfrm>
            <a:off x="6063288" y="2829976"/>
            <a:ext cx="689500" cy="4176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HTTPS/mTLS</a:t>
            </a:r>
            <a:endParaRPr lang="en-US" sz="1400" noProof="0" dirty="0">
              <a:solidFill>
                <a:schemeClr val="accent1"/>
              </a:solidFill>
              <a:latin typeface="+mn-lt"/>
            </a:endParaRPr>
          </a:p>
        </p:txBody>
      </p:sp>
      <p:sp>
        <p:nvSpPr>
          <p:cNvPr id="76" name="Content Placeholder 1">
            <a:extLst>
              <a:ext uri="{FF2B5EF4-FFF2-40B4-BE49-F238E27FC236}">
                <a16:creationId xmlns:a16="http://schemas.microsoft.com/office/drawing/2014/main" id="{CC07E0F6-36CD-AEE7-9FF4-7C18B11D1612}"/>
              </a:ext>
            </a:extLst>
          </p:cNvPr>
          <p:cNvSpPr txBox="1">
            <a:spLocks/>
          </p:cNvSpPr>
          <p:nvPr/>
        </p:nvSpPr>
        <p:spPr>
          <a:xfrm>
            <a:off x="9266764" y="2933705"/>
            <a:ext cx="1117196" cy="2995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HTTPS/mTLS</a:t>
            </a:r>
            <a:endParaRPr lang="en-US" sz="1400" noProof="0" dirty="0">
              <a:solidFill>
                <a:schemeClr val="accent1"/>
              </a:solidFill>
              <a:latin typeface="+mn-lt"/>
            </a:endParaRPr>
          </a:p>
        </p:txBody>
      </p:sp>
      <p:sp>
        <p:nvSpPr>
          <p:cNvPr id="2" name="TextBox 1">
            <a:extLst>
              <a:ext uri="{FF2B5EF4-FFF2-40B4-BE49-F238E27FC236}">
                <a16:creationId xmlns:a16="http://schemas.microsoft.com/office/drawing/2014/main" id="{68894E8D-FBEF-E066-C082-9E184275D6B4}"/>
              </a:ext>
            </a:extLst>
          </p:cNvPr>
          <p:cNvSpPr txBox="1"/>
          <p:nvPr/>
        </p:nvSpPr>
        <p:spPr>
          <a:xfrm>
            <a:off x="7221245" y="4175006"/>
            <a:ext cx="2015964" cy="71558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500" b="1" dirty="0">
                <a:solidFill>
                  <a:schemeClr val="accent6"/>
                </a:solidFill>
              </a:rPr>
              <a:t>Mobile Geolocation Service (CAMARA API)</a:t>
            </a:r>
          </a:p>
          <a:p>
            <a:pPr algn="ctr">
              <a:spcBef>
                <a:spcPts val="0"/>
              </a:spcBef>
            </a:pPr>
            <a:r>
              <a:rPr lang="en-US" sz="1500" b="1" dirty="0">
                <a:solidFill>
                  <a:schemeClr val="accent6"/>
                </a:solidFill>
              </a:rPr>
              <a:t>Sidecar</a:t>
            </a:r>
          </a:p>
        </p:txBody>
      </p:sp>
      <p:cxnSp>
        <p:nvCxnSpPr>
          <p:cNvPr id="4" name="Straight Arrow Connector 3">
            <a:extLst>
              <a:ext uri="{FF2B5EF4-FFF2-40B4-BE49-F238E27FC236}">
                <a16:creationId xmlns:a16="http://schemas.microsoft.com/office/drawing/2014/main" id="{D99FDC59-C2C5-C541-37F2-98D29777372C}"/>
              </a:ext>
            </a:extLst>
          </p:cNvPr>
          <p:cNvCxnSpPr>
            <a:cxnSpLocks/>
          </p:cNvCxnSpPr>
          <p:nvPr/>
        </p:nvCxnSpPr>
        <p:spPr>
          <a:xfrm>
            <a:off x="8229227" y="3719000"/>
            <a:ext cx="0" cy="44791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 name="Content Placeholder 1">
            <a:extLst>
              <a:ext uri="{FF2B5EF4-FFF2-40B4-BE49-F238E27FC236}">
                <a16:creationId xmlns:a16="http://schemas.microsoft.com/office/drawing/2014/main" id="{0BC7C343-0652-6F8C-58C6-8A652B54AA50}"/>
              </a:ext>
            </a:extLst>
          </p:cNvPr>
          <p:cNvSpPr txBox="1">
            <a:spLocks/>
          </p:cNvSpPr>
          <p:nvPr/>
        </p:nvSpPr>
        <p:spPr>
          <a:xfrm>
            <a:off x="7944567" y="3811217"/>
            <a:ext cx="1015633" cy="2995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HTTP</a:t>
            </a:r>
            <a:endParaRPr lang="en-US" sz="1400" noProof="0" dirty="0">
              <a:solidFill>
                <a:schemeClr val="accent1"/>
              </a:solidFill>
              <a:latin typeface="+mn-lt"/>
            </a:endParaRPr>
          </a:p>
        </p:txBody>
      </p:sp>
      <p:grpSp>
        <p:nvGrpSpPr>
          <p:cNvPr id="8" name="Group 7">
            <a:extLst>
              <a:ext uri="{FF2B5EF4-FFF2-40B4-BE49-F238E27FC236}">
                <a16:creationId xmlns:a16="http://schemas.microsoft.com/office/drawing/2014/main" id="{B0F1FDBC-C020-2108-8AFD-EA4BF432C739}"/>
              </a:ext>
            </a:extLst>
          </p:cNvPr>
          <p:cNvGrpSpPr/>
          <p:nvPr/>
        </p:nvGrpSpPr>
        <p:grpSpPr>
          <a:xfrm>
            <a:off x="4295768" y="4620313"/>
            <a:ext cx="1007465" cy="426498"/>
            <a:chOff x="5703725" y="3536385"/>
            <a:chExt cx="2113527" cy="1145316"/>
          </a:xfrm>
        </p:grpSpPr>
        <p:sp>
          <p:nvSpPr>
            <p:cNvPr id="9" name="Rounded Rectangle 38">
              <a:extLst>
                <a:ext uri="{FF2B5EF4-FFF2-40B4-BE49-F238E27FC236}">
                  <a16:creationId xmlns:a16="http://schemas.microsoft.com/office/drawing/2014/main" id="{955D19E0-999D-4A3A-259C-F9F2D0741C5D}"/>
                </a:ext>
              </a:extLst>
            </p:cNvPr>
            <p:cNvSpPr/>
            <p:nvPr/>
          </p:nvSpPr>
          <p:spPr>
            <a:xfrm>
              <a:off x="5760688" y="3536385"/>
              <a:ext cx="2056564" cy="114057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10" name="TextBox 9">
              <a:extLst>
                <a:ext uri="{FF2B5EF4-FFF2-40B4-BE49-F238E27FC236}">
                  <a16:creationId xmlns:a16="http://schemas.microsoft.com/office/drawing/2014/main" id="{D9658630-7C6F-BC28-19AD-64659F52D742}"/>
                </a:ext>
              </a:extLst>
            </p:cNvPr>
            <p:cNvSpPr txBox="1"/>
            <p:nvPr/>
          </p:nvSpPr>
          <p:spPr>
            <a:xfrm>
              <a:off x="6170429" y="3898932"/>
              <a:ext cx="1290240" cy="524952"/>
            </a:xfrm>
            <a:prstGeom prst="rect">
              <a:avLst/>
            </a:prstGeom>
            <a:noFill/>
          </p:spPr>
          <p:txBody>
            <a:bodyPr wrap="square" rtlCol="0">
              <a:spAutoFit/>
            </a:bodyPr>
            <a:lstStyle/>
            <a:p>
              <a:pPr algn="ctr"/>
              <a:r>
                <a:rPr lang="en-US" sz="1600" b="1" noProof="0" dirty="0"/>
                <a:t>TPM</a:t>
              </a:r>
              <a:endParaRPr lang="en-US" sz="1600" i="1" noProof="0" dirty="0"/>
            </a:p>
          </p:txBody>
        </p:sp>
        <p:pic>
          <p:nvPicPr>
            <p:cNvPr id="11" name="Picture 4" descr="Private key - Free security icons">
              <a:extLst>
                <a:ext uri="{FF2B5EF4-FFF2-40B4-BE49-F238E27FC236}">
                  <a16:creationId xmlns:a16="http://schemas.microsoft.com/office/drawing/2014/main" id="{FCF7ED7C-3F36-D992-782D-E62760E7BBA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03725" y="4034287"/>
              <a:ext cx="634384" cy="647414"/>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TextBox 11">
            <a:extLst>
              <a:ext uri="{FF2B5EF4-FFF2-40B4-BE49-F238E27FC236}">
                <a16:creationId xmlns:a16="http://schemas.microsoft.com/office/drawing/2014/main" id="{62888489-0430-999A-6098-0DFEF6F1E518}"/>
              </a:ext>
            </a:extLst>
          </p:cNvPr>
          <p:cNvSpPr txBox="1"/>
          <p:nvPr/>
        </p:nvSpPr>
        <p:spPr>
          <a:xfrm>
            <a:off x="903579" y="4625940"/>
            <a:ext cx="2616502" cy="4247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Mobile location sensor                               (e.g., USB tethered smartphone)</a:t>
            </a:r>
          </a:p>
        </p:txBody>
      </p:sp>
      <p:sp>
        <p:nvSpPr>
          <p:cNvPr id="5" name="TextBox 4">
            <a:extLst>
              <a:ext uri="{FF2B5EF4-FFF2-40B4-BE49-F238E27FC236}">
                <a16:creationId xmlns:a16="http://schemas.microsoft.com/office/drawing/2014/main" id="{6884C6A7-2D05-5E8F-1F32-31351422E621}"/>
              </a:ext>
            </a:extLst>
          </p:cNvPr>
          <p:cNvSpPr txBox="1"/>
          <p:nvPr/>
        </p:nvSpPr>
        <p:spPr>
          <a:xfrm>
            <a:off x="10391361" y="2823300"/>
            <a:ext cx="1069578" cy="729430"/>
          </a:xfrm>
          <a:prstGeom prst="rect">
            <a:avLst/>
          </a:prstGeom>
          <a:solidFill>
            <a:schemeClr val="bg1"/>
          </a:solidFill>
          <a:ln w="19050">
            <a:solidFill>
              <a:schemeClr val="accent1"/>
            </a:solidFill>
          </a:ln>
        </p:spPr>
        <p:txBody>
          <a:bodyPr wrap="square" rtlCol="0">
            <a:spAutoFit/>
          </a:bodyPr>
          <a:lstStyle/>
          <a:p>
            <a:pPr algn="ctr">
              <a:spcBef>
                <a:spcPts val="0"/>
              </a:spcBef>
            </a:pPr>
            <a:r>
              <a:rPr lang="en-US" sz="1800" b="1" dirty="0">
                <a:solidFill>
                  <a:schemeClr val="accent1"/>
                </a:solidFill>
              </a:rPr>
              <a:t>Key vault</a:t>
            </a:r>
          </a:p>
          <a:p>
            <a:pPr algn="ctr">
              <a:spcBef>
                <a:spcPts val="0"/>
              </a:spcBef>
            </a:pPr>
            <a:r>
              <a:rPr lang="en-US" sz="1400" dirty="0">
                <a:solidFill>
                  <a:schemeClr val="accent6">
                    <a:lumMod val="50000"/>
                  </a:schemeClr>
                </a:solidFill>
              </a:rPr>
              <a:t>(Server App)</a:t>
            </a:r>
          </a:p>
        </p:txBody>
      </p:sp>
      <p:sp>
        <p:nvSpPr>
          <p:cNvPr id="13" name="TextBox 12">
            <a:extLst>
              <a:ext uri="{FF2B5EF4-FFF2-40B4-BE49-F238E27FC236}">
                <a16:creationId xmlns:a16="http://schemas.microsoft.com/office/drawing/2014/main" id="{E3AFFAD5-B645-6BC1-AFCC-C95827C7E643}"/>
              </a:ext>
            </a:extLst>
          </p:cNvPr>
          <p:cNvSpPr txBox="1"/>
          <p:nvPr/>
        </p:nvSpPr>
        <p:spPr>
          <a:xfrm>
            <a:off x="7540762" y="3372963"/>
            <a:ext cx="1376931" cy="313932"/>
          </a:xfrm>
          <a:prstGeom prst="rect">
            <a:avLst/>
          </a:prstGeom>
          <a:solidFill>
            <a:schemeClr val="bg1"/>
          </a:solidFill>
          <a:ln w="12700">
            <a:solidFill>
              <a:schemeClr val="accent1"/>
            </a:solidFill>
          </a:ln>
        </p:spPr>
        <p:txBody>
          <a:bodyPr wrap="square" rtlCol="0">
            <a:spAutoFit/>
          </a:bodyPr>
          <a:lstStyle/>
          <a:p>
            <a:pPr algn="ctr">
              <a:spcBef>
                <a:spcPts val="0"/>
              </a:spcBef>
            </a:pPr>
            <a:r>
              <a:rPr lang="en-US" sz="1600" dirty="0">
                <a:solidFill>
                  <a:schemeClr val="accent6">
                    <a:lumMod val="50000"/>
                  </a:schemeClr>
                </a:solidFill>
              </a:rPr>
              <a:t>WASM plugin</a:t>
            </a:r>
          </a:p>
        </p:txBody>
      </p:sp>
      <p:sp>
        <p:nvSpPr>
          <p:cNvPr id="16" name="TextBox 15">
            <a:extLst>
              <a:ext uri="{FF2B5EF4-FFF2-40B4-BE49-F238E27FC236}">
                <a16:creationId xmlns:a16="http://schemas.microsoft.com/office/drawing/2014/main" id="{6A36B021-4432-5EF6-DF06-0619EEC50968}"/>
              </a:ext>
            </a:extLst>
          </p:cNvPr>
          <p:cNvSpPr txBox="1"/>
          <p:nvPr/>
        </p:nvSpPr>
        <p:spPr>
          <a:xfrm>
            <a:off x="946438" y="1456326"/>
            <a:ext cx="1783037"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Host Identity (Keylime Verifier &amp; Registrar)</a:t>
            </a:r>
            <a:endParaRPr lang="en-US" sz="1800" dirty="0">
              <a:solidFill>
                <a:schemeClr val="accent6"/>
              </a:solidFill>
            </a:endParaRPr>
          </a:p>
        </p:txBody>
      </p:sp>
      <p:sp>
        <p:nvSpPr>
          <p:cNvPr id="17" name="TextBox 16">
            <a:extLst>
              <a:ext uri="{FF2B5EF4-FFF2-40B4-BE49-F238E27FC236}">
                <a16:creationId xmlns:a16="http://schemas.microsoft.com/office/drawing/2014/main" id="{275704DD-F32C-4334-62F8-7E4BFFC95F33}"/>
              </a:ext>
            </a:extLst>
          </p:cNvPr>
          <p:cNvSpPr txBox="1"/>
          <p:nvPr/>
        </p:nvSpPr>
        <p:spPr>
          <a:xfrm>
            <a:off x="2959214" y="1456212"/>
            <a:ext cx="1517123"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Workload Identity (Spire Server)</a:t>
            </a:r>
            <a:endParaRPr lang="en-US" sz="1800" dirty="0">
              <a:solidFill>
                <a:schemeClr val="accent6"/>
              </a:solidFill>
            </a:endParaRPr>
          </a:p>
        </p:txBody>
      </p:sp>
      <p:sp>
        <p:nvSpPr>
          <p:cNvPr id="18" name="TextBox 17">
            <a:extLst>
              <a:ext uri="{FF2B5EF4-FFF2-40B4-BE49-F238E27FC236}">
                <a16:creationId xmlns:a16="http://schemas.microsoft.com/office/drawing/2014/main" id="{38A59838-498D-74D8-722D-83E007EBC9B1}"/>
              </a:ext>
            </a:extLst>
          </p:cNvPr>
          <p:cNvSpPr txBox="1"/>
          <p:nvPr/>
        </p:nvSpPr>
        <p:spPr>
          <a:xfrm>
            <a:off x="946438" y="3919834"/>
            <a:ext cx="976743"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Keylime Agent</a:t>
            </a:r>
            <a:endParaRPr lang="en-US" sz="1800" dirty="0">
              <a:solidFill>
                <a:schemeClr val="accent6"/>
              </a:solidFill>
            </a:endParaRPr>
          </a:p>
        </p:txBody>
      </p:sp>
      <p:sp>
        <p:nvSpPr>
          <p:cNvPr id="19" name="TextBox 18">
            <a:extLst>
              <a:ext uri="{FF2B5EF4-FFF2-40B4-BE49-F238E27FC236}">
                <a16:creationId xmlns:a16="http://schemas.microsoft.com/office/drawing/2014/main" id="{9B5FA17D-8B1E-F226-8E93-D7FF306F311A}"/>
              </a:ext>
            </a:extLst>
          </p:cNvPr>
          <p:cNvSpPr txBox="1"/>
          <p:nvPr/>
        </p:nvSpPr>
        <p:spPr>
          <a:xfrm>
            <a:off x="2207312" y="3919833"/>
            <a:ext cx="101081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Agent</a:t>
            </a:r>
            <a:endParaRPr lang="en-US" sz="1800" dirty="0">
              <a:solidFill>
                <a:schemeClr val="accent6"/>
              </a:solidFill>
            </a:endParaRPr>
          </a:p>
        </p:txBody>
      </p:sp>
      <p:sp>
        <p:nvSpPr>
          <p:cNvPr id="20" name="TextBox 19">
            <a:extLst>
              <a:ext uri="{FF2B5EF4-FFF2-40B4-BE49-F238E27FC236}">
                <a16:creationId xmlns:a16="http://schemas.microsoft.com/office/drawing/2014/main" id="{8BACBFCF-0203-0125-C0FD-0057B752E91E}"/>
              </a:ext>
            </a:extLst>
          </p:cNvPr>
          <p:cNvSpPr txBox="1"/>
          <p:nvPr/>
        </p:nvSpPr>
        <p:spPr>
          <a:xfrm>
            <a:off x="3501498" y="3915835"/>
            <a:ext cx="117367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TPM Plugin</a:t>
            </a:r>
            <a:endParaRPr lang="en-US" sz="1800" dirty="0">
              <a:solidFill>
                <a:schemeClr val="accent6"/>
              </a:solidFill>
            </a:endParaRPr>
          </a:p>
        </p:txBody>
      </p:sp>
      <p:cxnSp>
        <p:nvCxnSpPr>
          <p:cNvPr id="21" name="Straight Arrow Connector 20">
            <a:extLst>
              <a:ext uri="{FF2B5EF4-FFF2-40B4-BE49-F238E27FC236}">
                <a16:creationId xmlns:a16="http://schemas.microsoft.com/office/drawing/2014/main" id="{410B065F-FC2C-7AF6-D8AE-D2005CDEEA7F}"/>
              </a:ext>
            </a:extLst>
          </p:cNvPr>
          <p:cNvCxnSpPr>
            <a:cxnSpLocks/>
            <a:stCxn id="45" idx="2"/>
          </p:cNvCxnSpPr>
          <p:nvPr/>
        </p:nvCxnSpPr>
        <p:spPr>
          <a:xfrm flipH="1">
            <a:off x="2668793" y="3780026"/>
            <a:ext cx="2240817" cy="11354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2CA0380-EC15-E62F-3606-7CB88500E11D}"/>
              </a:ext>
            </a:extLst>
          </p:cNvPr>
          <p:cNvCxnSpPr>
            <a:cxnSpLocks/>
            <a:stCxn id="19" idx="0"/>
            <a:endCxn id="17" idx="2"/>
          </p:cNvCxnSpPr>
          <p:nvPr/>
        </p:nvCxnSpPr>
        <p:spPr>
          <a:xfrm flipV="1">
            <a:off x="2712717" y="2296442"/>
            <a:ext cx="1005059" cy="162339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07DA8D1-89BC-9F23-D55C-A1444428E675}"/>
              </a:ext>
            </a:extLst>
          </p:cNvPr>
          <p:cNvCxnSpPr>
            <a:cxnSpLocks/>
            <a:stCxn id="16" idx="3"/>
            <a:endCxn id="17" idx="1"/>
          </p:cNvCxnSpPr>
          <p:nvPr/>
        </p:nvCxnSpPr>
        <p:spPr>
          <a:xfrm flipV="1">
            <a:off x="2729475" y="1876327"/>
            <a:ext cx="229739" cy="11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73F81AA-7609-0349-B37F-F4A057C66590}"/>
              </a:ext>
            </a:extLst>
          </p:cNvPr>
          <p:cNvCxnSpPr>
            <a:cxnSpLocks/>
            <a:stCxn id="18" idx="0"/>
            <a:endCxn id="16" idx="2"/>
          </p:cNvCxnSpPr>
          <p:nvPr/>
        </p:nvCxnSpPr>
        <p:spPr>
          <a:xfrm flipV="1">
            <a:off x="1434810" y="2296556"/>
            <a:ext cx="403147" cy="16232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5CADDF3-50D5-93A0-4084-7077A6762DBB}"/>
              </a:ext>
            </a:extLst>
          </p:cNvPr>
          <p:cNvCxnSpPr>
            <a:cxnSpLocks/>
          </p:cNvCxnSpPr>
          <p:nvPr/>
        </p:nvCxnSpPr>
        <p:spPr>
          <a:xfrm flipH="1">
            <a:off x="1916268" y="4211301"/>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4ED78E2-431F-ECD5-8EBB-5D02D640BCE2}"/>
              </a:ext>
            </a:extLst>
          </p:cNvPr>
          <p:cNvCxnSpPr>
            <a:cxnSpLocks/>
            <a:stCxn id="19" idx="3"/>
            <a:endCxn id="20" idx="1"/>
          </p:cNvCxnSpPr>
          <p:nvPr/>
        </p:nvCxnSpPr>
        <p:spPr>
          <a:xfrm flipV="1">
            <a:off x="3218122" y="4211301"/>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7B50EE5-A68F-ED32-5979-93CA9F64B42B}"/>
              </a:ext>
            </a:extLst>
          </p:cNvPr>
          <p:cNvSpPr txBox="1"/>
          <p:nvPr/>
        </p:nvSpPr>
        <p:spPr>
          <a:xfrm>
            <a:off x="6403403" y="5140470"/>
            <a:ext cx="5788596" cy="1643527"/>
          </a:xfrm>
          <a:prstGeom prst="rect">
            <a:avLst/>
          </a:prstGeom>
          <a:noFill/>
        </p:spPr>
        <p:txBody>
          <a:bodyPr wrap="square">
            <a:spAutoFit/>
          </a:bodyPr>
          <a:lstStyle/>
          <a:p>
            <a:pPr algn="l">
              <a:spcBef>
                <a:spcPts val="0"/>
              </a:spcBef>
              <a:buNone/>
            </a:pPr>
            <a:r>
              <a:rPr lang="en-US" sz="1600" b="1" i="0" dirty="0">
                <a:solidFill>
                  <a:srgbClr val="1F2328"/>
                </a:solidFill>
                <a:effectLst/>
                <a:latin typeface="-apple-system"/>
              </a:rPr>
              <a:t>System flow - Envoy</a:t>
            </a:r>
          </a:p>
          <a:p>
            <a:pPr marL="285750" indent="-285750" algn="l">
              <a:spcBef>
                <a:spcPts val="0"/>
              </a:spcBef>
              <a:buFont typeface="Arial" panose="020B0604020202020204" pitchFamily="34" charset="0"/>
              <a:buChar char="•"/>
            </a:pPr>
            <a:r>
              <a:rPr lang="en-US" sz="1600" b="1" dirty="0">
                <a:solidFill>
                  <a:srgbClr val="1F2328"/>
                </a:solidFill>
                <a:latin typeface="-apple-system"/>
              </a:rPr>
              <a:t>Authentication</a:t>
            </a:r>
            <a:r>
              <a:rPr lang="en-US" sz="1600" dirty="0">
                <a:solidFill>
                  <a:srgbClr val="1F2328"/>
                </a:solidFill>
                <a:latin typeface="-apple-system"/>
              </a:rPr>
              <a:t>: Verifies unified identity signature in mTLS cert. </a:t>
            </a:r>
            <a:r>
              <a:rPr lang="en-US" sz="1600" b="1" dirty="0">
                <a:solidFill>
                  <a:srgbClr val="1F2328"/>
                </a:solidFill>
                <a:latin typeface="-apple-system"/>
              </a:rPr>
              <a:t>Authorization</a:t>
            </a:r>
            <a:r>
              <a:rPr lang="en-US" sz="1600" dirty="0">
                <a:solidFill>
                  <a:srgbClr val="1F2328"/>
                </a:solidFill>
                <a:latin typeface="-apple-system"/>
              </a:rPr>
              <a:t>: Verifies unified identity location sensor </a:t>
            </a:r>
            <a:r>
              <a:rPr lang="en-US" sz="1600" b="1" dirty="0">
                <a:solidFill>
                  <a:srgbClr val="1F2328"/>
                </a:solidFill>
                <a:latin typeface="-apple-system"/>
              </a:rPr>
              <a:t>*workload geolocation policy*</a:t>
            </a:r>
            <a:r>
              <a:rPr lang="en-US" sz="1600" dirty="0">
                <a:solidFill>
                  <a:srgbClr val="1F2328"/>
                </a:solidFill>
                <a:latin typeface="-apple-system"/>
              </a:rPr>
              <a:t> using Mobile Geolocation Service per API call.</a:t>
            </a:r>
          </a:p>
          <a:p>
            <a:pPr algn="l">
              <a:spcBef>
                <a:spcPts val="0"/>
              </a:spcBef>
            </a:pPr>
            <a:r>
              <a:rPr lang="en-US" sz="1600" b="1" dirty="0">
                <a:solidFill>
                  <a:srgbClr val="1F2328"/>
                </a:solidFill>
                <a:latin typeface="-apple-system"/>
              </a:rPr>
              <a:t>Server App flow</a:t>
            </a:r>
          </a:p>
          <a:p>
            <a:pPr marL="285750" indent="-285750" algn="l">
              <a:spcBef>
                <a:spcPts val="0"/>
              </a:spcBef>
              <a:buFont typeface="Arial" panose="020B0604020202020204" pitchFamily="34" charset="0"/>
              <a:buChar char="•"/>
            </a:pPr>
            <a:r>
              <a:rPr lang="en-US" sz="1600" dirty="0">
                <a:solidFill>
                  <a:srgbClr val="1F2328"/>
                </a:solidFill>
                <a:latin typeface="-apple-system"/>
              </a:rPr>
              <a:t>Envoy communicates to Server App using standard mTLS.</a:t>
            </a:r>
          </a:p>
        </p:txBody>
      </p:sp>
      <p:grpSp>
        <p:nvGrpSpPr>
          <p:cNvPr id="14" name="Group 13">
            <a:extLst>
              <a:ext uri="{FF2B5EF4-FFF2-40B4-BE49-F238E27FC236}">
                <a16:creationId xmlns:a16="http://schemas.microsoft.com/office/drawing/2014/main" id="{FD852769-C524-B4D5-FAA7-59BA498BB137}"/>
              </a:ext>
            </a:extLst>
          </p:cNvPr>
          <p:cNvGrpSpPr/>
          <p:nvPr/>
        </p:nvGrpSpPr>
        <p:grpSpPr>
          <a:xfrm>
            <a:off x="10153547" y="3731463"/>
            <a:ext cx="1414448" cy="660156"/>
            <a:chOff x="5703725" y="4021545"/>
            <a:chExt cx="2113527" cy="660156"/>
          </a:xfrm>
        </p:grpSpPr>
        <p:sp>
          <p:nvSpPr>
            <p:cNvPr id="22" name="Rounded Rectangle 38">
              <a:extLst>
                <a:ext uri="{FF2B5EF4-FFF2-40B4-BE49-F238E27FC236}">
                  <a16:creationId xmlns:a16="http://schemas.microsoft.com/office/drawing/2014/main" id="{16C24124-11EB-E88D-0765-108BF54CAC43}"/>
                </a:ext>
              </a:extLst>
            </p:cNvPr>
            <p:cNvSpPr/>
            <p:nvPr/>
          </p:nvSpPr>
          <p:spPr>
            <a:xfrm>
              <a:off x="5760688" y="4021545"/>
              <a:ext cx="2056564" cy="655411"/>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23" name="TextBox 22">
              <a:extLst>
                <a:ext uri="{FF2B5EF4-FFF2-40B4-BE49-F238E27FC236}">
                  <a16:creationId xmlns:a16="http://schemas.microsoft.com/office/drawing/2014/main" id="{F0FDB25F-D679-20C7-4DD3-7045E733319A}"/>
                </a:ext>
              </a:extLst>
            </p:cNvPr>
            <p:cNvSpPr txBox="1"/>
            <p:nvPr/>
          </p:nvSpPr>
          <p:spPr>
            <a:xfrm>
              <a:off x="6348054" y="4065408"/>
              <a:ext cx="1290242" cy="342658"/>
            </a:xfrm>
            <a:prstGeom prst="rect">
              <a:avLst/>
            </a:prstGeom>
            <a:noFill/>
          </p:spPr>
          <p:txBody>
            <a:bodyPr wrap="square" rtlCol="0">
              <a:spAutoFit/>
            </a:bodyPr>
            <a:lstStyle/>
            <a:p>
              <a:pPr algn="ctr"/>
              <a:r>
                <a:rPr lang="en-US" sz="1800" b="1" noProof="0" dirty="0"/>
                <a:t>HSM</a:t>
              </a:r>
              <a:endParaRPr lang="en-US" sz="1200" i="1" noProof="0" dirty="0"/>
            </a:p>
          </p:txBody>
        </p:sp>
        <p:pic>
          <p:nvPicPr>
            <p:cNvPr id="25" name="Picture 4" descr="Private key - Free security icons">
              <a:extLst>
                <a:ext uri="{FF2B5EF4-FFF2-40B4-BE49-F238E27FC236}">
                  <a16:creationId xmlns:a16="http://schemas.microsoft.com/office/drawing/2014/main" id="{A0688A1A-2406-19C2-D9ED-26BB1D1AAA5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03725" y="4034287"/>
              <a:ext cx="834232" cy="647414"/>
            </a:xfrm>
            <a:prstGeom prst="rect">
              <a:avLst/>
            </a:prstGeom>
            <a:noFill/>
            <a:extLst>
              <a:ext uri="{909E8E84-426E-40DD-AFC4-6F175D3DCCD1}">
                <a14:hiddenFill xmlns:a14="http://schemas.microsoft.com/office/drawing/2010/main">
                  <a:solidFill>
                    <a:srgbClr val="FFFFFF"/>
                  </a:solidFill>
                </a14:hiddenFill>
              </a:ext>
            </a:extLst>
          </p:spPr>
        </p:pic>
      </p:grpSp>
      <p:pic>
        <p:nvPicPr>
          <p:cNvPr id="28" name="Picture 2" descr="Free vector robotic artificial intelligence technology smart lerning from bigdata">
            <a:extLst>
              <a:ext uri="{FF2B5EF4-FFF2-40B4-BE49-F238E27FC236}">
                <a16:creationId xmlns:a16="http://schemas.microsoft.com/office/drawing/2014/main" id="{7A177D0C-20E8-64B9-2D53-F01E8512A37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75168" y="2948136"/>
            <a:ext cx="417982" cy="333852"/>
          </a:xfrm>
          <a:prstGeom prst="rect">
            <a:avLst/>
          </a:prstGeom>
          <a:noFill/>
          <a:extLst>
            <a:ext uri="{909E8E84-426E-40DD-AFC4-6F175D3DCCD1}">
              <a14:hiddenFill xmlns:a14="http://schemas.microsoft.com/office/drawing/2010/main">
                <a:solidFill>
                  <a:srgbClr val="FFFFFF"/>
                </a:solidFill>
              </a14:hiddenFill>
            </a:ext>
          </a:extLst>
        </p:spPr>
      </p:pic>
      <p:sp>
        <p:nvSpPr>
          <p:cNvPr id="64" name="Content Placeholder 1">
            <a:extLst>
              <a:ext uri="{FF2B5EF4-FFF2-40B4-BE49-F238E27FC236}">
                <a16:creationId xmlns:a16="http://schemas.microsoft.com/office/drawing/2014/main" id="{0B408FC3-E11D-B8A0-0764-C9C7CA9C5C9C}"/>
              </a:ext>
            </a:extLst>
          </p:cNvPr>
          <p:cNvSpPr txBox="1">
            <a:spLocks/>
          </p:cNvSpPr>
          <p:nvPr/>
        </p:nvSpPr>
        <p:spPr>
          <a:xfrm>
            <a:off x="889636" y="1120204"/>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Control Plane host</a:t>
            </a:r>
          </a:p>
        </p:txBody>
      </p:sp>
      <p:pic>
        <p:nvPicPr>
          <p:cNvPr id="65" name="Graphic 64" descr="Server with solid fill">
            <a:extLst>
              <a:ext uri="{FF2B5EF4-FFF2-40B4-BE49-F238E27FC236}">
                <a16:creationId xmlns:a16="http://schemas.microsoft.com/office/drawing/2014/main" id="{E1482999-51DF-5EF7-542A-BC15C03E5E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48" y="1154019"/>
            <a:ext cx="265472" cy="325991"/>
          </a:xfrm>
          <a:prstGeom prst="rect">
            <a:avLst/>
          </a:prstGeom>
        </p:spPr>
      </p:pic>
      <p:pic>
        <p:nvPicPr>
          <p:cNvPr id="32" name="Graphic 31" descr="Server with solid fill">
            <a:extLst>
              <a:ext uri="{FF2B5EF4-FFF2-40B4-BE49-F238E27FC236}">
                <a16:creationId xmlns:a16="http://schemas.microsoft.com/office/drawing/2014/main" id="{5D6AFA08-21BA-254D-855D-99AF8E7207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48" y="1154019"/>
            <a:ext cx="265472" cy="325991"/>
          </a:xfrm>
          <a:prstGeom prst="rect">
            <a:avLst/>
          </a:prstGeom>
        </p:spPr>
      </p:pic>
      <p:grpSp>
        <p:nvGrpSpPr>
          <p:cNvPr id="44" name="Group 43">
            <a:extLst>
              <a:ext uri="{FF2B5EF4-FFF2-40B4-BE49-F238E27FC236}">
                <a16:creationId xmlns:a16="http://schemas.microsoft.com/office/drawing/2014/main" id="{067C54B9-108B-7783-505C-071F5073B2AC}"/>
              </a:ext>
            </a:extLst>
          </p:cNvPr>
          <p:cNvGrpSpPr/>
          <p:nvPr/>
        </p:nvGrpSpPr>
        <p:grpSpPr>
          <a:xfrm>
            <a:off x="26706" y="1770250"/>
            <a:ext cx="764246" cy="1226633"/>
            <a:chOff x="26706" y="797790"/>
            <a:chExt cx="764246" cy="1226633"/>
          </a:xfrm>
        </p:grpSpPr>
        <p:pic>
          <p:nvPicPr>
            <p:cNvPr id="49" name="Picture 6" descr="UAYESOK Heavy Duty Magnetic Mount Mobile Antenna Dual-Band 2m 70cm VHF/UHF  Mag Base Antenna PL-259 Plug for Vehicel Truck SUV Mobile Radio Scanner ...">
              <a:extLst>
                <a:ext uri="{FF2B5EF4-FFF2-40B4-BE49-F238E27FC236}">
                  <a16:creationId xmlns:a16="http://schemas.microsoft.com/office/drawing/2014/main" id="{ADFB38F5-59F9-EA93-2039-DD639709F0D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6706" y="857524"/>
              <a:ext cx="764246" cy="89709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a:extLst>
                <a:ext uri="{FF2B5EF4-FFF2-40B4-BE49-F238E27FC236}">
                  <a16:creationId xmlns:a16="http://schemas.microsoft.com/office/drawing/2014/main" id="{8CF8CB68-B4A0-23F3-F202-F4A3788F1C3E}"/>
                </a:ext>
              </a:extLst>
            </p:cNvPr>
            <p:cNvPicPr>
              <a:picLocks noChangeAspect="1"/>
            </p:cNvPicPr>
            <p:nvPr/>
          </p:nvPicPr>
          <p:blipFill>
            <a:blip r:embed="rId9"/>
            <a:stretch>
              <a:fillRect/>
            </a:stretch>
          </p:blipFill>
          <p:spPr>
            <a:xfrm>
              <a:off x="143391" y="797790"/>
              <a:ext cx="528270" cy="295325"/>
            </a:xfrm>
            <a:prstGeom prst="rect">
              <a:avLst/>
            </a:prstGeom>
          </p:spPr>
        </p:pic>
        <p:sp>
          <p:nvSpPr>
            <p:cNvPr id="52" name="TextBox 51">
              <a:extLst>
                <a:ext uri="{FF2B5EF4-FFF2-40B4-BE49-F238E27FC236}">
                  <a16:creationId xmlns:a16="http://schemas.microsoft.com/office/drawing/2014/main" id="{921C6236-79BD-6C94-DB4C-5B2C72CF8C33}"/>
                </a:ext>
              </a:extLst>
            </p:cNvPr>
            <p:cNvSpPr txBox="1"/>
            <p:nvPr/>
          </p:nvSpPr>
          <p:spPr>
            <a:xfrm>
              <a:off x="130954" y="1765891"/>
              <a:ext cx="565541" cy="2585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RAN</a:t>
              </a:r>
            </a:p>
          </p:txBody>
        </p:sp>
      </p:grpSp>
    </p:spTree>
    <p:extLst>
      <p:ext uri="{BB962C8B-B14F-4D97-AF65-F5344CB8AC3E}">
        <p14:creationId xmlns:p14="http://schemas.microsoft.com/office/powerpoint/2010/main" val="1054079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9" grpId="0" animBg="1"/>
      <p:bldP spid="60" grpId="0"/>
      <p:bldP spid="75" grpId="0"/>
      <p:bldP spid="76" grpId="0"/>
      <p:bldP spid="2" grpId="0" animBg="1"/>
      <p:bldP spid="6" grpId="0"/>
      <p:bldP spid="5" grpId="0" animBg="1"/>
      <p:bldP spid="13" grpId="0" animBg="1"/>
      <p:bldP spid="4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7C953-1037-6A9A-1CB5-52BD581ED6BC}"/>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7C39E412-FDB5-F205-28F4-BC54F03B3FB5}"/>
              </a:ext>
            </a:extLst>
          </p:cNvPr>
          <p:cNvGrpSpPr/>
          <p:nvPr/>
        </p:nvGrpSpPr>
        <p:grpSpPr>
          <a:xfrm>
            <a:off x="26706" y="2060532"/>
            <a:ext cx="764246" cy="1226633"/>
            <a:chOff x="26706" y="797790"/>
            <a:chExt cx="764246" cy="1226633"/>
          </a:xfrm>
        </p:grpSpPr>
        <p:pic>
          <p:nvPicPr>
            <p:cNvPr id="35" name="Picture 6" descr="UAYESOK Heavy Duty Magnetic Mount Mobile Antenna Dual-Band 2m 70cm VHF/UHF  Mag Base Antenna PL-259 Plug for Vehicel Truck SUV Mobile Radio Scanner ...">
              <a:extLst>
                <a:ext uri="{FF2B5EF4-FFF2-40B4-BE49-F238E27FC236}">
                  <a16:creationId xmlns:a16="http://schemas.microsoft.com/office/drawing/2014/main" id="{C34D413D-A017-8C21-BFD7-02E14AD483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706" y="857524"/>
              <a:ext cx="764246" cy="89709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a:extLst>
                <a:ext uri="{FF2B5EF4-FFF2-40B4-BE49-F238E27FC236}">
                  <a16:creationId xmlns:a16="http://schemas.microsoft.com/office/drawing/2014/main" id="{C077CBA5-65FC-1746-F73E-19C67B63318F}"/>
                </a:ext>
              </a:extLst>
            </p:cNvPr>
            <p:cNvPicPr>
              <a:picLocks noChangeAspect="1"/>
            </p:cNvPicPr>
            <p:nvPr/>
          </p:nvPicPr>
          <p:blipFill>
            <a:blip r:embed="rId4"/>
            <a:stretch>
              <a:fillRect/>
            </a:stretch>
          </p:blipFill>
          <p:spPr>
            <a:xfrm>
              <a:off x="143391" y="797790"/>
              <a:ext cx="528270" cy="295325"/>
            </a:xfrm>
            <a:prstGeom prst="rect">
              <a:avLst/>
            </a:prstGeom>
          </p:spPr>
        </p:pic>
        <p:sp>
          <p:nvSpPr>
            <p:cNvPr id="38" name="TextBox 37">
              <a:extLst>
                <a:ext uri="{FF2B5EF4-FFF2-40B4-BE49-F238E27FC236}">
                  <a16:creationId xmlns:a16="http://schemas.microsoft.com/office/drawing/2014/main" id="{10140BCA-36B7-0135-ACB2-CA0E6DE5BA61}"/>
                </a:ext>
              </a:extLst>
            </p:cNvPr>
            <p:cNvSpPr txBox="1"/>
            <p:nvPr/>
          </p:nvSpPr>
          <p:spPr>
            <a:xfrm>
              <a:off x="130954" y="1765891"/>
              <a:ext cx="565541" cy="2585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RAN</a:t>
              </a:r>
            </a:p>
          </p:txBody>
        </p:sp>
      </p:grpSp>
      <p:sp>
        <p:nvSpPr>
          <p:cNvPr id="43" name="Google Shape;301;p13">
            <a:extLst>
              <a:ext uri="{FF2B5EF4-FFF2-40B4-BE49-F238E27FC236}">
                <a16:creationId xmlns:a16="http://schemas.microsoft.com/office/drawing/2014/main" id="{B83402C4-BF34-4182-DFE7-C237EF187B59}"/>
              </a:ext>
            </a:extLst>
          </p:cNvPr>
          <p:cNvSpPr/>
          <p:nvPr/>
        </p:nvSpPr>
        <p:spPr>
          <a:xfrm>
            <a:off x="840036" y="1642328"/>
            <a:ext cx="4884106" cy="1020030"/>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sp>
        <p:nvSpPr>
          <p:cNvPr id="3" name="Title 2">
            <a:extLst>
              <a:ext uri="{FF2B5EF4-FFF2-40B4-BE49-F238E27FC236}">
                <a16:creationId xmlns:a16="http://schemas.microsoft.com/office/drawing/2014/main" id="{B2FC374C-5725-37BE-1B97-98D14FA404EA}"/>
              </a:ext>
            </a:extLst>
          </p:cNvPr>
          <p:cNvSpPr>
            <a:spLocks noGrp="1"/>
          </p:cNvSpPr>
          <p:nvPr>
            <p:ph type="title"/>
          </p:nvPr>
        </p:nvSpPr>
        <p:spPr>
          <a:xfrm>
            <a:off x="23944" y="69294"/>
            <a:ext cx="11832413" cy="459342"/>
          </a:xfrm>
        </p:spPr>
        <p:txBody>
          <a:bodyPr>
            <a:noAutofit/>
          </a:bodyPr>
          <a:lstStyle/>
          <a:p>
            <a:r>
              <a:rPr lang="en-US" dirty="0">
                <a:solidFill>
                  <a:schemeClr val="accent6"/>
                </a:solidFill>
              </a:rPr>
              <a:t>Demo Act 3.1 – The Defense (The Rogue Admin)</a:t>
            </a:r>
          </a:p>
        </p:txBody>
      </p:sp>
      <p:sp>
        <p:nvSpPr>
          <p:cNvPr id="34" name="Google Shape;301;p13">
            <a:extLst>
              <a:ext uri="{FF2B5EF4-FFF2-40B4-BE49-F238E27FC236}">
                <a16:creationId xmlns:a16="http://schemas.microsoft.com/office/drawing/2014/main" id="{B79E333F-A1FC-33D5-0E82-4D6050F8FBE5}"/>
              </a:ext>
            </a:extLst>
          </p:cNvPr>
          <p:cNvSpPr/>
          <p:nvPr/>
        </p:nvSpPr>
        <p:spPr>
          <a:xfrm>
            <a:off x="850588" y="3143024"/>
            <a:ext cx="4884106" cy="2245619"/>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pic>
        <p:nvPicPr>
          <p:cNvPr id="37" name="Graphic 36" descr="Server with solid fill">
            <a:extLst>
              <a:ext uri="{FF2B5EF4-FFF2-40B4-BE49-F238E27FC236}">
                <a16:creationId xmlns:a16="http://schemas.microsoft.com/office/drawing/2014/main" id="{D2926CCD-B707-2D94-C3FB-2E356BC3519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0826" y="3000897"/>
            <a:ext cx="265472" cy="325991"/>
          </a:xfrm>
          <a:prstGeom prst="rect">
            <a:avLst/>
          </a:prstGeom>
        </p:spPr>
      </p:pic>
      <p:sp>
        <p:nvSpPr>
          <p:cNvPr id="45" name="TextBox 44">
            <a:extLst>
              <a:ext uri="{FF2B5EF4-FFF2-40B4-BE49-F238E27FC236}">
                <a16:creationId xmlns:a16="http://schemas.microsoft.com/office/drawing/2014/main" id="{FE590400-A52D-1F80-EC85-AEA28E30E99D}"/>
              </a:ext>
            </a:extLst>
          </p:cNvPr>
          <p:cNvSpPr txBox="1"/>
          <p:nvPr/>
        </p:nvSpPr>
        <p:spPr>
          <a:xfrm>
            <a:off x="4108121" y="3218764"/>
            <a:ext cx="1602978" cy="840230"/>
          </a:xfrm>
          <a:prstGeom prst="rect">
            <a:avLst/>
          </a:prstGeom>
          <a:solidFill>
            <a:schemeClr val="bg1"/>
          </a:solidFill>
          <a:ln w="19050">
            <a:solidFill>
              <a:schemeClr val="accent1"/>
            </a:solidFill>
          </a:ln>
        </p:spPr>
        <p:txBody>
          <a:bodyPr wrap="square" rtlCol="0">
            <a:spAutoFit/>
          </a:bodyPr>
          <a:lstStyle/>
          <a:p>
            <a:pPr algn="ctr">
              <a:spcBef>
                <a:spcPts val="0"/>
              </a:spcBef>
            </a:pPr>
            <a:endParaRPr lang="en-US" sz="1800" dirty="0">
              <a:solidFill>
                <a:schemeClr val="accent6">
                  <a:lumMod val="50000"/>
                </a:schemeClr>
              </a:solidFill>
            </a:endParaRPr>
          </a:p>
          <a:p>
            <a:pPr algn="ctr">
              <a:spcBef>
                <a:spcPts val="0"/>
              </a:spcBef>
            </a:pPr>
            <a:r>
              <a:rPr lang="en-US" sz="1800" dirty="0">
                <a:solidFill>
                  <a:schemeClr val="accent6">
                    <a:lumMod val="50000"/>
                  </a:schemeClr>
                </a:solidFill>
              </a:rPr>
              <a:t>Inference App (</a:t>
            </a:r>
            <a:r>
              <a:rPr lang="en-US" sz="1400" dirty="0">
                <a:solidFill>
                  <a:schemeClr val="accent6">
                    <a:lumMod val="50000"/>
                  </a:schemeClr>
                </a:solidFill>
              </a:rPr>
              <a:t>Client App)</a:t>
            </a:r>
          </a:p>
        </p:txBody>
      </p:sp>
      <p:sp>
        <p:nvSpPr>
          <p:cNvPr id="46" name="Content Placeholder 1">
            <a:extLst>
              <a:ext uri="{FF2B5EF4-FFF2-40B4-BE49-F238E27FC236}">
                <a16:creationId xmlns:a16="http://schemas.microsoft.com/office/drawing/2014/main" id="{48D14701-EE88-321C-CEAD-282D0D5B779E}"/>
              </a:ext>
            </a:extLst>
          </p:cNvPr>
          <p:cNvSpPr txBox="1">
            <a:spLocks/>
          </p:cNvSpPr>
          <p:nvPr/>
        </p:nvSpPr>
        <p:spPr>
          <a:xfrm>
            <a:off x="895994" y="2889769"/>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Location Anchor &amp; Client Application BM host</a:t>
            </a:r>
          </a:p>
        </p:txBody>
      </p:sp>
      <p:cxnSp>
        <p:nvCxnSpPr>
          <p:cNvPr id="50" name="Straight Connector 49">
            <a:extLst>
              <a:ext uri="{FF2B5EF4-FFF2-40B4-BE49-F238E27FC236}">
                <a16:creationId xmlns:a16="http://schemas.microsoft.com/office/drawing/2014/main" id="{5CF0BC97-A636-991C-78B5-7F28439D6275}"/>
              </a:ext>
            </a:extLst>
          </p:cNvPr>
          <p:cNvCxnSpPr>
            <a:cxnSpLocks/>
          </p:cNvCxnSpPr>
          <p:nvPr/>
        </p:nvCxnSpPr>
        <p:spPr>
          <a:xfrm>
            <a:off x="6403403" y="1627201"/>
            <a:ext cx="0" cy="5194552"/>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23B92965-8E61-2170-5D26-92060AD34048}"/>
              </a:ext>
            </a:extLst>
          </p:cNvPr>
          <p:cNvGrpSpPr/>
          <p:nvPr/>
        </p:nvGrpSpPr>
        <p:grpSpPr>
          <a:xfrm>
            <a:off x="4295768" y="4899281"/>
            <a:ext cx="1007465" cy="426498"/>
            <a:chOff x="5703725" y="3536385"/>
            <a:chExt cx="2113527" cy="1145316"/>
          </a:xfrm>
        </p:grpSpPr>
        <p:sp>
          <p:nvSpPr>
            <p:cNvPr id="9" name="Rounded Rectangle 38">
              <a:extLst>
                <a:ext uri="{FF2B5EF4-FFF2-40B4-BE49-F238E27FC236}">
                  <a16:creationId xmlns:a16="http://schemas.microsoft.com/office/drawing/2014/main" id="{8810AEA9-DF8F-3EF2-5528-862ED66097EC}"/>
                </a:ext>
              </a:extLst>
            </p:cNvPr>
            <p:cNvSpPr/>
            <p:nvPr/>
          </p:nvSpPr>
          <p:spPr>
            <a:xfrm>
              <a:off x="5760688" y="3536385"/>
              <a:ext cx="2056564" cy="114057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10" name="TextBox 9">
              <a:extLst>
                <a:ext uri="{FF2B5EF4-FFF2-40B4-BE49-F238E27FC236}">
                  <a16:creationId xmlns:a16="http://schemas.microsoft.com/office/drawing/2014/main" id="{22D2BF9B-78B1-5880-D9FF-1E63D9EAA69B}"/>
                </a:ext>
              </a:extLst>
            </p:cNvPr>
            <p:cNvSpPr txBox="1"/>
            <p:nvPr/>
          </p:nvSpPr>
          <p:spPr>
            <a:xfrm>
              <a:off x="6170429" y="3898932"/>
              <a:ext cx="1290240" cy="524952"/>
            </a:xfrm>
            <a:prstGeom prst="rect">
              <a:avLst/>
            </a:prstGeom>
            <a:noFill/>
          </p:spPr>
          <p:txBody>
            <a:bodyPr wrap="square" rtlCol="0">
              <a:spAutoFit/>
            </a:bodyPr>
            <a:lstStyle/>
            <a:p>
              <a:pPr algn="ctr"/>
              <a:r>
                <a:rPr lang="en-US" sz="1600" b="1" noProof="0" dirty="0"/>
                <a:t>TPM</a:t>
              </a:r>
              <a:endParaRPr lang="en-US" sz="1600" i="1" noProof="0" dirty="0"/>
            </a:p>
          </p:txBody>
        </p:sp>
        <p:pic>
          <p:nvPicPr>
            <p:cNvPr id="11" name="Picture 4" descr="Private key - Free security icons">
              <a:extLst>
                <a:ext uri="{FF2B5EF4-FFF2-40B4-BE49-F238E27FC236}">
                  <a16:creationId xmlns:a16="http://schemas.microsoft.com/office/drawing/2014/main" id="{7173D5B6-DDF9-37D9-F9D3-B41188E6974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03725" y="4034287"/>
              <a:ext cx="634384" cy="647414"/>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TextBox 11">
            <a:extLst>
              <a:ext uri="{FF2B5EF4-FFF2-40B4-BE49-F238E27FC236}">
                <a16:creationId xmlns:a16="http://schemas.microsoft.com/office/drawing/2014/main" id="{CDEA57B8-DC50-4F7F-FAEF-FF2E96A97336}"/>
              </a:ext>
            </a:extLst>
          </p:cNvPr>
          <p:cNvSpPr txBox="1"/>
          <p:nvPr/>
        </p:nvSpPr>
        <p:spPr>
          <a:xfrm>
            <a:off x="903579" y="4904908"/>
            <a:ext cx="2616502" cy="4247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Mobile location sensor                               (e.g., USB tethered smartphone)</a:t>
            </a:r>
          </a:p>
        </p:txBody>
      </p:sp>
      <p:sp>
        <p:nvSpPr>
          <p:cNvPr id="16" name="TextBox 15">
            <a:extLst>
              <a:ext uri="{FF2B5EF4-FFF2-40B4-BE49-F238E27FC236}">
                <a16:creationId xmlns:a16="http://schemas.microsoft.com/office/drawing/2014/main" id="{F2E891D9-EC09-FB93-4398-E947AB68F0A7}"/>
              </a:ext>
            </a:extLst>
          </p:cNvPr>
          <p:cNvSpPr txBox="1"/>
          <p:nvPr/>
        </p:nvSpPr>
        <p:spPr>
          <a:xfrm>
            <a:off x="946438" y="1735294"/>
            <a:ext cx="1783037"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Host Identity (Keylime Verifier &amp; Registrar)</a:t>
            </a:r>
            <a:endParaRPr lang="en-US" sz="1800" dirty="0">
              <a:solidFill>
                <a:schemeClr val="accent6"/>
              </a:solidFill>
            </a:endParaRPr>
          </a:p>
        </p:txBody>
      </p:sp>
      <p:sp>
        <p:nvSpPr>
          <p:cNvPr id="17" name="TextBox 16">
            <a:extLst>
              <a:ext uri="{FF2B5EF4-FFF2-40B4-BE49-F238E27FC236}">
                <a16:creationId xmlns:a16="http://schemas.microsoft.com/office/drawing/2014/main" id="{AA23A916-27E6-DC5F-7D74-391F86496B30}"/>
              </a:ext>
            </a:extLst>
          </p:cNvPr>
          <p:cNvSpPr txBox="1"/>
          <p:nvPr/>
        </p:nvSpPr>
        <p:spPr>
          <a:xfrm>
            <a:off x="2959214" y="1735180"/>
            <a:ext cx="1517123"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Workload Identity (Spire Server)</a:t>
            </a:r>
            <a:endParaRPr lang="en-US" sz="1800" dirty="0">
              <a:solidFill>
                <a:schemeClr val="accent6"/>
              </a:solidFill>
            </a:endParaRPr>
          </a:p>
        </p:txBody>
      </p:sp>
      <p:sp>
        <p:nvSpPr>
          <p:cNvPr id="18" name="TextBox 17">
            <a:extLst>
              <a:ext uri="{FF2B5EF4-FFF2-40B4-BE49-F238E27FC236}">
                <a16:creationId xmlns:a16="http://schemas.microsoft.com/office/drawing/2014/main" id="{BBEC4BB1-ADE9-F192-48A7-743963BAC1E3}"/>
              </a:ext>
            </a:extLst>
          </p:cNvPr>
          <p:cNvSpPr txBox="1"/>
          <p:nvPr/>
        </p:nvSpPr>
        <p:spPr>
          <a:xfrm>
            <a:off x="946438" y="4198802"/>
            <a:ext cx="976743"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Keylime Agent</a:t>
            </a:r>
            <a:endParaRPr lang="en-US" sz="1800" dirty="0">
              <a:solidFill>
                <a:schemeClr val="accent6"/>
              </a:solidFill>
            </a:endParaRPr>
          </a:p>
        </p:txBody>
      </p:sp>
      <p:sp>
        <p:nvSpPr>
          <p:cNvPr id="19" name="TextBox 18">
            <a:extLst>
              <a:ext uri="{FF2B5EF4-FFF2-40B4-BE49-F238E27FC236}">
                <a16:creationId xmlns:a16="http://schemas.microsoft.com/office/drawing/2014/main" id="{6D6BAE6C-90A8-7E08-2C32-C3ABD9C603FB}"/>
              </a:ext>
            </a:extLst>
          </p:cNvPr>
          <p:cNvSpPr txBox="1"/>
          <p:nvPr/>
        </p:nvSpPr>
        <p:spPr>
          <a:xfrm>
            <a:off x="2207312" y="4198801"/>
            <a:ext cx="101081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Agent</a:t>
            </a:r>
            <a:endParaRPr lang="en-US" sz="1800" dirty="0">
              <a:solidFill>
                <a:schemeClr val="accent6"/>
              </a:solidFill>
            </a:endParaRPr>
          </a:p>
        </p:txBody>
      </p:sp>
      <p:sp>
        <p:nvSpPr>
          <p:cNvPr id="20" name="TextBox 19">
            <a:extLst>
              <a:ext uri="{FF2B5EF4-FFF2-40B4-BE49-F238E27FC236}">
                <a16:creationId xmlns:a16="http://schemas.microsoft.com/office/drawing/2014/main" id="{1CBC2692-B2A5-91E9-5FCE-98A94DC49AEC}"/>
              </a:ext>
            </a:extLst>
          </p:cNvPr>
          <p:cNvSpPr txBox="1"/>
          <p:nvPr/>
        </p:nvSpPr>
        <p:spPr>
          <a:xfrm>
            <a:off x="3501498" y="4194803"/>
            <a:ext cx="117367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TPM Plugin</a:t>
            </a:r>
            <a:endParaRPr lang="en-US" sz="1800" dirty="0">
              <a:solidFill>
                <a:schemeClr val="accent6"/>
              </a:solidFill>
            </a:endParaRPr>
          </a:p>
        </p:txBody>
      </p:sp>
      <p:cxnSp>
        <p:nvCxnSpPr>
          <p:cNvPr id="21" name="Straight Arrow Connector 20">
            <a:extLst>
              <a:ext uri="{FF2B5EF4-FFF2-40B4-BE49-F238E27FC236}">
                <a16:creationId xmlns:a16="http://schemas.microsoft.com/office/drawing/2014/main" id="{74BA09FA-061C-2AD8-C5D5-1C5E56053972}"/>
              </a:ext>
            </a:extLst>
          </p:cNvPr>
          <p:cNvCxnSpPr>
            <a:cxnSpLocks/>
            <a:stCxn id="45" idx="2"/>
          </p:cNvCxnSpPr>
          <p:nvPr/>
        </p:nvCxnSpPr>
        <p:spPr>
          <a:xfrm flipH="1">
            <a:off x="2668793" y="4058994"/>
            <a:ext cx="2240817" cy="11354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14142BA-EA75-1C21-60C2-45ADD6D67C12}"/>
              </a:ext>
            </a:extLst>
          </p:cNvPr>
          <p:cNvCxnSpPr>
            <a:cxnSpLocks/>
            <a:stCxn id="19" idx="0"/>
            <a:endCxn id="17" idx="2"/>
          </p:cNvCxnSpPr>
          <p:nvPr/>
        </p:nvCxnSpPr>
        <p:spPr>
          <a:xfrm flipV="1">
            <a:off x="2712717" y="2575410"/>
            <a:ext cx="1005059" cy="162339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C5776E4-E181-A210-6961-8E7F6EAA5B98}"/>
              </a:ext>
            </a:extLst>
          </p:cNvPr>
          <p:cNvSpPr txBox="1"/>
          <p:nvPr/>
        </p:nvSpPr>
        <p:spPr>
          <a:xfrm>
            <a:off x="0" y="5455739"/>
            <a:ext cx="6496473" cy="1200329"/>
          </a:xfrm>
          <a:prstGeom prst="rect">
            <a:avLst/>
          </a:prstGeom>
          <a:noFill/>
        </p:spPr>
        <p:txBody>
          <a:bodyPr wrap="square">
            <a:spAutoFit/>
          </a:bodyPr>
          <a:lstStyle/>
          <a:p>
            <a:pPr>
              <a:spcBef>
                <a:spcPts val="0"/>
              </a:spcBef>
            </a:pPr>
            <a:r>
              <a:rPr lang="en-US" sz="1600" b="1" dirty="0">
                <a:solidFill>
                  <a:srgbClr val="C00000"/>
                </a:solidFill>
              </a:rPr>
              <a:t>Rogue Admin Action</a:t>
            </a:r>
            <a:r>
              <a:rPr lang="en-US" sz="1600" dirty="0">
                <a:solidFill>
                  <a:srgbClr val="C00000"/>
                </a:solidFill>
              </a:rPr>
              <a:t>: Physically disconnecting the USB Mobile Sensor from the host machine.</a:t>
            </a:r>
          </a:p>
          <a:p>
            <a:pPr>
              <a:spcBef>
                <a:spcPts val="0"/>
              </a:spcBef>
            </a:pPr>
            <a:endParaRPr lang="en-US" sz="1600" dirty="0">
              <a:solidFill>
                <a:srgbClr val="1F2328"/>
              </a:solidFill>
              <a:latin typeface="-apple-system"/>
            </a:endParaRPr>
          </a:p>
          <a:p>
            <a:pPr>
              <a:spcBef>
                <a:spcPts val="0"/>
              </a:spcBef>
            </a:pPr>
            <a:r>
              <a:rPr lang="en-US" sz="1600" b="1" dirty="0">
                <a:solidFill>
                  <a:srgbClr val="1F2328"/>
                </a:solidFill>
                <a:latin typeface="-apple-system"/>
              </a:rPr>
              <a:t>Client App Workload SVID</a:t>
            </a:r>
            <a:r>
              <a:rPr lang="en-US" sz="1600" dirty="0">
                <a:solidFill>
                  <a:srgbClr val="1F2328"/>
                </a:solidFill>
                <a:latin typeface="-apple-system"/>
              </a:rPr>
              <a:t>: Degraded, no location ID (has workload id and host TPM id)</a:t>
            </a:r>
          </a:p>
        </p:txBody>
      </p:sp>
      <p:cxnSp>
        <p:nvCxnSpPr>
          <p:cNvPr id="27" name="Straight Arrow Connector 26">
            <a:extLst>
              <a:ext uri="{FF2B5EF4-FFF2-40B4-BE49-F238E27FC236}">
                <a16:creationId xmlns:a16="http://schemas.microsoft.com/office/drawing/2014/main" id="{955C16DC-E3F3-FCF3-05FA-2304B0341A1F}"/>
              </a:ext>
            </a:extLst>
          </p:cNvPr>
          <p:cNvCxnSpPr>
            <a:cxnSpLocks/>
            <a:stCxn id="16" idx="3"/>
            <a:endCxn id="17" idx="1"/>
          </p:cNvCxnSpPr>
          <p:nvPr/>
        </p:nvCxnSpPr>
        <p:spPr>
          <a:xfrm flipV="1">
            <a:off x="2729475" y="2155295"/>
            <a:ext cx="229739" cy="11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AF45135-3258-47FB-5964-92205202F85F}"/>
              </a:ext>
            </a:extLst>
          </p:cNvPr>
          <p:cNvCxnSpPr>
            <a:cxnSpLocks/>
            <a:stCxn id="18" idx="0"/>
            <a:endCxn id="16" idx="2"/>
          </p:cNvCxnSpPr>
          <p:nvPr/>
        </p:nvCxnSpPr>
        <p:spPr>
          <a:xfrm flipV="1">
            <a:off x="1434810" y="2575524"/>
            <a:ext cx="403147" cy="16232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91887F3-EF9A-B7D7-4485-E429122C28BB}"/>
              </a:ext>
            </a:extLst>
          </p:cNvPr>
          <p:cNvCxnSpPr>
            <a:cxnSpLocks/>
          </p:cNvCxnSpPr>
          <p:nvPr/>
        </p:nvCxnSpPr>
        <p:spPr>
          <a:xfrm flipH="1">
            <a:off x="1916268" y="4490269"/>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A60B7C4-6DDB-7D53-29EB-54153A2F892A}"/>
              </a:ext>
            </a:extLst>
          </p:cNvPr>
          <p:cNvCxnSpPr>
            <a:cxnSpLocks/>
            <a:stCxn id="19" idx="3"/>
            <a:endCxn id="20" idx="1"/>
          </p:cNvCxnSpPr>
          <p:nvPr/>
        </p:nvCxnSpPr>
        <p:spPr>
          <a:xfrm flipV="1">
            <a:off x="3218122" y="4490269"/>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8" name="Picture 2" descr="Free vector robotic artificial intelligence technology smart lerning from bigdata">
            <a:extLst>
              <a:ext uri="{FF2B5EF4-FFF2-40B4-BE49-F238E27FC236}">
                <a16:creationId xmlns:a16="http://schemas.microsoft.com/office/drawing/2014/main" id="{05D690AC-E05C-248A-A3A3-85D6D91BD0C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675168" y="3227104"/>
            <a:ext cx="417982" cy="333852"/>
          </a:xfrm>
          <a:prstGeom prst="rect">
            <a:avLst/>
          </a:prstGeom>
          <a:noFill/>
          <a:extLst>
            <a:ext uri="{909E8E84-426E-40DD-AFC4-6F175D3DCCD1}">
              <a14:hiddenFill xmlns:a14="http://schemas.microsoft.com/office/drawing/2010/main">
                <a:solidFill>
                  <a:srgbClr val="FFFFFF"/>
                </a:solidFill>
              </a14:hiddenFill>
            </a:ext>
          </a:extLst>
        </p:spPr>
      </p:pic>
      <p:sp>
        <p:nvSpPr>
          <p:cNvPr id="64" name="Content Placeholder 1">
            <a:extLst>
              <a:ext uri="{FF2B5EF4-FFF2-40B4-BE49-F238E27FC236}">
                <a16:creationId xmlns:a16="http://schemas.microsoft.com/office/drawing/2014/main" id="{662642BA-9AC0-D237-F6DF-C64A98D05648}"/>
              </a:ext>
            </a:extLst>
          </p:cNvPr>
          <p:cNvSpPr txBox="1">
            <a:spLocks/>
          </p:cNvSpPr>
          <p:nvPr/>
        </p:nvSpPr>
        <p:spPr>
          <a:xfrm>
            <a:off x="889636" y="1399172"/>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Control Plane host</a:t>
            </a:r>
          </a:p>
        </p:txBody>
      </p:sp>
      <p:pic>
        <p:nvPicPr>
          <p:cNvPr id="65" name="Graphic 64" descr="Server with solid fill">
            <a:extLst>
              <a:ext uri="{FF2B5EF4-FFF2-40B4-BE49-F238E27FC236}">
                <a16:creationId xmlns:a16="http://schemas.microsoft.com/office/drawing/2014/main" id="{C664B965-39A1-F74A-559C-0CB6A86610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2748" y="1432987"/>
            <a:ext cx="265472" cy="325991"/>
          </a:xfrm>
          <a:prstGeom prst="rect">
            <a:avLst/>
          </a:prstGeom>
        </p:spPr>
      </p:pic>
      <p:sp>
        <p:nvSpPr>
          <p:cNvPr id="32" name="Multiplication Sign 31">
            <a:extLst>
              <a:ext uri="{FF2B5EF4-FFF2-40B4-BE49-F238E27FC236}">
                <a16:creationId xmlns:a16="http://schemas.microsoft.com/office/drawing/2014/main" id="{1851A979-10E7-7652-FD88-A174B9688938}"/>
              </a:ext>
            </a:extLst>
          </p:cNvPr>
          <p:cNvSpPr/>
          <p:nvPr/>
        </p:nvSpPr>
        <p:spPr>
          <a:xfrm>
            <a:off x="854279" y="4863885"/>
            <a:ext cx="409871" cy="379622"/>
          </a:xfrm>
          <a:prstGeom prst="mathMultiply">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7" name="Content Placeholder 1">
            <a:extLst>
              <a:ext uri="{FF2B5EF4-FFF2-40B4-BE49-F238E27FC236}">
                <a16:creationId xmlns:a16="http://schemas.microsoft.com/office/drawing/2014/main" id="{057344F4-D7EB-0018-CC6C-874B0BB2D896}"/>
              </a:ext>
            </a:extLst>
          </p:cNvPr>
          <p:cNvSpPr>
            <a:spLocks noGrp="1"/>
          </p:cNvSpPr>
          <p:nvPr>
            <p:ph idx="1"/>
          </p:nvPr>
        </p:nvSpPr>
        <p:spPr>
          <a:xfrm>
            <a:off x="6403402" y="528536"/>
            <a:ext cx="5796347" cy="3216150"/>
          </a:xfrm>
        </p:spPr>
        <p:txBody>
          <a:bodyPr>
            <a:normAutofit/>
          </a:bodyPr>
          <a:lstStyle/>
          <a:p>
            <a:endParaRPr lang="en-US" b="1" dirty="0">
              <a:solidFill>
                <a:schemeClr val="accent6">
                  <a:lumMod val="50000"/>
                </a:schemeClr>
              </a:solidFill>
            </a:endParaRPr>
          </a:p>
          <a:p>
            <a:r>
              <a:rPr lang="en-US" b="1" dirty="0">
                <a:solidFill>
                  <a:schemeClr val="accent6">
                    <a:lumMod val="50000"/>
                  </a:schemeClr>
                </a:solidFill>
              </a:rPr>
              <a:t>Degraded Spire Agent ID without Geolocation</a:t>
            </a:r>
            <a:endParaRPr lang="en-US" dirty="0">
              <a:solidFill>
                <a:schemeClr val="accent6">
                  <a:lumMod val="50000"/>
                </a:schemeClr>
              </a:solidFill>
            </a:endParaRPr>
          </a:p>
          <a:p>
            <a:pPr lvl="1" eaLnBrk="0" fontAlgn="base" hangingPunct="0">
              <a:lnSpc>
                <a:spcPct val="100000"/>
              </a:lnSpc>
              <a:spcBef>
                <a:spcPct val="0"/>
              </a:spcBef>
              <a:spcAft>
                <a:spcPct val="0"/>
              </a:spcAft>
            </a:pPr>
            <a:endParaRPr lang="en-US" altLang="en-US" dirty="0">
              <a:solidFill>
                <a:schemeClr val="accent6"/>
              </a:solidFill>
              <a:latin typeface="+mn-lt"/>
            </a:endParaRPr>
          </a:p>
          <a:p>
            <a:pPr lvl="1" eaLnBrk="0" fontAlgn="base" hangingPunct="0">
              <a:lnSpc>
                <a:spcPct val="100000"/>
              </a:lnSpc>
              <a:spcBef>
                <a:spcPct val="0"/>
              </a:spcBef>
              <a:spcAft>
                <a:spcPct val="0"/>
              </a:spcAft>
            </a:pPr>
            <a:r>
              <a:rPr lang="en-US" altLang="en-US" dirty="0">
                <a:solidFill>
                  <a:schemeClr val="accent6"/>
                </a:solidFill>
                <a:latin typeface="+mn-lt"/>
              </a:rPr>
              <a:t>Outer Layer: </a:t>
            </a:r>
            <a:r>
              <a:rPr lang="en-US" altLang="en-US" b="1" dirty="0">
                <a:solidFill>
                  <a:schemeClr val="accent6"/>
                </a:solidFill>
                <a:latin typeface="+mn-lt"/>
              </a:rPr>
              <a:t>Spire Agent ID</a:t>
            </a:r>
            <a:r>
              <a:rPr lang="en-US" altLang="en-US" dirty="0">
                <a:solidFill>
                  <a:schemeClr val="accent6"/>
                </a:solidFill>
                <a:latin typeface="+mn-lt"/>
              </a:rPr>
              <a:t> (TPM rooted key)</a:t>
            </a:r>
          </a:p>
          <a:p>
            <a:pPr lvl="1" eaLnBrk="0" fontAlgn="base" hangingPunct="0">
              <a:lnSpc>
                <a:spcPct val="100000"/>
              </a:lnSpc>
              <a:spcBef>
                <a:spcPct val="0"/>
              </a:spcBef>
              <a:spcAft>
                <a:spcPct val="0"/>
              </a:spcAft>
            </a:pPr>
            <a:endParaRPr lang="en-US" altLang="en-US" dirty="0">
              <a:solidFill>
                <a:schemeClr val="accent6"/>
              </a:solidFill>
              <a:latin typeface="+mn-lt"/>
            </a:endParaRPr>
          </a:p>
          <a:p>
            <a:pPr eaLnBrk="0" fontAlgn="base" hangingPunct="0">
              <a:lnSpc>
                <a:spcPct val="100000"/>
              </a:lnSpc>
              <a:spcBef>
                <a:spcPct val="0"/>
              </a:spcBef>
              <a:spcAft>
                <a:spcPct val="0"/>
              </a:spcAft>
            </a:pPr>
            <a:r>
              <a:rPr lang="en-US" b="1" dirty="0">
                <a:solidFill>
                  <a:schemeClr val="accent6">
                    <a:lumMod val="50000"/>
                  </a:schemeClr>
                </a:solidFill>
              </a:rPr>
              <a:t>Degraded Workload ID without Geolocation</a:t>
            </a:r>
          </a:p>
          <a:p>
            <a:pPr eaLnBrk="0" fontAlgn="base" hangingPunct="0">
              <a:lnSpc>
                <a:spcPct val="100000"/>
              </a:lnSpc>
              <a:spcBef>
                <a:spcPct val="0"/>
              </a:spcBef>
              <a:spcAft>
                <a:spcPct val="0"/>
              </a:spcAft>
            </a:pPr>
            <a:endParaRPr lang="en-US" b="1" dirty="0">
              <a:solidFill>
                <a:schemeClr val="accent6">
                  <a:lumMod val="50000"/>
                </a:schemeClr>
              </a:solidFill>
            </a:endParaRPr>
          </a:p>
          <a:p>
            <a:pPr lvl="1" eaLnBrk="0" fontAlgn="base" hangingPunct="0">
              <a:lnSpc>
                <a:spcPct val="100000"/>
              </a:lnSpc>
              <a:spcBef>
                <a:spcPct val="0"/>
              </a:spcBef>
              <a:spcAft>
                <a:spcPct val="0"/>
              </a:spcAft>
            </a:pPr>
            <a:r>
              <a:rPr lang="en-US" altLang="en-US" dirty="0">
                <a:solidFill>
                  <a:schemeClr val="accent6"/>
                </a:solidFill>
              </a:rPr>
              <a:t>Outer Layer: </a:t>
            </a:r>
            <a:r>
              <a:rPr lang="en-US" altLang="en-US" b="1" dirty="0">
                <a:solidFill>
                  <a:schemeClr val="accent6"/>
                </a:solidFill>
              </a:rPr>
              <a:t>Workload ID</a:t>
            </a:r>
            <a:r>
              <a:rPr lang="en-US" altLang="en-US" dirty="0">
                <a:solidFill>
                  <a:schemeClr val="accent6"/>
                </a:solidFill>
              </a:rPr>
              <a:t> (Software)</a:t>
            </a:r>
          </a:p>
          <a:p>
            <a:pPr lvl="1" eaLnBrk="0" fontAlgn="base" hangingPunct="0">
              <a:lnSpc>
                <a:spcPct val="100000"/>
              </a:lnSpc>
              <a:spcBef>
                <a:spcPct val="0"/>
              </a:spcBef>
              <a:spcAft>
                <a:spcPct val="0"/>
              </a:spcAft>
            </a:pPr>
            <a:endParaRPr lang="en-US" altLang="en-US" dirty="0">
              <a:solidFill>
                <a:schemeClr val="accent6"/>
              </a:solidFill>
            </a:endParaRPr>
          </a:p>
          <a:p>
            <a:pPr lvl="1" eaLnBrk="0" fontAlgn="base" hangingPunct="0">
              <a:lnSpc>
                <a:spcPct val="100000"/>
              </a:lnSpc>
              <a:spcBef>
                <a:spcPct val="0"/>
              </a:spcBef>
              <a:spcAft>
                <a:spcPct val="0"/>
              </a:spcAft>
            </a:pPr>
            <a:r>
              <a:rPr lang="en-US" altLang="en-US" dirty="0">
                <a:solidFill>
                  <a:schemeClr val="accent6"/>
                </a:solidFill>
              </a:rPr>
              <a:t>Inner Core: </a:t>
            </a:r>
            <a:r>
              <a:rPr lang="en-US" altLang="en-US" b="1" dirty="0">
                <a:solidFill>
                  <a:schemeClr val="accent6"/>
                </a:solidFill>
              </a:rPr>
              <a:t>Spire Agent ID</a:t>
            </a:r>
            <a:r>
              <a:rPr lang="en-US" altLang="en-US" dirty="0">
                <a:solidFill>
                  <a:schemeClr val="accent6"/>
                </a:solidFill>
              </a:rPr>
              <a:t> (TPM attestation)</a:t>
            </a:r>
          </a:p>
          <a:p>
            <a:pPr lvl="1" eaLnBrk="0" fontAlgn="base" hangingPunct="0">
              <a:lnSpc>
                <a:spcPct val="100000"/>
              </a:lnSpc>
              <a:spcBef>
                <a:spcPct val="0"/>
              </a:spcBef>
              <a:spcAft>
                <a:spcPct val="0"/>
              </a:spcAft>
            </a:pPr>
            <a:endParaRPr lang="en-US" dirty="0">
              <a:solidFill>
                <a:schemeClr val="accent6">
                  <a:lumMod val="50000"/>
                </a:schemeClr>
              </a:solidFill>
            </a:endParaRPr>
          </a:p>
          <a:p>
            <a:pPr eaLnBrk="0" fontAlgn="base" hangingPunct="0">
              <a:lnSpc>
                <a:spcPct val="100000"/>
              </a:lnSpc>
              <a:spcBef>
                <a:spcPct val="0"/>
              </a:spcBef>
              <a:spcAft>
                <a:spcPct val="0"/>
              </a:spcAft>
            </a:pPr>
            <a:endParaRPr lang="en-US" altLang="en-US" dirty="0">
              <a:solidFill>
                <a:schemeClr val="accent6"/>
              </a:solidFill>
              <a:latin typeface="+mn-lt"/>
            </a:endParaRPr>
          </a:p>
          <a:p>
            <a:pPr marL="0" indent="0">
              <a:buNone/>
            </a:pPr>
            <a:endParaRPr lang="en-US" sz="1600" dirty="0"/>
          </a:p>
          <a:p>
            <a:endParaRPr lang="en-US" dirty="0"/>
          </a:p>
        </p:txBody>
      </p:sp>
    </p:spTree>
    <p:extLst>
      <p:ext uri="{BB962C8B-B14F-4D97-AF65-F5344CB8AC3E}">
        <p14:creationId xmlns:p14="http://schemas.microsoft.com/office/powerpoint/2010/main" val="297222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26" grpId="0"/>
      <p:bldP spid="32" grpId="0" animBg="1"/>
      <p:bldP spid="7"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D9CF3-21BF-4973-2884-3327BF56F0F2}"/>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E15923C3-6676-66C5-23B3-F03418D01452}"/>
              </a:ext>
            </a:extLst>
          </p:cNvPr>
          <p:cNvGrpSpPr/>
          <p:nvPr/>
        </p:nvGrpSpPr>
        <p:grpSpPr>
          <a:xfrm>
            <a:off x="26706" y="2060530"/>
            <a:ext cx="764246" cy="1226633"/>
            <a:chOff x="26706" y="797790"/>
            <a:chExt cx="764246" cy="1226633"/>
          </a:xfrm>
        </p:grpSpPr>
        <p:pic>
          <p:nvPicPr>
            <p:cNvPr id="26" name="Picture 6" descr="UAYESOK Heavy Duty Magnetic Mount Mobile Antenna Dual-Band 2m 70cm VHF/UHF  Mag Base Antenna PL-259 Plug for Vehicel Truck SUV Mobile Radio Scanner ...">
              <a:extLst>
                <a:ext uri="{FF2B5EF4-FFF2-40B4-BE49-F238E27FC236}">
                  <a16:creationId xmlns:a16="http://schemas.microsoft.com/office/drawing/2014/main" id="{5C6ED554-C004-B4F7-6568-CF184502202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706" y="857524"/>
              <a:ext cx="764246" cy="89709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7C6DFCC7-BD0E-8CAE-4D65-6A3A3BA57E59}"/>
                </a:ext>
              </a:extLst>
            </p:cNvPr>
            <p:cNvPicPr>
              <a:picLocks noChangeAspect="1"/>
            </p:cNvPicPr>
            <p:nvPr/>
          </p:nvPicPr>
          <p:blipFill>
            <a:blip r:embed="rId4"/>
            <a:stretch>
              <a:fillRect/>
            </a:stretch>
          </p:blipFill>
          <p:spPr>
            <a:xfrm>
              <a:off x="143391" y="797790"/>
              <a:ext cx="528270" cy="295325"/>
            </a:xfrm>
            <a:prstGeom prst="rect">
              <a:avLst/>
            </a:prstGeom>
          </p:spPr>
        </p:pic>
        <p:sp>
          <p:nvSpPr>
            <p:cNvPr id="31" name="TextBox 30">
              <a:extLst>
                <a:ext uri="{FF2B5EF4-FFF2-40B4-BE49-F238E27FC236}">
                  <a16:creationId xmlns:a16="http://schemas.microsoft.com/office/drawing/2014/main" id="{9BFA96F0-8663-B7ED-EC61-8459D66E07F3}"/>
                </a:ext>
              </a:extLst>
            </p:cNvPr>
            <p:cNvSpPr txBox="1"/>
            <p:nvPr/>
          </p:nvSpPr>
          <p:spPr>
            <a:xfrm>
              <a:off x="130954" y="1765891"/>
              <a:ext cx="565541" cy="2585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RAN</a:t>
              </a:r>
            </a:p>
          </p:txBody>
        </p:sp>
      </p:grpSp>
      <p:sp>
        <p:nvSpPr>
          <p:cNvPr id="43" name="Google Shape;301;p13">
            <a:extLst>
              <a:ext uri="{FF2B5EF4-FFF2-40B4-BE49-F238E27FC236}">
                <a16:creationId xmlns:a16="http://schemas.microsoft.com/office/drawing/2014/main" id="{87762A45-1020-0A52-EE46-27A0312910EA}"/>
              </a:ext>
            </a:extLst>
          </p:cNvPr>
          <p:cNvSpPr/>
          <p:nvPr/>
        </p:nvSpPr>
        <p:spPr>
          <a:xfrm>
            <a:off x="840036" y="1642328"/>
            <a:ext cx="4884106" cy="1020030"/>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sp>
        <p:nvSpPr>
          <p:cNvPr id="3" name="Title 2">
            <a:extLst>
              <a:ext uri="{FF2B5EF4-FFF2-40B4-BE49-F238E27FC236}">
                <a16:creationId xmlns:a16="http://schemas.microsoft.com/office/drawing/2014/main" id="{2D3C3DB4-A853-2214-2FDC-B0E9916C9E09}"/>
              </a:ext>
            </a:extLst>
          </p:cNvPr>
          <p:cNvSpPr>
            <a:spLocks noGrp="1"/>
          </p:cNvSpPr>
          <p:nvPr>
            <p:ph type="title"/>
          </p:nvPr>
        </p:nvSpPr>
        <p:spPr>
          <a:xfrm>
            <a:off x="23944" y="69294"/>
            <a:ext cx="11832413" cy="459342"/>
          </a:xfrm>
        </p:spPr>
        <p:txBody>
          <a:bodyPr>
            <a:noAutofit/>
          </a:bodyPr>
          <a:lstStyle/>
          <a:p>
            <a:r>
              <a:rPr lang="en-US" dirty="0">
                <a:solidFill>
                  <a:schemeClr val="accent6"/>
                </a:solidFill>
              </a:rPr>
              <a:t>Demo Act 3.2 – The Defense (The Rogue Admin)</a:t>
            </a:r>
          </a:p>
        </p:txBody>
      </p:sp>
      <p:sp>
        <p:nvSpPr>
          <p:cNvPr id="34" name="Google Shape;301;p13">
            <a:extLst>
              <a:ext uri="{FF2B5EF4-FFF2-40B4-BE49-F238E27FC236}">
                <a16:creationId xmlns:a16="http://schemas.microsoft.com/office/drawing/2014/main" id="{00D7A636-D74D-8107-707A-D1BA00D437FB}"/>
              </a:ext>
            </a:extLst>
          </p:cNvPr>
          <p:cNvSpPr/>
          <p:nvPr/>
        </p:nvSpPr>
        <p:spPr>
          <a:xfrm>
            <a:off x="850588" y="3143024"/>
            <a:ext cx="4884106" cy="2245619"/>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pic>
        <p:nvPicPr>
          <p:cNvPr id="37" name="Graphic 36" descr="Server with solid fill">
            <a:extLst>
              <a:ext uri="{FF2B5EF4-FFF2-40B4-BE49-F238E27FC236}">
                <a16:creationId xmlns:a16="http://schemas.microsoft.com/office/drawing/2014/main" id="{14B31C74-18C0-A5B9-E48B-C062A40B64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0826" y="3000897"/>
            <a:ext cx="265472" cy="325991"/>
          </a:xfrm>
          <a:prstGeom prst="rect">
            <a:avLst/>
          </a:prstGeom>
        </p:spPr>
      </p:pic>
      <p:sp>
        <p:nvSpPr>
          <p:cNvPr id="45" name="TextBox 44">
            <a:extLst>
              <a:ext uri="{FF2B5EF4-FFF2-40B4-BE49-F238E27FC236}">
                <a16:creationId xmlns:a16="http://schemas.microsoft.com/office/drawing/2014/main" id="{E9C7C948-E094-B0BC-3DC9-211D994DAD46}"/>
              </a:ext>
            </a:extLst>
          </p:cNvPr>
          <p:cNvSpPr txBox="1"/>
          <p:nvPr/>
        </p:nvSpPr>
        <p:spPr>
          <a:xfrm>
            <a:off x="4108121" y="3218764"/>
            <a:ext cx="1602978" cy="840230"/>
          </a:xfrm>
          <a:prstGeom prst="rect">
            <a:avLst/>
          </a:prstGeom>
          <a:solidFill>
            <a:schemeClr val="bg1"/>
          </a:solidFill>
          <a:ln w="19050">
            <a:solidFill>
              <a:schemeClr val="accent1"/>
            </a:solidFill>
          </a:ln>
        </p:spPr>
        <p:txBody>
          <a:bodyPr wrap="square" rtlCol="0">
            <a:spAutoFit/>
          </a:bodyPr>
          <a:lstStyle/>
          <a:p>
            <a:pPr algn="ctr">
              <a:spcBef>
                <a:spcPts val="0"/>
              </a:spcBef>
            </a:pPr>
            <a:endParaRPr lang="en-US" sz="1800" dirty="0">
              <a:solidFill>
                <a:schemeClr val="accent6">
                  <a:lumMod val="50000"/>
                </a:schemeClr>
              </a:solidFill>
            </a:endParaRPr>
          </a:p>
          <a:p>
            <a:pPr algn="ctr">
              <a:spcBef>
                <a:spcPts val="0"/>
              </a:spcBef>
            </a:pPr>
            <a:r>
              <a:rPr lang="en-US" sz="1800" dirty="0">
                <a:solidFill>
                  <a:schemeClr val="accent6">
                    <a:lumMod val="50000"/>
                  </a:schemeClr>
                </a:solidFill>
              </a:rPr>
              <a:t>Inference App (</a:t>
            </a:r>
            <a:r>
              <a:rPr lang="en-US" sz="1400" dirty="0">
                <a:solidFill>
                  <a:schemeClr val="accent6">
                    <a:lumMod val="50000"/>
                  </a:schemeClr>
                </a:solidFill>
              </a:rPr>
              <a:t>Client App)</a:t>
            </a:r>
          </a:p>
        </p:txBody>
      </p:sp>
      <p:sp>
        <p:nvSpPr>
          <p:cNvPr id="46" name="Content Placeholder 1">
            <a:extLst>
              <a:ext uri="{FF2B5EF4-FFF2-40B4-BE49-F238E27FC236}">
                <a16:creationId xmlns:a16="http://schemas.microsoft.com/office/drawing/2014/main" id="{882F2579-3CD2-F3DC-702A-D2C26BDA9C18}"/>
              </a:ext>
            </a:extLst>
          </p:cNvPr>
          <p:cNvSpPr txBox="1">
            <a:spLocks/>
          </p:cNvSpPr>
          <p:nvPr/>
        </p:nvSpPr>
        <p:spPr>
          <a:xfrm>
            <a:off x="895994" y="2889769"/>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Location Anchor &amp; Client Application BM host</a:t>
            </a:r>
          </a:p>
        </p:txBody>
      </p:sp>
      <p:cxnSp>
        <p:nvCxnSpPr>
          <p:cNvPr id="50" name="Straight Connector 49">
            <a:extLst>
              <a:ext uri="{FF2B5EF4-FFF2-40B4-BE49-F238E27FC236}">
                <a16:creationId xmlns:a16="http://schemas.microsoft.com/office/drawing/2014/main" id="{69B93727-FB4D-BEC6-4A26-E901D910D85A}"/>
              </a:ext>
            </a:extLst>
          </p:cNvPr>
          <p:cNvCxnSpPr>
            <a:cxnSpLocks/>
          </p:cNvCxnSpPr>
          <p:nvPr/>
        </p:nvCxnSpPr>
        <p:spPr>
          <a:xfrm>
            <a:off x="6403403" y="1627201"/>
            <a:ext cx="0" cy="5194552"/>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5" name="Google Shape;301;p13">
            <a:extLst>
              <a:ext uri="{FF2B5EF4-FFF2-40B4-BE49-F238E27FC236}">
                <a16:creationId xmlns:a16="http://schemas.microsoft.com/office/drawing/2014/main" id="{CB55F049-D777-EE16-9758-9350948BC7D5}"/>
              </a:ext>
            </a:extLst>
          </p:cNvPr>
          <p:cNvSpPr/>
          <p:nvPr/>
        </p:nvSpPr>
        <p:spPr>
          <a:xfrm>
            <a:off x="7113731" y="2779588"/>
            <a:ext cx="4525500" cy="2599923"/>
          </a:xfrm>
          <a:prstGeom prst="rect">
            <a:avLst/>
          </a:prstGeom>
          <a:solidFill>
            <a:schemeClr val="accent2">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pic>
        <p:nvPicPr>
          <p:cNvPr id="56" name="Graphic 55" descr="Server with solid fill">
            <a:extLst>
              <a:ext uri="{FF2B5EF4-FFF2-40B4-BE49-F238E27FC236}">
                <a16:creationId xmlns:a16="http://schemas.microsoft.com/office/drawing/2014/main" id="{D32BA44A-A607-1BE9-0782-0D42DCD64D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93968" y="2674140"/>
            <a:ext cx="265472" cy="325991"/>
          </a:xfrm>
          <a:prstGeom prst="rect">
            <a:avLst/>
          </a:prstGeom>
        </p:spPr>
      </p:pic>
      <p:sp>
        <p:nvSpPr>
          <p:cNvPr id="59" name="TextBox 58">
            <a:extLst>
              <a:ext uri="{FF2B5EF4-FFF2-40B4-BE49-F238E27FC236}">
                <a16:creationId xmlns:a16="http://schemas.microsoft.com/office/drawing/2014/main" id="{42D26508-76D7-99F8-01AD-404ED4F5EFED}"/>
              </a:ext>
            </a:extLst>
          </p:cNvPr>
          <p:cNvSpPr txBox="1"/>
          <p:nvPr/>
        </p:nvSpPr>
        <p:spPr>
          <a:xfrm>
            <a:off x="7209111" y="3064950"/>
            <a:ext cx="2015964" cy="9233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2000" b="1" dirty="0">
                <a:solidFill>
                  <a:schemeClr val="accent6"/>
                </a:solidFill>
              </a:rPr>
              <a:t>ZTNA in API Gateway (Envoy)</a:t>
            </a:r>
          </a:p>
          <a:p>
            <a:pPr algn="ctr">
              <a:spcBef>
                <a:spcPts val="0"/>
              </a:spcBef>
            </a:pPr>
            <a:endParaRPr lang="en-US" sz="2000" b="1" dirty="0">
              <a:solidFill>
                <a:schemeClr val="accent6"/>
              </a:solidFill>
            </a:endParaRPr>
          </a:p>
        </p:txBody>
      </p:sp>
      <p:sp>
        <p:nvSpPr>
          <p:cNvPr id="60" name="Content Placeholder 1">
            <a:extLst>
              <a:ext uri="{FF2B5EF4-FFF2-40B4-BE49-F238E27FC236}">
                <a16:creationId xmlns:a16="http://schemas.microsoft.com/office/drawing/2014/main" id="{A13E3CC1-2423-350F-48F5-B24A14F07B24}"/>
              </a:ext>
            </a:extLst>
          </p:cNvPr>
          <p:cNvSpPr txBox="1">
            <a:spLocks/>
          </p:cNvSpPr>
          <p:nvPr/>
        </p:nvSpPr>
        <p:spPr>
          <a:xfrm>
            <a:off x="7162724" y="2524266"/>
            <a:ext cx="4450740"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API Gateway and Server Application host</a:t>
            </a:r>
            <a:endParaRPr lang="en-US" sz="1600" noProof="0" dirty="0">
              <a:solidFill>
                <a:schemeClr val="tx1"/>
              </a:solidFill>
              <a:latin typeface="+mn-lt"/>
            </a:endParaRPr>
          </a:p>
        </p:txBody>
      </p:sp>
      <p:cxnSp>
        <p:nvCxnSpPr>
          <p:cNvPr id="69" name="Straight Arrow Connector 68">
            <a:extLst>
              <a:ext uri="{FF2B5EF4-FFF2-40B4-BE49-F238E27FC236}">
                <a16:creationId xmlns:a16="http://schemas.microsoft.com/office/drawing/2014/main" id="{A5DB08D0-CAE5-EA69-CBCA-EC6CBE8EFE1B}"/>
              </a:ext>
            </a:extLst>
          </p:cNvPr>
          <p:cNvCxnSpPr>
            <a:cxnSpLocks/>
          </p:cNvCxnSpPr>
          <p:nvPr/>
        </p:nvCxnSpPr>
        <p:spPr>
          <a:xfrm flipV="1">
            <a:off x="5706123" y="3519849"/>
            <a:ext cx="1485690" cy="1103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79FF0DEC-242D-AE96-A825-A131A8AE5023}"/>
              </a:ext>
            </a:extLst>
          </p:cNvPr>
          <p:cNvCxnSpPr>
            <a:cxnSpLocks/>
          </p:cNvCxnSpPr>
          <p:nvPr/>
        </p:nvCxnSpPr>
        <p:spPr>
          <a:xfrm>
            <a:off x="9237769" y="3512100"/>
            <a:ext cx="1187774" cy="790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Content Placeholder 1">
            <a:extLst>
              <a:ext uri="{FF2B5EF4-FFF2-40B4-BE49-F238E27FC236}">
                <a16:creationId xmlns:a16="http://schemas.microsoft.com/office/drawing/2014/main" id="{A7F8463D-7750-1901-1EF0-64889A616CAC}"/>
              </a:ext>
            </a:extLst>
          </p:cNvPr>
          <p:cNvSpPr txBox="1">
            <a:spLocks/>
          </p:cNvSpPr>
          <p:nvPr/>
        </p:nvSpPr>
        <p:spPr>
          <a:xfrm>
            <a:off x="6063288" y="3108944"/>
            <a:ext cx="689500" cy="4176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HTTPS/mTLS</a:t>
            </a:r>
            <a:endParaRPr lang="en-US" sz="1400" noProof="0" dirty="0">
              <a:solidFill>
                <a:schemeClr val="accent1"/>
              </a:solidFill>
              <a:latin typeface="+mn-lt"/>
            </a:endParaRPr>
          </a:p>
        </p:txBody>
      </p:sp>
      <p:sp>
        <p:nvSpPr>
          <p:cNvPr id="76" name="Content Placeholder 1">
            <a:extLst>
              <a:ext uri="{FF2B5EF4-FFF2-40B4-BE49-F238E27FC236}">
                <a16:creationId xmlns:a16="http://schemas.microsoft.com/office/drawing/2014/main" id="{FC43742D-A272-C898-523A-97A7F0B7C1CE}"/>
              </a:ext>
            </a:extLst>
          </p:cNvPr>
          <p:cNvSpPr txBox="1">
            <a:spLocks/>
          </p:cNvSpPr>
          <p:nvPr/>
        </p:nvSpPr>
        <p:spPr>
          <a:xfrm>
            <a:off x="9266764" y="3212673"/>
            <a:ext cx="1117196" cy="2995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HTTPS/mTLS</a:t>
            </a:r>
            <a:endParaRPr lang="en-US" sz="1400" noProof="0" dirty="0">
              <a:solidFill>
                <a:schemeClr val="accent1"/>
              </a:solidFill>
              <a:latin typeface="+mn-lt"/>
            </a:endParaRPr>
          </a:p>
        </p:txBody>
      </p:sp>
      <p:sp>
        <p:nvSpPr>
          <p:cNvPr id="2" name="TextBox 1">
            <a:extLst>
              <a:ext uri="{FF2B5EF4-FFF2-40B4-BE49-F238E27FC236}">
                <a16:creationId xmlns:a16="http://schemas.microsoft.com/office/drawing/2014/main" id="{AB9B24F3-5382-7B57-2479-2AC45C9E983C}"/>
              </a:ext>
            </a:extLst>
          </p:cNvPr>
          <p:cNvSpPr txBox="1"/>
          <p:nvPr/>
        </p:nvSpPr>
        <p:spPr>
          <a:xfrm>
            <a:off x="7221245" y="4453974"/>
            <a:ext cx="2015964" cy="71558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500" b="1" dirty="0">
                <a:solidFill>
                  <a:schemeClr val="accent6"/>
                </a:solidFill>
              </a:rPr>
              <a:t>Mobile Geolocation Service (CAMARA API)</a:t>
            </a:r>
          </a:p>
          <a:p>
            <a:pPr algn="ctr">
              <a:spcBef>
                <a:spcPts val="0"/>
              </a:spcBef>
            </a:pPr>
            <a:r>
              <a:rPr lang="en-US" sz="1500" b="1" dirty="0">
                <a:solidFill>
                  <a:schemeClr val="accent6"/>
                </a:solidFill>
              </a:rPr>
              <a:t>Sidecar</a:t>
            </a:r>
          </a:p>
        </p:txBody>
      </p:sp>
      <p:cxnSp>
        <p:nvCxnSpPr>
          <p:cNvPr id="4" name="Straight Arrow Connector 3">
            <a:extLst>
              <a:ext uri="{FF2B5EF4-FFF2-40B4-BE49-F238E27FC236}">
                <a16:creationId xmlns:a16="http://schemas.microsoft.com/office/drawing/2014/main" id="{FA48D752-3E36-C41D-C12D-BF5133EDBD21}"/>
              </a:ext>
            </a:extLst>
          </p:cNvPr>
          <p:cNvCxnSpPr>
            <a:cxnSpLocks/>
          </p:cNvCxnSpPr>
          <p:nvPr/>
        </p:nvCxnSpPr>
        <p:spPr>
          <a:xfrm>
            <a:off x="8229227" y="3997968"/>
            <a:ext cx="0" cy="44791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 name="Content Placeholder 1">
            <a:extLst>
              <a:ext uri="{FF2B5EF4-FFF2-40B4-BE49-F238E27FC236}">
                <a16:creationId xmlns:a16="http://schemas.microsoft.com/office/drawing/2014/main" id="{368BDD34-987C-2D30-D40C-E438107D112E}"/>
              </a:ext>
            </a:extLst>
          </p:cNvPr>
          <p:cNvSpPr txBox="1">
            <a:spLocks/>
          </p:cNvSpPr>
          <p:nvPr/>
        </p:nvSpPr>
        <p:spPr>
          <a:xfrm>
            <a:off x="7944567" y="4090185"/>
            <a:ext cx="1015633" cy="2995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HTTP</a:t>
            </a:r>
            <a:endParaRPr lang="en-US" sz="1400" noProof="0" dirty="0">
              <a:solidFill>
                <a:schemeClr val="accent1"/>
              </a:solidFill>
              <a:latin typeface="+mn-lt"/>
            </a:endParaRPr>
          </a:p>
        </p:txBody>
      </p:sp>
      <p:grpSp>
        <p:nvGrpSpPr>
          <p:cNvPr id="8" name="Group 7">
            <a:extLst>
              <a:ext uri="{FF2B5EF4-FFF2-40B4-BE49-F238E27FC236}">
                <a16:creationId xmlns:a16="http://schemas.microsoft.com/office/drawing/2014/main" id="{6002EA4E-8D82-9470-A314-090294D83FE0}"/>
              </a:ext>
            </a:extLst>
          </p:cNvPr>
          <p:cNvGrpSpPr/>
          <p:nvPr/>
        </p:nvGrpSpPr>
        <p:grpSpPr>
          <a:xfrm>
            <a:off x="4295768" y="4899281"/>
            <a:ext cx="1007465" cy="426498"/>
            <a:chOff x="5703725" y="3536385"/>
            <a:chExt cx="2113527" cy="1145316"/>
          </a:xfrm>
        </p:grpSpPr>
        <p:sp>
          <p:nvSpPr>
            <p:cNvPr id="9" name="Rounded Rectangle 38">
              <a:extLst>
                <a:ext uri="{FF2B5EF4-FFF2-40B4-BE49-F238E27FC236}">
                  <a16:creationId xmlns:a16="http://schemas.microsoft.com/office/drawing/2014/main" id="{DAB42F71-351B-9337-14B0-96BE229FDC93}"/>
                </a:ext>
              </a:extLst>
            </p:cNvPr>
            <p:cNvSpPr/>
            <p:nvPr/>
          </p:nvSpPr>
          <p:spPr>
            <a:xfrm>
              <a:off x="5760688" y="3536385"/>
              <a:ext cx="2056564" cy="114057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10" name="TextBox 9">
              <a:extLst>
                <a:ext uri="{FF2B5EF4-FFF2-40B4-BE49-F238E27FC236}">
                  <a16:creationId xmlns:a16="http://schemas.microsoft.com/office/drawing/2014/main" id="{98F11F99-0C34-B387-97C4-397E7642D5D8}"/>
                </a:ext>
              </a:extLst>
            </p:cNvPr>
            <p:cNvSpPr txBox="1"/>
            <p:nvPr/>
          </p:nvSpPr>
          <p:spPr>
            <a:xfrm>
              <a:off x="6170429" y="3898932"/>
              <a:ext cx="1290240" cy="524952"/>
            </a:xfrm>
            <a:prstGeom prst="rect">
              <a:avLst/>
            </a:prstGeom>
            <a:noFill/>
          </p:spPr>
          <p:txBody>
            <a:bodyPr wrap="square" rtlCol="0">
              <a:spAutoFit/>
            </a:bodyPr>
            <a:lstStyle/>
            <a:p>
              <a:pPr algn="ctr"/>
              <a:r>
                <a:rPr lang="en-US" sz="1600" b="1" noProof="0" dirty="0"/>
                <a:t>TPM</a:t>
              </a:r>
              <a:endParaRPr lang="en-US" sz="1600" i="1" noProof="0" dirty="0"/>
            </a:p>
          </p:txBody>
        </p:sp>
        <p:pic>
          <p:nvPicPr>
            <p:cNvPr id="11" name="Picture 4" descr="Private key - Free security icons">
              <a:extLst>
                <a:ext uri="{FF2B5EF4-FFF2-40B4-BE49-F238E27FC236}">
                  <a16:creationId xmlns:a16="http://schemas.microsoft.com/office/drawing/2014/main" id="{9F4EDE80-5C73-52E5-745F-949E9A9971D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03725" y="4034287"/>
              <a:ext cx="634384" cy="647414"/>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TextBox 11">
            <a:extLst>
              <a:ext uri="{FF2B5EF4-FFF2-40B4-BE49-F238E27FC236}">
                <a16:creationId xmlns:a16="http://schemas.microsoft.com/office/drawing/2014/main" id="{D0DD8FDB-D71D-BC50-149E-EF1588372BF3}"/>
              </a:ext>
            </a:extLst>
          </p:cNvPr>
          <p:cNvSpPr txBox="1"/>
          <p:nvPr/>
        </p:nvSpPr>
        <p:spPr>
          <a:xfrm>
            <a:off x="903579" y="4904908"/>
            <a:ext cx="2616502" cy="4247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Mobile location sensor                               (e.g., USB tethered smartphone)</a:t>
            </a:r>
          </a:p>
        </p:txBody>
      </p:sp>
      <p:sp>
        <p:nvSpPr>
          <p:cNvPr id="5" name="TextBox 4">
            <a:extLst>
              <a:ext uri="{FF2B5EF4-FFF2-40B4-BE49-F238E27FC236}">
                <a16:creationId xmlns:a16="http://schemas.microsoft.com/office/drawing/2014/main" id="{92F43A3C-D7D9-B665-B92B-09B729A2141B}"/>
              </a:ext>
            </a:extLst>
          </p:cNvPr>
          <p:cNvSpPr txBox="1"/>
          <p:nvPr/>
        </p:nvSpPr>
        <p:spPr>
          <a:xfrm>
            <a:off x="10391361" y="3102268"/>
            <a:ext cx="1069578" cy="729430"/>
          </a:xfrm>
          <a:prstGeom prst="rect">
            <a:avLst/>
          </a:prstGeom>
          <a:solidFill>
            <a:schemeClr val="bg1"/>
          </a:solidFill>
          <a:ln w="19050">
            <a:solidFill>
              <a:schemeClr val="accent1"/>
            </a:solidFill>
          </a:ln>
        </p:spPr>
        <p:txBody>
          <a:bodyPr wrap="square" rtlCol="0">
            <a:spAutoFit/>
          </a:bodyPr>
          <a:lstStyle/>
          <a:p>
            <a:pPr algn="ctr">
              <a:spcBef>
                <a:spcPts val="0"/>
              </a:spcBef>
            </a:pPr>
            <a:r>
              <a:rPr lang="en-US" sz="1800" b="1" dirty="0">
                <a:solidFill>
                  <a:schemeClr val="accent1"/>
                </a:solidFill>
              </a:rPr>
              <a:t>Key vault</a:t>
            </a:r>
          </a:p>
          <a:p>
            <a:pPr algn="ctr">
              <a:spcBef>
                <a:spcPts val="0"/>
              </a:spcBef>
            </a:pPr>
            <a:r>
              <a:rPr lang="en-US" sz="1400" dirty="0">
                <a:solidFill>
                  <a:schemeClr val="accent6">
                    <a:lumMod val="50000"/>
                  </a:schemeClr>
                </a:solidFill>
              </a:rPr>
              <a:t>(Server App)</a:t>
            </a:r>
          </a:p>
        </p:txBody>
      </p:sp>
      <p:sp>
        <p:nvSpPr>
          <p:cNvPr id="13" name="TextBox 12">
            <a:extLst>
              <a:ext uri="{FF2B5EF4-FFF2-40B4-BE49-F238E27FC236}">
                <a16:creationId xmlns:a16="http://schemas.microsoft.com/office/drawing/2014/main" id="{F650B5BF-22FB-F7AF-F58F-3778E382211E}"/>
              </a:ext>
            </a:extLst>
          </p:cNvPr>
          <p:cNvSpPr txBox="1"/>
          <p:nvPr/>
        </p:nvSpPr>
        <p:spPr>
          <a:xfrm>
            <a:off x="7540762" y="3651931"/>
            <a:ext cx="1376931" cy="313932"/>
          </a:xfrm>
          <a:prstGeom prst="rect">
            <a:avLst/>
          </a:prstGeom>
          <a:solidFill>
            <a:schemeClr val="bg1"/>
          </a:solidFill>
          <a:ln w="12700">
            <a:solidFill>
              <a:schemeClr val="accent1"/>
            </a:solidFill>
          </a:ln>
        </p:spPr>
        <p:txBody>
          <a:bodyPr wrap="square" rtlCol="0">
            <a:spAutoFit/>
          </a:bodyPr>
          <a:lstStyle/>
          <a:p>
            <a:pPr algn="ctr">
              <a:spcBef>
                <a:spcPts val="0"/>
              </a:spcBef>
            </a:pPr>
            <a:r>
              <a:rPr lang="en-US" sz="1600" dirty="0">
                <a:solidFill>
                  <a:schemeClr val="accent6">
                    <a:lumMod val="50000"/>
                  </a:schemeClr>
                </a:solidFill>
              </a:rPr>
              <a:t>WASM plugin</a:t>
            </a:r>
          </a:p>
        </p:txBody>
      </p:sp>
      <p:sp>
        <p:nvSpPr>
          <p:cNvPr id="16" name="TextBox 15">
            <a:extLst>
              <a:ext uri="{FF2B5EF4-FFF2-40B4-BE49-F238E27FC236}">
                <a16:creationId xmlns:a16="http://schemas.microsoft.com/office/drawing/2014/main" id="{79B18D22-0596-5A73-BB8A-0AFC87847181}"/>
              </a:ext>
            </a:extLst>
          </p:cNvPr>
          <p:cNvSpPr txBox="1"/>
          <p:nvPr/>
        </p:nvSpPr>
        <p:spPr>
          <a:xfrm>
            <a:off x="946438" y="1735294"/>
            <a:ext cx="1783037"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Host Identity (Keylime Verifier &amp; Registrar)</a:t>
            </a:r>
            <a:endParaRPr lang="en-US" sz="1800" dirty="0">
              <a:solidFill>
                <a:schemeClr val="accent6"/>
              </a:solidFill>
            </a:endParaRPr>
          </a:p>
        </p:txBody>
      </p:sp>
      <p:sp>
        <p:nvSpPr>
          <p:cNvPr id="17" name="TextBox 16">
            <a:extLst>
              <a:ext uri="{FF2B5EF4-FFF2-40B4-BE49-F238E27FC236}">
                <a16:creationId xmlns:a16="http://schemas.microsoft.com/office/drawing/2014/main" id="{1A95860A-C149-7D61-4E4C-7350792DCB3A}"/>
              </a:ext>
            </a:extLst>
          </p:cNvPr>
          <p:cNvSpPr txBox="1"/>
          <p:nvPr/>
        </p:nvSpPr>
        <p:spPr>
          <a:xfrm>
            <a:off x="2959214" y="1735180"/>
            <a:ext cx="1517123"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Workload Identity (Spire Server)</a:t>
            </a:r>
            <a:endParaRPr lang="en-US" sz="1800" dirty="0">
              <a:solidFill>
                <a:schemeClr val="accent6"/>
              </a:solidFill>
            </a:endParaRPr>
          </a:p>
        </p:txBody>
      </p:sp>
      <p:sp>
        <p:nvSpPr>
          <p:cNvPr id="18" name="TextBox 17">
            <a:extLst>
              <a:ext uri="{FF2B5EF4-FFF2-40B4-BE49-F238E27FC236}">
                <a16:creationId xmlns:a16="http://schemas.microsoft.com/office/drawing/2014/main" id="{2B3C95BA-B7CF-2935-5242-1B6078DE43FB}"/>
              </a:ext>
            </a:extLst>
          </p:cNvPr>
          <p:cNvSpPr txBox="1"/>
          <p:nvPr/>
        </p:nvSpPr>
        <p:spPr>
          <a:xfrm>
            <a:off x="946438" y="4198802"/>
            <a:ext cx="976743"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Keylime Agent</a:t>
            </a:r>
            <a:endParaRPr lang="en-US" sz="1800" dirty="0">
              <a:solidFill>
                <a:schemeClr val="accent6"/>
              </a:solidFill>
            </a:endParaRPr>
          </a:p>
        </p:txBody>
      </p:sp>
      <p:sp>
        <p:nvSpPr>
          <p:cNvPr id="19" name="TextBox 18">
            <a:extLst>
              <a:ext uri="{FF2B5EF4-FFF2-40B4-BE49-F238E27FC236}">
                <a16:creationId xmlns:a16="http://schemas.microsoft.com/office/drawing/2014/main" id="{91274CC1-1E94-30E3-6A60-34CDF3DFD02D}"/>
              </a:ext>
            </a:extLst>
          </p:cNvPr>
          <p:cNvSpPr txBox="1"/>
          <p:nvPr/>
        </p:nvSpPr>
        <p:spPr>
          <a:xfrm>
            <a:off x="2207312" y="4198801"/>
            <a:ext cx="101081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Agent</a:t>
            </a:r>
            <a:endParaRPr lang="en-US" sz="1800" dirty="0">
              <a:solidFill>
                <a:schemeClr val="accent6"/>
              </a:solidFill>
            </a:endParaRPr>
          </a:p>
        </p:txBody>
      </p:sp>
      <p:sp>
        <p:nvSpPr>
          <p:cNvPr id="20" name="TextBox 19">
            <a:extLst>
              <a:ext uri="{FF2B5EF4-FFF2-40B4-BE49-F238E27FC236}">
                <a16:creationId xmlns:a16="http://schemas.microsoft.com/office/drawing/2014/main" id="{AB4011C1-B12A-8295-402B-CA82C575A177}"/>
              </a:ext>
            </a:extLst>
          </p:cNvPr>
          <p:cNvSpPr txBox="1"/>
          <p:nvPr/>
        </p:nvSpPr>
        <p:spPr>
          <a:xfrm>
            <a:off x="3501498" y="4194803"/>
            <a:ext cx="117367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TPM Plugin</a:t>
            </a:r>
            <a:endParaRPr lang="en-US" sz="1800" dirty="0">
              <a:solidFill>
                <a:schemeClr val="accent6"/>
              </a:solidFill>
            </a:endParaRPr>
          </a:p>
        </p:txBody>
      </p:sp>
      <p:cxnSp>
        <p:nvCxnSpPr>
          <p:cNvPr id="21" name="Straight Arrow Connector 20">
            <a:extLst>
              <a:ext uri="{FF2B5EF4-FFF2-40B4-BE49-F238E27FC236}">
                <a16:creationId xmlns:a16="http://schemas.microsoft.com/office/drawing/2014/main" id="{2D9476ED-8458-761C-7020-DE0E892556CA}"/>
              </a:ext>
            </a:extLst>
          </p:cNvPr>
          <p:cNvCxnSpPr>
            <a:cxnSpLocks/>
            <a:stCxn id="45" idx="2"/>
          </p:cNvCxnSpPr>
          <p:nvPr/>
        </p:nvCxnSpPr>
        <p:spPr>
          <a:xfrm flipH="1">
            <a:off x="2668793" y="4058994"/>
            <a:ext cx="2240817" cy="11354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544177A-D990-FB3F-1FBE-B0A29F42D95D}"/>
              </a:ext>
            </a:extLst>
          </p:cNvPr>
          <p:cNvCxnSpPr>
            <a:cxnSpLocks/>
            <a:stCxn id="19" idx="0"/>
            <a:endCxn id="17" idx="2"/>
          </p:cNvCxnSpPr>
          <p:nvPr/>
        </p:nvCxnSpPr>
        <p:spPr>
          <a:xfrm flipV="1">
            <a:off x="2712717" y="2575410"/>
            <a:ext cx="1005059" cy="162339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E24A0E7-82F8-1474-27BC-5F2802FEFE39}"/>
              </a:ext>
            </a:extLst>
          </p:cNvPr>
          <p:cNvCxnSpPr>
            <a:cxnSpLocks/>
            <a:stCxn id="16" idx="3"/>
            <a:endCxn id="17" idx="1"/>
          </p:cNvCxnSpPr>
          <p:nvPr/>
        </p:nvCxnSpPr>
        <p:spPr>
          <a:xfrm flipV="1">
            <a:off x="2729475" y="2155295"/>
            <a:ext cx="229739" cy="11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AE7BBF4-CAEB-F61A-8212-C429B4CCA184}"/>
              </a:ext>
            </a:extLst>
          </p:cNvPr>
          <p:cNvCxnSpPr>
            <a:cxnSpLocks/>
            <a:stCxn id="18" idx="0"/>
            <a:endCxn id="16" idx="2"/>
          </p:cNvCxnSpPr>
          <p:nvPr/>
        </p:nvCxnSpPr>
        <p:spPr>
          <a:xfrm flipV="1">
            <a:off x="1434810" y="2575524"/>
            <a:ext cx="403147" cy="16232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AE97F7A-1782-0818-CE54-16DA571DA2F4}"/>
              </a:ext>
            </a:extLst>
          </p:cNvPr>
          <p:cNvCxnSpPr>
            <a:cxnSpLocks/>
          </p:cNvCxnSpPr>
          <p:nvPr/>
        </p:nvCxnSpPr>
        <p:spPr>
          <a:xfrm flipH="1">
            <a:off x="1916268" y="4490269"/>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0E389E7-57E0-7AAC-9D71-7B38BB573118}"/>
              </a:ext>
            </a:extLst>
          </p:cNvPr>
          <p:cNvCxnSpPr>
            <a:cxnSpLocks/>
            <a:stCxn id="19" idx="3"/>
            <a:endCxn id="20" idx="1"/>
          </p:cNvCxnSpPr>
          <p:nvPr/>
        </p:nvCxnSpPr>
        <p:spPr>
          <a:xfrm flipV="1">
            <a:off x="3218122" y="4490269"/>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E8D6CA9-A511-FB39-58DC-05FB68A779E9}"/>
              </a:ext>
            </a:extLst>
          </p:cNvPr>
          <p:cNvSpPr txBox="1"/>
          <p:nvPr/>
        </p:nvSpPr>
        <p:spPr>
          <a:xfrm>
            <a:off x="6403403" y="5419438"/>
            <a:ext cx="5788596" cy="978729"/>
          </a:xfrm>
          <a:prstGeom prst="rect">
            <a:avLst/>
          </a:prstGeom>
          <a:noFill/>
        </p:spPr>
        <p:txBody>
          <a:bodyPr wrap="square">
            <a:spAutoFit/>
          </a:bodyPr>
          <a:lstStyle/>
          <a:p>
            <a:pPr algn="l">
              <a:spcBef>
                <a:spcPts val="0"/>
              </a:spcBef>
              <a:buNone/>
            </a:pPr>
            <a:r>
              <a:rPr lang="en-US" sz="1600" b="1" i="0" dirty="0">
                <a:solidFill>
                  <a:srgbClr val="1F2328"/>
                </a:solidFill>
                <a:effectLst/>
                <a:latin typeface="-apple-system"/>
              </a:rPr>
              <a:t>System flow - Envoy</a:t>
            </a:r>
          </a:p>
          <a:p>
            <a:pPr marL="285750" indent="-285750" algn="l">
              <a:spcBef>
                <a:spcPts val="0"/>
              </a:spcBef>
              <a:buFont typeface="Arial" panose="020B0604020202020204" pitchFamily="34" charset="0"/>
              <a:buChar char="•"/>
            </a:pPr>
            <a:r>
              <a:rPr lang="en-US" sz="1600" b="1" dirty="0">
                <a:solidFill>
                  <a:srgbClr val="1F2328"/>
                </a:solidFill>
                <a:latin typeface="-apple-system"/>
              </a:rPr>
              <a:t>Authentication</a:t>
            </a:r>
            <a:r>
              <a:rPr lang="en-US" sz="1600" dirty="0">
                <a:solidFill>
                  <a:srgbClr val="1F2328"/>
                </a:solidFill>
                <a:latin typeface="-apple-system"/>
              </a:rPr>
              <a:t>: Verifies unified identity signature in mTLS cert </a:t>
            </a:r>
            <a:r>
              <a:rPr lang="en-US" sz="1600" b="1" dirty="0">
                <a:solidFill>
                  <a:srgbClr val="C00000"/>
                </a:solidFill>
                <a:latin typeface="-apple-system"/>
              </a:rPr>
              <a:t>Authorization</a:t>
            </a:r>
            <a:r>
              <a:rPr lang="en-US" sz="1600" dirty="0">
                <a:solidFill>
                  <a:srgbClr val="C00000"/>
                </a:solidFill>
                <a:latin typeface="-apple-system"/>
              </a:rPr>
              <a:t>: Blocks API call using WASM plugin since mobile geolocation sensor IMEI/IMSI is absent in the unified identity </a:t>
            </a:r>
          </a:p>
        </p:txBody>
      </p:sp>
      <p:grpSp>
        <p:nvGrpSpPr>
          <p:cNvPr id="14" name="Group 13">
            <a:extLst>
              <a:ext uri="{FF2B5EF4-FFF2-40B4-BE49-F238E27FC236}">
                <a16:creationId xmlns:a16="http://schemas.microsoft.com/office/drawing/2014/main" id="{9E8550BB-3C25-20F2-C9F4-E21F3186E5F5}"/>
              </a:ext>
            </a:extLst>
          </p:cNvPr>
          <p:cNvGrpSpPr/>
          <p:nvPr/>
        </p:nvGrpSpPr>
        <p:grpSpPr>
          <a:xfrm>
            <a:off x="10153547" y="4010431"/>
            <a:ext cx="1414448" cy="660156"/>
            <a:chOff x="5703725" y="4021545"/>
            <a:chExt cx="2113527" cy="660156"/>
          </a:xfrm>
        </p:grpSpPr>
        <p:sp>
          <p:nvSpPr>
            <p:cNvPr id="22" name="Rounded Rectangle 38">
              <a:extLst>
                <a:ext uri="{FF2B5EF4-FFF2-40B4-BE49-F238E27FC236}">
                  <a16:creationId xmlns:a16="http://schemas.microsoft.com/office/drawing/2014/main" id="{D3FB9B85-E662-2F9A-6E42-39ADF19EBD12}"/>
                </a:ext>
              </a:extLst>
            </p:cNvPr>
            <p:cNvSpPr/>
            <p:nvPr/>
          </p:nvSpPr>
          <p:spPr>
            <a:xfrm>
              <a:off x="5760688" y="4021545"/>
              <a:ext cx="2056564" cy="655411"/>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23" name="TextBox 22">
              <a:extLst>
                <a:ext uri="{FF2B5EF4-FFF2-40B4-BE49-F238E27FC236}">
                  <a16:creationId xmlns:a16="http://schemas.microsoft.com/office/drawing/2014/main" id="{257FC3C8-A664-D9F4-975C-7839CCCE97F4}"/>
                </a:ext>
              </a:extLst>
            </p:cNvPr>
            <p:cNvSpPr txBox="1"/>
            <p:nvPr/>
          </p:nvSpPr>
          <p:spPr>
            <a:xfrm>
              <a:off x="6348054" y="4065408"/>
              <a:ext cx="1290242" cy="342658"/>
            </a:xfrm>
            <a:prstGeom prst="rect">
              <a:avLst/>
            </a:prstGeom>
            <a:noFill/>
          </p:spPr>
          <p:txBody>
            <a:bodyPr wrap="square" rtlCol="0">
              <a:spAutoFit/>
            </a:bodyPr>
            <a:lstStyle/>
            <a:p>
              <a:pPr algn="ctr"/>
              <a:r>
                <a:rPr lang="en-US" sz="1800" b="1" noProof="0" dirty="0"/>
                <a:t>HSM</a:t>
              </a:r>
              <a:endParaRPr lang="en-US" sz="1200" i="1" noProof="0" dirty="0"/>
            </a:p>
          </p:txBody>
        </p:sp>
        <p:pic>
          <p:nvPicPr>
            <p:cNvPr id="25" name="Picture 4" descr="Private key - Free security icons">
              <a:extLst>
                <a:ext uri="{FF2B5EF4-FFF2-40B4-BE49-F238E27FC236}">
                  <a16:creationId xmlns:a16="http://schemas.microsoft.com/office/drawing/2014/main" id="{0D131201-FFDC-BEC3-DB4E-5E9DB8C043B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03725" y="4034287"/>
              <a:ext cx="834232" cy="647414"/>
            </a:xfrm>
            <a:prstGeom prst="rect">
              <a:avLst/>
            </a:prstGeom>
            <a:noFill/>
            <a:extLst>
              <a:ext uri="{909E8E84-426E-40DD-AFC4-6F175D3DCCD1}">
                <a14:hiddenFill xmlns:a14="http://schemas.microsoft.com/office/drawing/2010/main">
                  <a:solidFill>
                    <a:srgbClr val="FFFFFF"/>
                  </a:solidFill>
                </a14:hiddenFill>
              </a:ext>
            </a:extLst>
          </p:spPr>
        </p:pic>
      </p:grpSp>
      <p:pic>
        <p:nvPicPr>
          <p:cNvPr id="28" name="Picture 2" descr="Free vector robotic artificial intelligence technology smart lerning from bigdata">
            <a:extLst>
              <a:ext uri="{FF2B5EF4-FFF2-40B4-BE49-F238E27FC236}">
                <a16:creationId xmlns:a16="http://schemas.microsoft.com/office/drawing/2014/main" id="{0D3FDB05-1CE1-C807-FD94-3845C0D9741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675168" y="3227104"/>
            <a:ext cx="417982" cy="333852"/>
          </a:xfrm>
          <a:prstGeom prst="rect">
            <a:avLst/>
          </a:prstGeom>
          <a:noFill/>
          <a:extLst>
            <a:ext uri="{909E8E84-426E-40DD-AFC4-6F175D3DCCD1}">
              <a14:hiddenFill xmlns:a14="http://schemas.microsoft.com/office/drawing/2010/main">
                <a:solidFill>
                  <a:srgbClr val="FFFFFF"/>
                </a:solidFill>
              </a14:hiddenFill>
            </a:ext>
          </a:extLst>
        </p:spPr>
      </p:pic>
      <p:sp>
        <p:nvSpPr>
          <p:cNvPr id="64" name="Content Placeholder 1">
            <a:extLst>
              <a:ext uri="{FF2B5EF4-FFF2-40B4-BE49-F238E27FC236}">
                <a16:creationId xmlns:a16="http://schemas.microsoft.com/office/drawing/2014/main" id="{5D2FA24F-26F2-081B-400F-870DB45356D9}"/>
              </a:ext>
            </a:extLst>
          </p:cNvPr>
          <p:cNvSpPr txBox="1">
            <a:spLocks/>
          </p:cNvSpPr>
          <p:nvPr/>
        </p:nvSpPr>
        <p:spPr>
          <a:xfrm>
            <a:off x="889636" y="1399172"/>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Control Plane host</a:t>
            </a:r>
          </a:p>
        </p:txBody>
      </p:sp>
      <p:pic>
        <p:nvPicPr>
          <p:cNvPr id="65" name="Graphic 64" descr="Server with solid fill">
            <a:extLst>
              <a:ext uri="{FF2B5EF4-FFF2-40B4-BE49-F238E27FC236}">
                <a16:creationId xmlns:a16="http://schemas.microsoft.com/office/drawing/2014/main" id="{57C1F052-1637-ACCB-35C0-98389277E3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2748" y="1432987"/>
            <a:ext cx="265472" cy="325991"/>
          </a:xfrm>
          <a:prstGeom prst="rect">
            <a:avLst/>
          </a:prstGeom>
        </p:spPr>
      </p:pic>
      <p:sp>
        <p:nvSpPr>
          <p:cNvPr id="32" name="Multiplication Sign 31">
            <a:extLst>
              <a:ext uri="{FF2B5EF4-FFF2-40B4-BE49-F238E27FC236}">
                <a16:creationId xmlns:a16="http://schemas.microsoft.com/office/drawing/2014/main" id="{B1AD68E7-48C0-03FC-E203-9F7843B14A98}"/>
              </a:ext>
            </a:extLst>
          </p:cNvPr>
          <p:cNvSpPr/>
          <p:nvPr/>
        </p:nvSpPr>
        <p:spPr>
          <a:xfrm>
            <a:off x="854279" y="4863885"/>
            <a:ext cx="409871" cy="379622"/>
          </a:xfrm>
          <a:prstGeom prst="mathMultiply">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35" name="Multiplication Sign 34">
            <a:extLst>
              <a:ext uri="{FF2B5EF4-FFF2-40B4-BE49-F238E27FC236}">
                <a16:creationId xmlns:a16="http://schemas.microsoft.com/office/drawing/2014/main" id="{48F813B9-9539-4C66-F6DA-66CED8F5BF25}"/>
              </a:ext>
            </a:extLst>
          </p:cNvPr>
          <p:cNvSpPr/>
          <p:nvPr/>
        </p:nvSpPr>
        <p:spPr>
          <a:xfrm>
            <a:off x="6475892" y="3520321"/>
            <a:ext cx="409871" cy="379622"/>
          </a:xfrm>
          <a:prstGeom prst="mathMultiply">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38" name="Content Placeholder 1">
            <a:extLst>
              <a:ext uri="{FF2B5EF4-FFF2-40B4-BE49-F238E27FC236}">
                <a16:creationId xmlns:a16="http://schemas.microsoft.com/office/drawing/2014/main" id="{E09E6A09-07C2-884C-C79E-EF9CC4FD355F}"/>
              </a:ext>
            </a:extLst>
          </p:cNvPr>
          <p:cNvSpPr txBox="1">
            <a:spLocks/>
          </p:cNvSpPr>
          <p:nvPr/>
        </p:nvSpPr>
        <p:spPr>
          <a:xfrm>
            <a:off x="6050002" y="3588075"/>
            <a:ext cx="689500" cy="4176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API Call</a:t>
            </a:r>
            <a:endParaRPr lang="en-US" sz="1400" noProof="0" dirty="0">
              <a:solidFill>
                <a:schemeClr val="accent1"/>
              </a:solidFill>
              <a:latin typeface="+mn-lt"/>
            </a:endParaRPr>
          </a:p>
        </p:txBody>
      </p:sp>
    </p:spTree>
    <p:extLst>
      <p:ext uri="{BB962C8B-B14F-4D97-AF65-F5344CB8AC3E}">
        <p14:creationId xmlns:p14="http://schemas.microsoft.com/office/powerpoint/2010/main" val="400408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34" grpId="0" animBg="1"/>
      <p:bldP spid="45" grpId="0" animBg="1"/>
      <p:bldP spid="46" grpId="0"/>
      <p:bldP spid="55" grpId="0" animBg="1"/>
      <p:bldP spid="59" grpId="0" animBg="1"/>
      <p:bldP spid="60" grpId="0"/>
      <p:bldP spid="75" grpId="0"/>
      <p:bldP spid="76" grpId="0"/>
      <p:bldP spid="2" grpId="0" animBg="1"/>
      <p:bldP spid="6" grpId="0"/>
      <p:bldP spid="12" grpId="0" animBg="1"/>
      <p:bldP spid="5" grpId="0" animBg="1"/>
      <p:bldP spid="13" grpId="0" animBg="1"/>
      <p:bldP spid="16" grpId="0" animBg="1"/>
      <p:bldP spid="17" grpId="0" animBg="1"/>
      <p:bldP spid="18" grpId="0" animBg="1"/>
      <p:bldP spid="19" grpId="0" animBg="1"/>
      <p:bldP spid="20" grpId="0" animBg="1"/>
      <p:bldP spid="42" grpId="0"/>
      <p:bldP spid="64" grpId="0"/>
      <p:bldP spid="32" grpId="0" animBg="1"/>
      <p:bldP spid="35" grpId="0" animBg="1"/>
      <p:bldP spid="3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44156-3D42-882F-595A-26C6CCE4FF0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F46AE6-31DB-05D8-9209-B798097104AF}"/>
              </a:ext>
            </a:extLst>
          </p:cNvPr>
          <p:cNvSpPr txBox="1"/>
          <p:nvPr/>
        </p:nvSpPr>
        <p:spPr>
          <a:xfrm>
            <a:off x="147234" y="2022924"/>
            <a:ext cx="9895668" cy="1495281"/>
          </a:xfrm>
          <a:prstGeom prst="rect">
            <a:avLst/>
          </a:prstGeom>
          <a:noFill/>
        </p:spPr>
        <p:txBody>
          <a:bodyPr wrap="square">
            <a:spAutoFit/>
          </a:bodyPr>
          <a:lstStyle/>
          <a:p>
            <a:r>
              <a:rPr lang="en-US" sz="3200" b="1" dirty="0">
                <a:solidFill>
                  <a:schemeClr val="bg1">
                    <a:lumMod val="50000"/>
                  </a:schemeClr>
                </a:solidFill>
              </a:rPr>
              <a:t>Zero-Trust Sovereign AI: </a:t>
            </a:r>
            <a:br>
              <a:rPr lang="en-US" sz="3200" dirty="0"/>
            </a:br>
            <a:r>
              <a:rPr lang="en-US" b="1" dirty="0">
                <a:solidFill>
                  <a:schemeClr val="accent6">
                    <a:lumMod val="50000"/>
                  </a:schemeClr>
                </a:solidFill>
              </a:rPr>
              <a:t>Unified Identity</a:t>
            </a:r>
          </a:p>
          <a:p>
            <a:r>
              <a:rPr lang="en-US" sz="2400" b="1" dirty="0">
                <a:solidFill>
                  <a:schemeClr val="accent6">
                    <a:lumMod val="50000"/>
                  </a:schemeClr>
                </a:solidFill>
              </a:rPr>
              <a:t>Next Steps beyond Current PoC</a:t>
            </a:r>
          </a:p>
        </p:txBody>
      </p:sp>
    </p:spTree>
    <p:extLst>
      <p:ext uri="{BB962C8B-B14F-4D97-AF65-F5344CB8AC3E}">
        <p14:creationId xmlns:p14="http://schemas.microsoft.com/office/powerpoint/2010/main" val="2914525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9E6E5-F175-D510-B287-C8C64251F9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4B857B-40B3-630C-DDEA-724AE7D3D501}"/>
              </a:ext>
            </a:extLst>
          </p:cNvPr>
          <p:cNvSpPr>
            <a:spLocks noGrp="1"/>
          </p:cNvSpPr>
          <p:nvPr>
            <p:ph type="title"/>
          </p:nvPr>
        </p:nvSpPr>
        <p:spPr>
          <a:xfrm>
            <a:off x="3316" y="7607"/>
            <a:ext cx="12188677" cy="464591"/>
          </a:xfrm>
        </p:spPr>
        <p:txBody>
          <a:bodyPr>
            <a:noAutofit/>
          </a:bodyPr>
          <a:lstStyle/>
          <a:p>
            <a:r>
              <a:rPr lang="en-US" b="1" noProof="0" dirty="0">
                <a:latin typeface="IntelOne Display Regular" panose="020B0503020203020204" pitchFamily="34" charset="77"/>
              </a:rPr>
              <a:t>Next Steps beyond Current PoC (1)</a:t>
            </a:r>
          </a:p>
        </p:txBody>
      </p:sp>
      <p:sp>
        <p:nvSpPr>
          <p:cNvPr id="11" name="Content Placeholder 1">
            <a:extLst>
              <a:ext uri="{FF2B5EF4-FFF2-40B4-BE49-F238E27FC236}">
                <a16:creationId xmlns:a16="http://schemas.microsoft.com/office/drawing/2014/main" id="{D4BA716E-C415-F570-2B91-48C2D072A944}"/>
              </a:ext>
            </a:extLst>
          </p:cNvPr>
          <p:cNvSpPr txBox="1">
            <a:spLocks/>
          </p:cNvSpPr>
          <p:nvPr/>
        </p:nvSpPr>
        <p:spPr>
          <a:xfrm>
            <a:off x="602902" y="703944"/>
            <a:ext cx="10999597" cy="56868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chemeClr val="tx1">
                    <a:lumMod val="50000"/>
                  </a:schemeClr>
                </a:solidFill>
              </a:rPr>
              <a:t>Drive Unified </a:t>
            </a:r>
            <a:r>
              <a:rPr lang="en-US" sz="2400" b="1">
                <a:solidFill>
                  <a:schemeClr val="tx1">
                    <a:lumMod val="50000"/>
                  </a:schemeClr>
                </a:solidFill>
              </a:rPr>
              <a:t>Identity for End-to-End </a:t>
            </a:r>
            <a:r>
              <a:rPr lang="en-US" sz="2400" b="1" dirty="0">
                <a:solidFill>
                  <a:schemeClr val="tx1">
                    <a:lumMod val="50000"/>
                  </a:schemeClr>
                </a:solidFill>
              </a:rPr>
              <a:t>Sovereign Access (Client Attestation):</a:t>
            </a:r>
            <a:r>
              <a:rPr lang="en-US" sz="2400" dirty="0">
                <a:solidFill>
                  <a:schemeClr val="tx1">
                    <a:lumMod val="50000"/>
                  </a:schemeClr>
                </a:solidFill>
              </a:rPr>
              <a:t> </a:t>
            </a:r>
          </a:p>
          <a:p>
            <a:r>
              <a:rPr lang="en-US" sz="2200" dirty="0">
                <a:solidFill>
                  <a:schemeClr val="tx1">
                    <a:lumMod val="50000"/>
                  </a:schemeClr>
                </a:solidFill>
              </a:rPr>
              <a:t>We will operationalize unified identity in the "Enterprise Endpoint to Cloud" path. </a:t>
            </a:r>
          </a:p>
          <a:p>
            <a:r>
              <a:rPr lang="en-US" sz="2200" b="1" dirty="0"/>
              <a:t>Why it matters</a:t>
            </a:r>
            <a:r>
              <a:rPr lang="en-US" sz="2200" dirty="0"/>
              <a:t>: By leveraging TPMs for a "Host Reliability Check" and strict geolocation constraints on client devices (Laptops/IoT), we will ensure that the device </a:t>
            </a:r>
            <a:r>
              <a:rPr lang="en-US" sz="2200" i="1" dirty="0"/>
              <a:t>entering</a:t>
            </a:r>
            <a:r>
              <a:rPr lang="en-US" sz="2200" dirty="0"/>
              <a:t> the data is as secure as the cloud </a:t>
            </a:r>
            <a:r>
              <a:rPr lang="en-US" sz="2200" i="1" dirty="0"/>
              <a:t>processing</a:t>
            </a:r>
            <a:r>
              <a:rPr lang="en-US" sz="2200" dirty="0"/>
              <a:t> it.</a:t>
            </a:r>
            <a:endParaRPr lang="en-US" sz="2200" b="1" noProof="0" dirty="0">
              <a:solidFill>
                <a:schemeClr val="tx1">
                  <a:lumMod val="50000"/>
                </a:schemeClr>
              </a:solidFill>
              <a:latin typeface="+mn-lt"/>
            </a:endParaRPr>
          </a:p>
          <a:p>
            <a:pPr marL="0" indent="0">
              <a:buNone/>
            </a:pPr>
            <a:endParaRPr lang="en-US" sz="2400" b="1" dirty="0">
              <a:solidFill>
                <a:schemeClr val="tx1">
                  <a:lumMod val="50000"/>
                </a:schemeClr>
              </a:solidFill>
              <a:latin typeface="+mn-lt"/>
            </a:endParaRPr>
          </a:p>
          <a:p>
            <a:pPr marL="0" indent="0">
              <a:buNone/>
            </a:pPr>
            <a:r>
              <a:rPr lang="en-US" sz="2400" b="1" noProof="0" dirty="0">
                <a:solidFill>
                  <a:schemeClr val="tx1">
                    <a:lumMod val="50000"/>
                  </a:schemeClr>
                </a:solidFill>
                <a:latin typeface="+mn-lt"/>
              </a:rPr>
              <a:t>CAMARA API Enhancement for Zero-trust mobile location verification</a:t>
            </a:r>
          </a:p>
          <a:p>
            <a:r>
              <a:rPr lang="en-US" sz="2200" dirty="0">
                <a:solidFill>
                  <a:schemeClr val="tx1">
                    <a:lumMod val="50000"/>
                  </a:schemeClr>
                </a:solidFill>
                <a:latin typeface="+mn-lt"/>
              </a:rPr>
              <a:t>Need to provide TPM attestation of IMEI/IMSI to convert to telephone number and verify location</a:t>
            </a:r>
          </a:p>
          <a:p>
            <a:r>
              <a:rPr lang="en-US" sz="2200" b="1" dirty="0"/>
              <a:t>Why it matters:</a:t>
            </a:r>
            <a:r>
              <a:rPr lang="en-US" sz="2200" dirty="0"/>
              <a:t> This is the "missing link" for Telcos. It binds the </a:t>
            </a:r>
            <a:r>
              <a:rPr lang="en-US" sz="2200" b="1" dirty="0"/>
              <a:t>Silicon (TPM)</a:t>
            </a:r>
            <a:r>
              <a:rPr lang="en-US" sz="2200" dirty="0"/>
              <a:t> to the </a:t>
            </a:r>
            <a:r>
              <a:rPr lang="en-US" sz="2200" b="1" dirty="0"/>
              <a:t>Network Identity (SIM/IMEI)</a:t>
            </a:r>
            <a:r>
              <a:rPr lang="en-US" sz="2200" dirty="0"/>
              <a:t>. It proves that the device asking for location verification is the actual authorized hardware with an authorized SIM card.</a:t>
            </a:r>
            <a:endParaRPr lang="en-US" sz="2200" noProof="0" dirty="0">
              <a:solidFill>
                <a:schemeClr val="tx1">
                  <a:lumMod val="50000"/>
                </a:schemeClr>
              </a:solidFill>
              <a:latin typeface="+mn-lt"/>
            </a:endParaRPr>
          </a:p>
          <a:p>
            <a:pPr marL="0" indent="0">
              <a:buNone/>
            </a:pPr>
            <a:endParaRPr lang="en-US" sz="2400" noProof="0" dirty="0">
              <a:solidFill>
                <a:schemeClr val="tx1">
                  <a:lumMod val="50000"/>
                </a:schemeClr>
              </a:solidFill>
              <a:latin typeface="+mn-lt"/>
            </a:endParaRPr>
          </a:p>
          <a:p>
            <a:endParaRPr lang="en-US" sz="2133" noProof="0" dirty="0">
              <a:solidFill>
                <a:schemeClr val="accent6"/>
              </a:solidFill>
              <a:latin typeface="+mn-lt"/>
            </a:endParaRPr>
          </a:p>
          <a:p>
            <a:endParaRPr lang="en-US" sz="2133" noProof="0" dirty="0">
              <a:solidFill>
                <a:schemeClr val="accent6"/>
              </a:solidFill>
              <a:latin typeface="+mn-lt"/>
            </a:endParaRPr>
          </a:p>
          <a:p>
            <a:pPr marL="990575" lvl="2" indent="-380990">
              <a:spcBef>
                <a:spcPts val="0"/>
              </a:spcBef>
              <a:buFont typeface="Arial" panose="020B0604020202020204" pitchFamily="34" charset="0"/>
              <a:buChar char="•"/>
            </a:pPr>
            <a:endParaRPr lang="en-US" sz="1867" noProof="0" dirty="0">
              <a:solidFill>
                <a:srgbClr val="00B050"/>
              </a:solidFill>
              <a:latin typeface="+mn-lt"/>
            </a:endParaRPr>
          </a:p>
          <a:p>
            <a:endParaRPr lang="en-US" sz="2133" noProof="0" dirty="0">
              <a:solidFill>
                <a:srgbClr val="00B050"/>
              </a:solidFill>
              <a:latin typeface="+mn-lt"/>
            </a:endParaRPr>
          </a:p>
          <a:p>
            <a:pPr lvl="1"/>
            <a:endParaRPr lang="en-US" sz="1600" noProof="0" dirty="0">
              <a:solidFill>
                <a:schemeClr val="accent6"/>
              </a:solidFill>
              <a:latin typeface="+mn-lt"/>
            </a:endParaRPr>
          </a:p>
          <a:p>
            <a:pPr marL="0" indent="0">
              <a:buNone/>
            </a:pPr>
            <a:endParaRPr lang="en-US" sz="1800" noProof="0" dirty="0">
              <a:solidFill>
                <a:schemeClr val="tx1">
                  <a:lumMod val="50000"/>
                </a:schemeClr>
              </a:solidFill>
              <a:latin typeface="+mn-lt"/>
            </a:endParaRPr>
          </a:p>
          <a:p>
            <a:pPr lvl="1"/>
            <a:endParaRPr lang="en-US" sz="2000" noProof="0" dirty="0">
              <a:solidFill>
                <a:schemeClr val="tx1">
                  <a:lumMod val="50000"/>
                </a:schemeClr>
              </a:solidFill>
              <a:latin typeface="+mn-lt"/>
            </a:endParaRPr>
          </a:p>
          <a:p>
            <a:pPr lvl="1"/>
            <a:endParaRPr lang="en-US" sz="2000" noProof="0" dirty="0">
              <a:solidFill>
                <a:srgbClr val="000000"/>
              </a:solidFill>
              <a:latin typeface="+mn-lt"/>
            </a:endParaRPr>
          </a:p>
          <a:p>
            <a:pPr marL="914377" lvl="2" indent="0">
              <a:buNone/>
            </a:pPr>
            <a:endParaRPr lang="en-US" sz="1600" noProof="0" dirty="0">
              <a:solidFill>
                <a:srgbClr val="000000"/>
              </a:solidFill>
              <a:latin typeface="+mn-lt"/>
            </a:endParaRPr>
          </a:p>
          <a:p>
            <a:pPr lvl="1"/>
            <a:endParaRPr lang="en-US" sz="2000" noProof="0" dirty="0">
              <a:solidFill>
                <a:srgbClr val="000000"/>
              </a:solidFill>
              <a:latin typeface="+mn-lt"/>
            </a:endParaRPr>
          </a:p>
          <a:p>
            <a:pPr lvl="1"/>
            <a:endParaRPr lang="en-US" sz="20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2722082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5E92F-45AF-57D6-521E-2FF1861AAB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166765-20E1-DFFF-40C8-3479DC8212F3}"/>
              </a:ext>
            </a:extLst>
          </p:cNvPr>
          <p:cNvSpPr>
            <a:spLocks noGrp="1"/>
          </p:cNvSpPr>
          <p:nvPr>
            <p:ph type="title"/>
          </p:nvPr>
        </p:nvSpPr>
        <p:spPr>
          <a:xfrm>
            <a:off x="3316" y="7607"/>
            <a:ext cx="12188677" cy="464591"/>
          </a:xfrm>
        </p:spPr>
        <p:txBody>
          <a:bodyPr>
            <a:noAutofit/>
          </a:bodyPr>
          <a:lstStyle/>
          <a:p>
            <a:r>
              <a:rPr lang="en-US" b="1" noProof="0" dirty="0">
                <a:latin typeface="IntelOne Display Regular" panose="020B0503020203020204" pitchFamily="34" charset="77"/>
              </a:rPr>
              <a:t>Next Steps beyond Current PoC (2)</a:t>
            </a:r>
          </a:p>
        </p:txBody>
      </p:sp>
      <p:sp>
        <p:nvSpPr>
          <p:cNvPr id="11" name="Content Placeholder 1">
            <a:extLst>
              <a:ext uri="{FF2B5EF4-FFF2-40B4-BE49-F238E27FC236}">
                <a16:creationId xmlns:a16="http://schemas.microsoft.com/office/drawing/2014/main" id="{46804989-2F1C-58D4-42D9-3D21F11B9FD7}"/>
              </a:ext>
            </a:extLst>
          </p:cNvPr>
          <p:cNvSpPr txBox="1">
            <a:spLocks/>
          </p:cNvSpPr>
          <p:nvPr/>
        </p:nvSpPr>
        <p:spPr>
          <a:xfrm>
            <a:off x="602902" y="703944"/>
            <a:ext cx="10999597" cy="568681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solidFill>
                  <a:schemeClr val="tx1">
                    <a:lumMod val="50000"/>
                  </a:schemeClr>
                </a:solidFill>
              </a:rPr>
              <a:t>Drive Unified Identity across entire AI supply chain</a:t>
            </a:r>
          </a:p>
          <a:p>
            <a:r>
              <a:rPr lang="en-US" sz="2200" b="1" dirty="0">
                <a:solidFill>
                  <a:schemeClr val="tx1">
                    <a:lumMod val="50000"/>
                  </a:schemeClr>
                </a:solidFill>
              </a:rPr>
              <a:t>Data Provenance </a:t>
            </a:r>
          </a:p>
          <a:p>
            <a:pPr lvl="1"/>
            <a:r>
              <a:rPr lang="en-US" sz="1900" dirty="0">
                <a:solidFill>
                  <a:schemeClr val="tx1">
                    <a:lumMod val="50000"/>
                  </a:schemeClr>
                </a:solidFill>
              </a:rPr>
              <a:t>AI Training Data Generation - HW-rooted geolocation provenance embedded in training data</a:t>
            </a:r>
          </a:p>
          <a:p>
            <a:pPr lvl="1"/>
            <a:r>
              <a:rPr lang="en-US" sz="1900" b="1" dirty="0"/>
              <a:t>Why it matters:</a:t>
            </a:r>
            <a:r>
              <a:rPr lang="en-US" sz="1900" dirty="0"/>
              <a:t> This applies the "Unified Identity" concept to the </a:t>
            </a:r>
            <a:r>
              <a:rPr lang="en-US" sz="1900" i="1" dirty="0"/>
              <a:t>data</a:t>
            </a:r>
            <a:r>
              <a:rPr lang="en-US" sz="1900" dirty="0"/>
              <a:t> itself. You are promising cryptographic proof that the data never left the Sovereign Cloud (e.g., Spain) during its creation.</a:t>
            </a:r>
            <a:endParaRPr lang="en-US" sz="1900" dirty="0">
              <a:solidFill>
                <a:schemeClr val="tx1">
                  <a:lumMod val="50000"/>
                </a:schemeClr>
              </a:solidFill>
            </a:endParaRPr>
          </a:p>
          <a:p>
            <a:pPr lvl="1"/>
            <a:endParaRPr lang="en-US" sz="2000" dirty="0">
              <a:solidFill>
                <a:schemeClr val="tx1">
                  <a:lumMod val="50000"/>
                </a:schemeClr>
              </a:solidFill>
            </a:endParaRPr>
          </a:p>
          <a:p>
            <a:r>
              <a:rPr lang="en-US" sz="2200" b="1" dirty="0">
                <a:solidFill>
                  <a:schemeClr val="tx1">
                    <a:lumMod val="50000"/>
                  </a:schemeClr>
                </a:solidFill>
              </a:rPr>
              <a:t>Model Provenance</a:t>
            </a:r>
          </a:p>
          <a:p>
            <a:pPr lvl="1"/>
            <a:r>
              <a:rPr lang="en-US" sz="1800" dirty="0">
                <a:solidFill>
                  <a:schemeClr val="tx1">
                    <a:lumMod val="50000"/>
                  </a:schemeClr>
                </a:solidFill>
              </a:rPr>
              <a:t>AI Model Training - HW-rooted geolocation provenance embedded in model</a:t>
            </a:r>
          </a:p>
          <a:p>
            <a:pPr lvl="1"/>
            <a:r>
              <a:rPr lang="en-US" sz="1800" b="1" dirty="0"/>
              <a:t>Why it matters:</a:t>
            </a:r>
            <a:r>
              <a:rPr lang="en-US" sz="1800" dirty="0"/>
              <a:t> It prevents "Model Laundering"—training a model in a non-compliant region (cheap compute) and then moving it to a sovereign cloud.</a:t>
            </a:r>
            <a:endParaRPr lang="en-US" sz="1800" dirty="0">
              <a:solidFill>
                <a:schemeClr val="tx1">
                  <a:lumMod val="50000"/>
                </a:schemeClr>
              </a:solidFill>
            </a:endParaRPr>
          </a:p>
          <a:p>
            <a:pPr marL="0" lvl="0" indent="0">
              <a:buNone/>
            </a:pPr>
            <a:endParaRPr lang="en-US" sz="2400" b="1" dirty="0">
              <a:solidFill>
                <a:schemeClr val="tx1">
                  <a:lumMod val="50000"/>
                </a:schemeClr>
              </a:solidFill>
              <a:latin typeface="+mn-lt"/>
            </a:endParaRPr>
          </a:p>
          <a:p>
            <a:pPr marL="0" lvl="0" indent="0">
              <a:buNone/>
            </a:pPr>
            <a:r>
              <a:rPr lang="en-US" sz="2400" b="1" dirty="0">
                <a:solidFill>
                  <a:schemeClr val="tx1">
                    <a:lumMod val="50000"/>
                  </a:schemeClr>
                </a:solidFill>
                <a:latin typeface="+mn-lt"/>
              </a:rPr>
              <a:t>Drive Unified Identity for Verifiable Compute (ZKP) </a:t>
            </a:r>
            <a:endParaRPr lang="en-US" sz="2400" dirty="0">
              <a:solidFill>
                <a:schemeClr val="tx1">
                  <a:lumMod val="50000"/>
                </a:schemeClr>
              </a:solidFill>
              <a:latin typeface="+mn-lt"/>
            </a:endParaRPr>
          </a:p>
          <a:p>
            <a:pPr lvl="0"/>
            <a:r>
              <a:rPr lang="en-US" sz="2200" dirty="0">
                <a:solidFill>
                  <a:schemeClr val="tx1">
                    <a:lumMod val="50000"/>
                  </a:schemeClr>
                </a:solidFill>
              </a:rPr>
              <a:t>Today, we prove Residency (Where the AI model runs). Tomorrow, using </a:t>
            </a:r>
            <a:r>
              <a:rPr lang="en-US" sz="2200" b="1" dirty="0">
                <a:solidFill>
                  <a:schemeClr val="tx1">
                    <a:lumMod val="50000"/>
                  </a:schemeClr>
                </a:solidFill>
              </a:rPr>
              <a:t>HW-anchored Zero Knowledge Proofs</a:t>
            </a:r>
            <a:r>
              <a:rPr lang="en-US" sz="2200" dirty="0">
                <a:solidFill>
                  <a:schemeClr val="tx1">
                    <a:lumMod val="50000"/>
                  </a:schemeClr>
                </a:solidFill>
              </a:rPr>
              <a:t>, we will prove </a:t>
            </a:r>
            <a:r>
              <a:rPr lang="en-US" sz="2200" b="1" dirty="0">
                <a:solidFill>
                  <a:schemeClr val="tx1">
                    <a:lumMod val="50000"/>
                  </a:schemeClr>
                </a:solidFill>
              </a:rPr>
              <a:t>Correctness</a:t>
            </a:r>
            <a:r>
              <a:rPr lang="en-US" sz="2200" dirty="0">
                <a:solidFill>
                  <a:schemeClr val="tx1">
                    <a:lumMod val="50000"/>
                  </a:schemeClr>
                </a:solidFill>
              </a:rPr>
              <a:t> (What the AI model did).</a:t>
            </a:r>
          </a:p>
          <a:p>
            <a:pPr lvl="0"/>
            <a:r>
              <a:rPr lang="en-US" sz="2200" b="1" dirty="0"/>
              <a:t>Why it matters</a:t>
            </a:r>
            <a:r>
              <a:rPr lang="en-US" sz="2200" dirty="0"/>
              <a:t>: Allow hosting of proprietary AI models (banking etc.) on public edge nodes with zero IP risk.</a:t>
            </a:r>
          </a:p>
          <a:p>
            <a:endParaRPr lang="en-US" sz="2133" noProof="0" dirty="0">
              <a:solidFill>
                <a:schemeClr val="accent6"/>
              </a:solidFill>
              <a:latin typeface="+mn-lt"/>
            </a:endParaRPr>
          </a:p>
          <a:p>
            <a:endParaRPr lang="en-US" sz="2133" noProof="0" dirty="0">
              <a:solidFill>
                <a:schemeClr val="accent6"/>
              </a:solidFill>
              <a:latin typeface="+mn-lt"/>
            </a:endParaRPr>
          </a:p>
          <a:p>
            <a:pPr marL="990575" lvl="2" indent="-380990">
              <a:spcBef>
                <a:spcPts val="0"/>
              </a:spcBef>
              <a:buFont typeface="Arial" panose="020B0604020202020204" pitchFamily="34" charset="0"/>
              <a:buChar char="•"/>
            </a:pPr>
            <a:endParaRPr lang="en-US" sz="1867" noProof="0" dirty="0">
              <a:solidFill>
                <a:srgbClr val="00B050"/>
              </a:solidFill>
              <a:latin typeface="+mn-lt"/>
            </a:endParaRPr>
          </a:p>
          <a:p>
            <a:endParaRPr lang="en-US" sz="2133" noProof="0" dirty="0">
              <a:solidFill>
                <a:srgbClr val="00B050"/>
              </a:solidFill>
              <a:latin typeface="+mn-lt"/>
            </a:endParaRPr>
          </a:p>
          <a:p>
            <a:pPr lvl="1"/>
            <a:endParaRPr lang="en-US" sz="1600" noProof="0" dirty="0">
              <a:solidFill>
                <a:schemeClr val="accent6"/>
              </a:solidFill>
              <a:latin typeface="+mn-lt"/>
            </a:endParaRPr>
          </a:p>
          <a:p>
            <a:pPr marL="0" indent="0">
              <a:buNone/>
            </a:pPr>
            <a:endParaRPr lang="en-US" sz="1800" noProof="0" dirty="0">
              <a:solidFill>
                <a:schemeClr val="tx1">
                  <a:lumMod val="50000"/>
                </a:schemeClr>
              </a:solidFill>
              <a:latin typeface="+mn-lt"/>
            </a:endParaRPr>
          </a:p>
          <a:p>
            <a:pPr lvl="1"/>
            <a:endParaRPr lang="en-US" sz="2000" noProof="0" dirty="0">
              <a:solidFill>
                <a:schemeClr val="tx1">
                  <a:lumMod val="50000"/>
                </a:schemeClr>
              </a:solidFill>
              <a:latin typeface="+mn-lt"/>
            </a:endParaRPr>
          </a:p>
          <a:p>
            <a:pPr lvl="1"/>
            <a:endParaRPr lang="en-US" sz="2000" noProof="0" dirty="0">
              <a:solidFill>
                <a:srgbClr val="000000"/>
              </a:solidFill>
              <a:latin typeface="+mn-lt"/>
            </a:endParaRPr>
          </a:p>
          <a:p>
            <a:pPr marL="914377" lvl="2" indent="0">
              <a:buNone/>
            </a:pPr>
            <a:endParaRPr lang="en-US" sz="1600" noProof="0" dirty="0">
              <a:solidFill>
                <a:srgbClr val="000000"/>
              </a:solidFill>
              <a:latin typeface="+mn-lt"/>
            </a:endParaRPr>
          </a:p>
          <a:p>
            <a:pPr lvl="1"/>
            <a:endParaRPr lang="en-US" sz="2000" noProof="0" dirty="0">
              <a:solidFill>
                <a:srgbClr val="000000"/>
              </a:solidFill>
              <a:latin typeface="+mn-lt"/>
            </a:endParaRPr>
          </a:p>
          <a:p>
            <a:pPr lvl="1"/>
            <a:endParaRPr lang="en-US" sz="20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9515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6F256-41C8-7B1C-860F-7E56118946B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2BD600-8204-6AC3-2622-D93E2390FFE6}"/>
              </a:ext>
            </a:extLst>
          </p:cNvPr>
          <p:cNvSpPr txBox="1"/>
          <p:nvPr/>
        </p:nvSpPr>
        <p:spPr>
          <a:xfrm>
            <a:off x="147234" y="2022924"/>
            <a:ext cx="9895668" cy="1495281"/>
          </a:xfrm>
          <a:prstGeom prst="rect">
            <a:avLst/>
          </a:prstGeom>
          <a:noFill/>
        </p:spPr>
        <p:txBody>
          <a:bodyPr wrap="square">
            <a:spAutoFit/>
          </a:bodyPr>
          <a:lstStyle/>
          <a:p>
            <a:r>
              <a:rPr lang="en-US" sz="3200" b="1" dirty="0">
                <a:solidFill>
                  <a:schemeClr val="bg1">
                    <a:lumMod val="50000"/>
                  </a:schemeClr>
                </a:solidFill>
              </a:rPr>
              <a:t>Zero-Trust Sovereign AI: </a:t>
            </a:r>
            <a:br>
              <a:rPr lang="en-US" sz="3200" dirty="0"/>
            </a:br>
            <a:r>
              <a:rPr lang="en-US" b="1" dirty="0">
                <a:solidFill>
                  <a:schemeClr val="accent6">
                    <a:lumMod val="50000"/>
                  </a:schemeClr>
                </a:solidFill>
              </a:rPr>
              <a:t>Unified Identity</a:t>
            </a:r>
          </a:p>
          <a:p>
            <a:r>
              <a:rPr lang="en-US" sz="2400" b="1" dirty="0">
                <a:solidFill>
                  <a:schemeClr val="accent6">
                    <a:lumMod val="50000"/>
                  </a:schemeClr>
                </a:solidFill>
              </a:rPr>
              <a:t>Appendix: Unified Identity Architecture Details</a:t>
            </a:r>
          </a:p>
        </p:txBody>
      </p:sp>
    </p:spTree>
    <p:extLst>
      <p:ext uri="{BB962C8B-B14F-4D97-AF65-F5344CB8AC3E}">
        <p14:creationId xmlns:p14="http://schemas.microsoft.com/office/powerpoint/2010/main" val="1273172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C50AD-D8A9-DE43-08C8-BAC040DA08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059FFB-6BCF-9352-E7AD-D6565C0A95A2}"/>
              </a:ext>
            </a:extLst>
          </p:cNvPr>
          <p:cNvSpPr>
            <a:spLocks noGrp="1"/>
          </p:cNvSpPr>
          <p:nvPr>
            <p:ph type="title"/>
          </p:nvPr>
        </p:nvSpPr>
        <p:spPr>
          <a:xfrm>
            <a:off x="6131" y="-23389"/>
            <a:ext cx="12030648" cy="464591"/>
          </a:xfrm>
        </p:spPr>
        <p:txBody>
          <a:bodyPr>
            <a:noAutofit/>
          </a:bodyPr>
          <a:lstStyle/>
          <a:p>
            <a:pPr>
              <a:spcBef>
                <a:spcPts val="0"/>
              </a:spcBef>
            </a:pPr>
            <a:r>
              <a:rPr lang="en-US" b="1" dirty="0"/>
              <a:t>Spiffe/Spire agent unified svid (workload/host identity) architectural flow</a:t>
            </a:r>
          </a:p>
        </p:txBody>
      </p:sp>
      <p:sp>
        <p:nvSpPr>
          <p:cNvPr id="31" name="Content Placeholder 1">
            <a:extLst>
              <a:ext uri="{FF2B5EF4-FFF2-40B4-BE49-F238E27FC236}">
                <a16:creationId xmlns:a16="http://schemas.microsoft.com/office/drawing/2014/main" id="{91C8B5DD-5CD4-E08E-C0D0-C0A59391CC0C}"/>
              </a:ext>
            </a:extLst>
          </p:cNvPr>
          <p:cNvSpPr txBox="1">
            <a:spLocks/>
          </p:cNvSpPr>
          <p:nvPr/>
        </p:nvSpPr>
        <p:spPr>
          <a:xfrm>
            <a:off x="320098" y="424590"/>
            <a:ext cx="7261647" cy="32227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noProof="0" dirty="0">
              <a:solidFill>
                <a:schemeClr val="accent4"/>
              </a:solidFill>
              <a:latin typeface="+mn-lt"/>
            </a:endParaRPr>
          </a:p>
          <a:p>
            <a:pPr marL="609585" lvl="1" indent="0">
              <a:buNone/>
            </a:pPr>
            <a:endParaRPr lang="en-US" sz="2000" noProof="0" dirty="0">
              <a:solidFill>
                <a:schemeClr val="tx1">
                  <a:lumMod val="50000"/>
                </a:schemeClr>
              </a:solidFill>
              <a:latin typeface="+mn-lt"/>
            </a:endParaRPr>
          </a:p>
          <a:p>
            <a:pPr lvl="1"/>
            <a:endParaRPr lang="en-US" sz="2000" noProof="0" dirty="0">
              <a:solidFill>
                <a:srgbClr val="000000"/>
              </a:solidFill>
              <a:latin typeface="+mn-lt"/>
            </a:endParaRPr>
          </a:p>
          <a:p>
            <a:pPr marL="457189" lvl="1" indent="0">
              <a:buNone/>
            </a:pPr>
            <a:endParaRPr lang="en-US" sz="20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p:txBody>
      </p:sp>
      <p:sp>
        <p:nvSpPr>
          <p:cNvPr id="15" name="Rectangle 14">
            <a:extLst>
              <a:ext uri="{FF2B5EF4-FFF2-40B4-BE49-F238E27FC236}">
                <a16:creationId xmlns:a16="http://schemas.microsoft.com/office/drawing/2014/main" id="{241969E6-7CC7-76C4-11C0-C189DD5670B4}"/>
              </a:ext>
            </a:extLst>
          </p:cNvPr>
          <p:cNvSpPr/>
          <p:nvPr/>
        </p:nvSpPr>
        <p:spPr>
          <a:xfrm>
            <a:off x="1714984" y="3318101"/>
            <a:ext cx="5070280" cy="3399887"/>
          </a:xfrm>
          <a:prstGeom prst="rect">
            <a:avLst/>
          </a:prstGeom>
          <a:solidFill>
            <a:schemeClr val="accent4">
              <a:lumMod val="20000"/>
              <a:lumOff val="80000"/>
            </a:schemeClr>
          </a:solidFill>
          <a:ln w="1270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noProof="0" dirty="0"/>
          </a:p>
        </p:txBody>
      </p:sp>
      <p:pic>
        <p:nvPicPr>
          <p:cNvPr id="26" name="Graphic 25" descr="Server with solid fill">
            <a:extLst>
              <a:ext uri="{FF2B5EF4-FFF2-40B4-BE49-F238E27FC236}">
                <a16:creationId xmlns:a16="http://schemas.microsoft.com/office/drawing/2014/main" id="{18C60EC0-CB8F-0FEA-CC9F-D7D241F3412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70210" y="6512007"/>
            <a:ext cx="292019" cy="358590"/>
          </a:xfrm>
          <a:prstGeom prst="rect">
            <a:avLst/>
          </a:prstGeom>
        </p:spPr>
      </p:pic>
      <p:sp>
        <p:nvSpPr>
          <p:cNvPr id="27" name="Content Placeholder 1">
            <a:extLst>
              <a:ext uri="{FF2B5EF4-FFF2-40B4-BE49-F238E27FC236}">
                <a16:creationId xmlns:a16="http://schemas.microsoft.com/office/drawing/2014/main" id="{E285BB13-C7CE-F165-60FF-D67A8D029194}"/>
              </a:ext>
            </a:extLst>
          </p:cNvPr>
          <p:cNvSpPr txBox="1">
            <a:spLocks/>
          </p:cNvSpPr>
          <p:nvPr/>
        </p:nvSpPr>
        <p:spPr>
          <a:xfrm>
            <a:off x="455379" y="6214920"/>
            <a:ext cx="1084251" cy="57695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b="1" noProof="0" dirty="0">
                <a:solidFill>
                  <a:schemeClr val="tx1"/>
                </a:solidFill>
                <a:latin typeface="+mn-lt"/>
              </a:rPr>
              <a:t>Server                Location </a:t>
            </a:r>
            <a:r>
              <a:rPr lang="en-US" sz="1100" b="1" dirty="0">
                <a:solidFill>
                  <a:schemeClr val="tx1"/>
                </a:solidFill>
                <a:latin typeface="+mn-lt"/>
              </a:rPr>
              <a:t>                      </a:t>
            </a:r>
            <a:r>
              <a:rPr lang="en-US" sz="1100" b="1" noProof="0" dirty="0">
                <a:solidFill>
                  <a:schemeClr val="tx1"/>
                </a:solidFill>
                <a:latin typeface="+mn-lt"/>
              </a:rPr>
              <a:t>Anchor Host                </a:t>
            </a:r>
          </a:p>
        </p:txBody>
      </p:sp>
      <p:sp>
        <p:nvSpPr>
          <p:cNvPr id="28" name="TextBox 27">
            <a:extLst>
              <a:ext uri="{FF2B5EF4-FFF2-40B4-BE49-F238E27FC236}">
                <a16:creationId xmlns:a16="http://schemas.microsoft.com/office/drawing/2014/main" id="{7D003385-D80A-6F23-66E5-3740B6ADD6A0}"/>
              </a:ext>
            </a:extLst>
          </p:cNvPr>
          <p:cNvSpPr txBox="1"/>
          <p:nvPr/>
        </p:nvSpPr>
        <p:spPr>
          <a:xfrm>
            <a:off x="351379" y="4474530"/>
            <a:ext cx="1378415" cy="757130"/>
          </a:xfrm>
          <a:prstGeom prst="rect">
            <a:avLst/>
          </a:prstGeom>
          <a:noFill/>
        </p:spPr>
        <p:txBody>
          <a:bodyPr wrap="square">
            <a:spAutoFit/>
          </a:bodyPr>
          <a:lstStyle/>
          <a:p>
            <a:pPr marL="0" indent="0" algn="ctr">
              <a:buNone/>
            </a:pPr>
            <a:r>
              <a:rPr lang="en-US" sz="1200" b="1" noProof="0" dirty="0">
                <a:solidFill>
                  <a:schemeClr val="tx1">
                    <a:lumMod val="50000"/>
                  </a:schemeClr>
                </a:solidFill>
                <a:latin typeface="+mn-lt"/>
              </a:rPr>
              <a:t>5G/LTE Modem with antenna &amp; SIM slot or GNSS</a:t>
            </a:r>
          </a:p>
        </p:txBody>
      </p:sp>
      <p:pic>
        <p:nvPicPr>
          <p:cNvPr id="33" name="Picture 6" descr="UAYESOK Heavy Duty Magnetic Mount Mobile Antenna Dual-Band 2m 70cm VHF/UHF  Mag Base Antenna PL-259 Plug for Vehicel Truck SUV Mobile Radio Scanner ...">
            <a:extLst>
              <a:ext uri="{FF2B5EF4-FFF2-40B4-BE49-F238E27FC236}">
                <a16:creationId xmlns:a16="http://schemas.microsoft.com/office/drawing/2014/main" id="{8C10770D-40D2-9BB8-CC89-C485D954CC8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16685" y="5381875"/>
            <a:ext cx="764246" cy="89709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a:extLst>
              <a:ext uri="{FF2B5EF4-FFF2-40B4-BE49-F238E27FC236}">
                <a16:creationId xmlns:a16="http://schemas.microsoft.com/office/drawing/2014/main" id="{B48E77C7-488A-A3DE-9F6F-F42B1864B2C6}"/>
              </a:ext>
            </a:extLst>
          </p:cNvPr>
          <p:cNvPicPr>
            <a:picLocks noChangeAspect="1"/>
          </p:cNvPicPr>
          <p:nvPr/>
        </p:nvPicPr>
        <p:blipFill>
          <a:blip r:embed="rId7"/>
          <a:stretch>
            <a:fillRect/>
          </a:stretch>
        </p:blipFill>
        <p:spPr>
          <a:xfrm>
            <a:off x="733370" y="5322141"/>
            <a:ext cx="528270" cy="295325"/>
          </a:xfrm>
          <a:prstGeom prst="rect">
            <a:avLst/>
          </a:prstGeom>
        </p:spPr>
      </p:pic>
      <p:sp>
        <p:nvSpPr>
          <p:cNvPr id="14" name="TextBox 13">
            <a:extLst>
              <a:ext uri="{FF2B5EF4-FFF2-40B4-BE49-F238E27FC236}">
                <a16:creationId xmlns:a16="http://schemas.microsoft.com/office/drawing/2014/main" id="{9B2E06AE-8C95-5AE2-25A3-2193A6A29668}"/>
              </a:ext>
            </a:extLst>
          </p:cNvPr>
          <p:cNvSpPr txBox="1"/>
          <p:nvPr/>
        </p:nvSpPr>
        <p:spPr>
          <a:xfrm>
            <a:off x="1788315" y="3416902"/>
            <a:ext cx="997573" cy="258532"/>
          </a:xfrm>
          <a:prstGeom prst="rect">
            <a:avLst/>
          </a:prstGeom>
          <a:solidFill>
            <a:schemeClr val="bg1"/>
          </a:solidFill>
        </p:spPr>
        <p:txBody>
          <a:bodyPr wrap="square" rtlCol="0">
            <a:spAutoFit/>
          </a:bodyPr>
          <a:lstStyle/>
          <a:p>
            <a:pPr algn="ctr"/>
            <a:r>
              <a:rPr lang="en-US" sz="1200" b="1" dirty="0">
                <a:solidFill>
                  <a:schemeClr val="accent6"/>
                </a:solidFill>
              </a:rPr>
              <a:t>Spire Agent</a:t>
            </a:r>
          </a:p>
        </p:txBody>
      </p:sp>
      <p:sp>
        <p:nvSpPr>
          <p:cNvPr id="16" name="TextBox 15">
            <a:extLst>
              <a:ext uri="{FF2B5EF4-FFF2-40B4-BE49-F238E27FC236}">
                <a16:creationId xmlns:a16="http://schemas.microsoft.com/office/drawing/2014/main" id="{E5819188-A963-21A3-C4AD-58EF91CA2C3A}"/>
              </a:ext>
            </a:extLst>
          </p:cNvPr>
          <p:cNvSpPr txBox="1"/>
          <p:nvPr/>
        </p:nvSpPr>
        <p:spPr>
          <a:xfrm>
            <a:off x="17604" y="406397"/>
            <a:ext cx="3734339" cy="1034129"/>
          </a:xfrm>
          <a:prstGeom prst="rect">
            <a:avLst/>
          </a:prstGeom>
          <a:solidFill>
            <a:schemeClr val="accent6">
              <a:lumMod val="20000"/>
              <a:lumOff val="80000"/>
            </a:schemeClr>
          </a:solidFill>
        </p:spPr>
        <p:txBody>
          <a:bodyPr wrap="square" rtlCol="0">
            <a:spAutoFit/>
          </a:bodyPr>
          <a:lstStyle/>
          <a:p>
            <a:pPr algn="ctr">
              <a:spcBef>
                <a:spcPts val="0"/>
              </a:spcBef>
            </a:pPr>
            <a:r>
              <a:rPr lang="en-US" sz="1600" b="1" dirty="0"/>
              <a:t>Workload Identity Manager                          - Spire Server</a:t>
            </a:r>
            <a:br>
              <a:rPr lang="en-US" sz="1600" b="1" dirty="0"/>
            </a:br>
            <a:r>
              <a:rPr lang="en-US" sz="1200" b="1" dirty="0"/>
              <a:t>Verify workload attestation (local) and host attestation from keylime verifier – allocate unified svid (workload version, host cpu/gpu integrity, geolocation)</a:t>
            </a:r>
            <a:endParaRPr lang="en-US" sz="1200" b="1" dirty="0">
              <a:solidFill>
                <a:schemeClr val="tx1"/>
              </a:solidFill>
            </a:endParaRPr>
          </a:p>
        </p:txBody>
      </p:sp>
      <p:sp>
        <p:nvSpPr>
          <p:cNvPr id="30" name="TextBox 29">
            <a:extLst>
              <a:ext uri="{FF2B5EF4-FFF2-40B4-BE49-F238E27FC236}">
                <a16:creationId xmlns:a16="http://schemas.microsoft.com/office/drawing/2014/main" id="{54947DF0-34C5-FE6E-543F-9486CCE0C9BE}"/>
              </a:ext>
            </a:extLst>
          </p:cNvPr>
          <p:cNvSpPr txBox="1"/>
          <p:nvPr/>
        </p:nvSpPr>
        <p:spPr>
          <a:xfrm>
            <a:off x="4087989" y="409704"/>
            <a:ext cx="5230968" cy="812530"/>
          </a:xfrm>
          <a:prstGeom prst="rect">
            <a:avLst/>
          </a:prstGeom>
          <a:solidFill>
            <a:schemeClr val="accent6">
              <a:lumMod val="60000"/>
              <a:lumOff val="40000"/>
            </a:schemeClr>
          </a:solidFill>
        </p:spPr>
        <p:txBody>
          <a:bodyPr wrap="square" rtlCol="0">
            <a:spAutoFit/>
          </a:bodyPr>
          <a:lstStyle/>
          <a:p>
            <a:pPr algn="ctr">
              <a:spcBef>
                <a:spcPts val="0"/>
              </a:spcBef>
            </a:pPr>
            <a:r>
              <a:rPr lang="en-US" sz="1600" b="1" dirty="0"/>
              <a:t>Host Hardware Identity - Keylime registrar DB</a:t>
            </a:r>
          </a:p>
          <a:p>
            <a:pPr algn="ctr">
              <a:spcBef>
                <a:spcPts val="0"/>
              </a:spcBef>
            </a:pPr>
            <a:r>
              <a:rPr lang="en-US" sz="1200" dirty="0"/>
              <a:t>Host TPM AK -&gt; Host TPM Endorsement Key (EK) (Note: security is in TPM AK/EK attestation)</a:t>
            </a:r>
            <a:br>
              <a:rPr lang="en-US" sz="1200" dirty="0"/>
            </a:br>
            <a:r>
              <a:rPr lang="en-US" sz="1200" dirty="0"/>
              <a:t>Host TPM EK -&gt; GNSS sensor HW id; Mobile sensor HW id, IMEI/IMSI/ph. number</a:t>
            </a:r>
          </a:p>
        </p:txBody>
      </p:sp>
      <p:sp>
        <p:nvSpPr>
          <p:cNvPr id="4" name="TextBox 3">
            <a:extLst>
              <a:ext uri="{FF2B5EF4-FFF2-40B4-BE49-F238E27FC236}">
                <a16:creationId xmlns:a16="http://schemas.microsoft.com/office/drawing/2014/main" id="{248AABCB-D5F7-56D5-1E82-5479226DBAF8}"/>
              </a:ext>
            </a:extLst>
          </p:cNvPr>
          <p:cNvSpPr txBox="1"/>
          <p:nvPr/>
        </p:nvSpPr>
        <p:spPr>
          <a:xfrm>
            <a:off x="7853054" y="1384212"/>
            <a:ext cx="1465903" cy="1061829"/>
          </a:xfrm>
          <a:prstGeom prst="rect">
            <a:avLst/>
          </a:prstGeom>
          <a:solidFill>
            <a:schemeClr val="accent6">
              <a:lumMod val="60000"/>
              <a:lumOff val="40000"/>
            </a:schemeClr>
          </a:solidFill>
        </p:spPr>
        <p:txBody>
          <a:bodyPr wrap="square" rtlCol="0">
            <a:spAutoFit/>
          </a:bodyPr>
          <a:lstStyle/>
          <a:p>
            <a:pPr algn="ctr">
              <a:spcBef>
                <a:spcPts val="0"/>
              </a:spcBef>
            </a:pPr>
            <a:r>
              <a:rPr lang="en-US" sz="1400" b="1" dirty="0"/>
              <a:t>Host Geolocation sensor</a:t>
            </a:r>
            <a:br>
              <a:rPr lang="en-US" sz="1400" b="1" dirty="0"/>
            </a:br>
            <a:r>
              <a:rPr lang="en-US" sz="1400" b="1" dirty="0"/>
              <a:t>Composition Manager</a:t>
            </a:r>
          </a:p>
        </p:txBody>
      </p:sp>
      <p:sp>
        <p:nvSpPr>
          <p:cNvPr id="12" name="TextBox 11">
            <a:extLst>
              <a:ext uri="{FF2B5EF4-FFF2-40B4-BE49-F238E27FC236}">
                <a16:creationId xmlns:a16="http://schemas.microsoft.com/office/drawing/2014/main" id="{3DB2A693-2695-4FDB-E28A-892C2F872487}"/>
              </a:ext>
            </a:extLst>
          </p:cNvPr>
          <p:cNvSpPr txBox="1"/>
          <p:nvPr/>
        </p:nvSpPr>
        <p:spPr>
          <a:xfrm>
            <a:off x="6649494" y="1782659"/>
            <a:ext cx="1126781" cy="674031"/>
          </a:xfrm>
          <a:prstGeom prst="rect">
            <a:avLst/>
          </a:prstGeom>
          <a:solidFill>
            <a:schemeClr val="accent6">
              <a:lumMod val="60000"/>
              <a:lumOff val="40000"/>
            </a:schemeClr>
          </a:solidFill>
        </p:spPr>
        <p:txBody>
          <a:bodyPr wrap="square" rtlCol="0">
            <a:spAutoFit/>
          </a:bodyPr>
          <a:lstStyle/>
          <a:p>
            <a:pPr algn="ctr">
              <a:spcBef>
                <a:spcPts val="0"/>
              </a:spcBef>
            </a:pPr>
            <a:r>
              <a:rPr lang="en-US" sz="1400" b="1" i="1" dirty="0"/>
              <a:t>Host Proximity Manager</a:t>
            </a:r>
          </a:p>
        </p:txBody>
      </p:sp>
      <p:cxnSp>
        <p:nvCxnSpPr>
          <p:cNvPr id="1035" name="Connector: Curved 1034">
            <a:extLst>
              <a:ext uri="{FF2B5EF4-FFF2-40B4-BE49-F238E27FC236}">
                <a16:creationId xmlns:a16="http://schemas.microsoft.com/office/drawing/2014/main" id="{FC5C1544-9BC5-611C-41B0-8CCEFFBF9CB5}"/>
              </a:ext>
            </a:extLst>
          </p:cNvPr>
          <p:cNvCxnSpPr>
            <a:cxnSpLocks/>
            <a:stCxn id="4" idx="0"/>
            <a:endCxn id="30" idx="2"/>
          </p:cNvCxnSpPr>
          <p:nvPr/>
        </p:nvCxnSpPr>
        <p:spPr>
          <a:xfrm rot="16200000" flipV="1">
            <a:off x="7563751" y="361956"/>
            <a:ext cx="161978" cy="1882533"/>
          </a:xfrm>
          <a:prstGeom prst="curvedConnector3">
            <a:avLst>
              <a:gd name="adj1" fmla="val 50000"/>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38" name="Connector: Curved 1037">
            <a:extLst>
              <a:ext uri="{FF2B5EF4-FFF2-40B4-BE49-F238E27FC236}">
                <a16:creationId xmlns:a16="http://schemas.microsoft.com/office/drawing/2014/main" id="{A59E2DA2-4A22-4CAF-0BC2-B6F5C8109650}"/>
              </a:ext>
            </a:extLst>
          </p:cNvPr>
          <p:cNvCxnSpPr>
            <a:cxnSpLocks/>
            <a:stCxn id="12" idx="0"/>
            <a:endCxn id="30" idx="2"/>
          </p:cNvCxnSpPr>
          <p:nvPr/>
        </p:nvCxnSpPr>
        <p:spPr>
          <a:xfrm rot="16200000" flipV="1">
            <a:off x="6677967" y="1247741"/>
            <a:ext cx="560425" cy="509412"/>
          </a:xfrm>
          <a:prstGeom prst="curvedConnector3">
            <a:avLst>
              <a:gd name="adj1" fmla="val 50000"/>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93" name="Straight Connector 1092">
            <a:extLst>
              <a:ext uri="{FF2B5EF4-FFF2-40B4-BE49-F238E27FC236}">
                <a16:creationId xmlns:a16="http://schemas.microsoft.com/office/drawing/2014/main" id="{EA56C887-0557-81A6-95D9-45FCEEC227DF}"/>
              </a:ext>
            </a:extLst>
          </p:cNvPr>
          <p:cNvCxnSpPr>
            <a:cxnSpLocks/>
          </p:cNvCxnSpPr>
          <p:nvPr/>
        </p:nvCxnSpPr>
        <p:spPr>
          <a:xfrm>
            <a:off x="17603" y="2556101"/>
            <a:ext cx="12137525" cy="0"/>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96" name="Content Placeholder 1">
            <a:extLst>
              <a:ext uri="{FF2B5EF4-FFF2-40B4-BE49-F238E27FC236}">
                <a16:creationId xmlns:a16="http://schemas.microsoft.com/office/drawing/2014/main" id="{560A4386-0ED7-6C27-2D0C-86040C224180}"/>
              </a:ext>
            </a:extLst>
          </p:cNvPr>
          <p:cNvSpPr txBox="1">
            <a:spLocks/>
          </p:cNvSpPr>
          <p:nvPr/>
        </p:nvSpPr>
        <p:spPr>
          <a:xfrm>
            <a:off x="10713704" y="2237512"/>
            <a:ext cx="1466081" cy="33069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noProof="0" dirty="0">
                <a:solidFill>
                  <a:schemeClr val="tx1">
                    <a:lumMod val="50000"/>
                  </a:schemeClr>
                </a:solidFill>
                <a:latin typeface="+mn-lt"/>
              </a:rPr>
              <a:t>Control Plane</a:t>
            </a:r>
            <a:endParaRPr lang="en-US" sz="18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p:txBody>
      </p:sp>
      <p:cxnSp>
        <p:nvCxnSpPr>
          <p:cNvPr id="60" name="Connector: Curved 59">
            <a:extLst>
              <a:ext uri="{FF2B5EF4-FFF2-40B4-BE49-F238E27FC236}">
                <a16:creationId xmlns:a16="http://schemas.microsoft.com/office/drawing/2014/main" id="{05B2D19C-2C4D-F1E9-DB28-569BDBA94F94}"/>
              </a:ext>
            </a:extLst>
          </p:cNvPr>
          <p:cNvCxnSpPr>
            <a:cxnSpLocks/>
            <a:stCxn id="14" idx="0"/>
            <a:endCxn id="16" idx="1"/>
          </p:cNvCxnSpPr>
          <p:nvPr/>
        </p:nvCxnSpPr>
        <p:spPr>
          <a:xfrm rot="16200000" flipV="1">
            <a:off x="-94367" y="1035433"/>
            <a:ext cx="2493440" cy="2269498"/>
          </a:xfrm>
          <a:prstGeom prst="curvedConnector4">
            <a:avLst>
              <a:gd name="adj1" fmla="val 34975"/>
              <a:gd name="adj2" fmla="val 93445"/>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52" name="TextBox 1051">
            <a:extLst>
              <a:ext uri="{FF2B5EF4-FFF2-40B4-BE49-F238E27FC236}">
                <a16:creationId xmlns:a16="http://schemas.microsoft.com/office/drawing/2014/main" id="{D7237986-82E4-AEF2-F1B1-7DD6A171A389}"/>
              </a:ext>
            </a:extLst>
          </p:cNvPr>
          <p:cNvSpPr txBox="1"/>
          <p:nvPr/>
        </p:nvSpPr>
        <p:spPr>
          <a:xfrm>
            <a:off x="4071333" y="1323222"/>
            <a:ext cx="2441918" cy="1144929"/>
          </a:xfrm>
          <a:prstGeom prst="rect">
            <a:avLst/>
          </a:prstGeom>
          <a:solidFill>
            <a:schemeClr val="accent6">
              <a:lumMod val="60000"/>
              <a:lumOff val="40000"/>
            </a:schemeClr>
          </a:solidFill>
        </p:spPr>
        <p:txBody>
          <a:bodyPr wrap="square" rtlCol="0">
            <a:spAutoFit/>
          </a:bodyPr>
          <a:lstStyle/>
          <a:p>
            <a:pPr algn="ctr">
              <a:spcBef>
                <a:spcPts val="0"/>
              </a:spcBef>
            </a:pPr>
            <a:r>
              <a:rPr lang="en-US" sz="1400" b="1" dirty="0"/>
              <a:t>Host (bare metal/VM) verifier – Keylime verifier</a:t>
            </a:r>
          </a:p>
          <a:p>
            <a:pPr algn="ctr">
              <a:spcBef>
                <a:spcPts val="0"/>
              </a:spcBef>
            </a:pPr>
            <a:r>
              <a:rPr lang="en-US" sz="1200" dirty="0"/>
              <a:t>TPM-based measured boot checks, runtime IMA policy and other policy validation – ensure host meets policy constraints</a:t>
            </a:r>
            <a:endParaRPr lang="en-US" sz="1200" b="1" dirty="0"/>
          </a:p>
        </p:txBody>
      </p:sp>
      <p:sp>
        <p:nvSpPr>
          <p:cNvPr id="1072" name="TextBox 1071">
            <a:extLst>
              <a:ext uri="{FF2B5EF4-FFF2-40B4-BE49-F238E27FC236}">
                <a16:creationId xmlns:a16="http://schemas.microsoft.com/office/drawing/2014/main" id="{41492E18-6BA5-A462-D2BF-B3DAB600A78B}"/>
              </a:ext>
            </a:extLst>
          </p:cNvPr>
          <p:cNvSpPr txBox="1"/>
          <p:nvPr/>
        </p:nvSpPr>
        <p:spPr>
          <a:xfrm>
            <a:off x="2864049" y="6436363"/>
            <a:ext cx="1344807" cy="258532"/>
          </a:xfrm>
          <a:prstGeom prst="rect">
            <a:avLst/>
          </a:prstGeom>
          <a:solidFill>
            <a:schemeClr val="bg1"/>
          </a:solidFill>
        </p:spPr>
        <p:txBody>
          <a:bodyPr wrap="square" rtlCol="0">
            <a:spAutoFit/>
          </a:bodyPr>
          <a:lstStyle/>
          <a:p>
            <a:pPr algn="ctr"/>
            <a:r>
              <a:rPr lang="en-US" sz="1200" b="1" dirty="0">
                <a:solidFill>
                  <a:schemeClr val="accent6">
                    <a:lumMod val="50000"/>
                  </a:schemeClr>
                </a:solidFill>
              </a:rPr>
              <a:t>Keylime Agent</a:t>
            </a:r>
          </a:p>
        </p:txBody>
      </p:sp>
      <p:sp>
        <p:nvSpPr>
          <p:cNvPr id="5" name="ZoneTexte 26">
            <a:extLst>
              <a:ext uri="{FF2B5EF4-FFF2-40B4-BE49-F238E27FC236}">
                <a16:creationId xmlns:a16="http://schemas.microsoft.com/office/drawing/2014/main" id="{749EAA98-2D22-BB89-C60E-B9A11D7E9B29}"/>
              </a:ext>
            </a:extLst>
          </p:cNvPr>
          <p:cNvSpPr txBox="1"/>
          <p:nvPr/>
        </p:nvSpPr>
        <p:spPr>
          <a:xfrm>
            <a:off x="1087026" y="2614032"/>
            <a:ext cx="1144577" cy="646139"/>
          </a:xfrm>
          <a:prstGeom prst="rect">
            <a:avLst/>
          </a:prstGeom>
          <a:solidFill>
            <a:schemeClr val="bg1"/>
          </a:solidFill>
        </p:spPr>
        <p:txBody>
          <a:bodyPr wrap="square" rtlCol="0">
            <a:spAutoFit/>
          </a:bodyPr>
          <a:lstStyle/>
          <a:p>
            <a:pPr algn="ctr">
              <a:spcBef>
                <a:spcPts val="0"/>
              </a:spcBef>
            </a:pPr>
            <a:r>
              <a:rPr lang="en-US" sz="1300" i="1" noProof="0" dirty="0">
                <a:solidFill>
                  <a:schemeClr val="accent6">
                    <a:lumMod val="50000"/>
                  </a:schemeClr>
                </a:solidFill>
              </a:rPr>
              <a:t>(1) Get nonce from spire server</a:t>
            </a:r>
          </a:p>
        </p:txBody>
      </p:sp>
      <p:cxnSp>
        <p:nvCxnSpPr>
          <p:cNvPr id="23" name="Connector: Curved 22">
            <a:extLst>
              <a:ext uri="{FF2B5EF4-FFF2-40B4-BE49-F238E27FC236}">
                <a16:creationId xmlns:a16="http://schemas.microsoft.com/office/drawing/2014/main" id="{F32C2A38-3356-450C-5CB4-BD09D60AAD11}"/>
              </a:ext>
            </a:extLst>
          </p:cNvPr>
          <p:cNvCxnSpPr>
            <a:cxnSpLocks/>
            <a:stCxn id="14" idx="2"/>
          </p:cNvCxnSpPr>
          <p:nvPr/>
        </p:nvCxnSpPr>
        <p:spPr>
          <a:xfrm rot="16200000" flipH="1">
            <a:off x="1119411" y="4843125"/>
            <a:ext cx="2912328" cy="576946"/>
          </a:xfrm>
          <a:prstGeom prst="curvedConnector3">
            <a:avLst>
              <a:gd name="adj1" fmla="val 50000"/>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55" name="ZoneTexte 26">
            <a:extLst>
              <a:ext uri="{FF2B5EF4-FFF2-40B4-BE49-F238E27FC236}">
                <a16:creationId xmlns:a16="http://schemas.microsoft.com/office/drawing/2014/main" id="{ECF31E1D-2A2C-C513-E74A-5D4BD40984DF}"/>
              </a:ext>
            </a:extLst>
          </p:cNvPr>
          <p:cNvSpPr txBox="1"/>
          <p:nvPr/>
        </p:nvSpPr>
        <p:spPr>
          <a:xfrm>
            <a:off x="2121299" y="2603220"/>
            <a:ext cx="2783217" cy="632481"/>
          </a:xfrm>
          <a:prstGeom prst="rect">
            <a:avLst/>
          </a:prstGeom>
          <a:solidFill>
            <a:schemeClr val="bg1"/>
          </a:solidFill>
        </p:spPr>
        <p:txBody>
          <a:bodyPr wrap="square" rtlCol="0">
            <a:spAutoFit/>
          </a:bodyPr>
          <a:lstStyle/>
          <a:p>
            <a:pPr algn="ctr">
              <a:spcBef>
                <a:spcPts val="0"/>
              </a:spcBef>
            </a:pPr>
            <a:r>
              <a:rPr lang="en-US" sz="1300" i="1" noProof="0" dirty="0">
                <a:solidFill>
                  <a:schemeClr val="accent6">
                    <a:lumMod val="50000"/>
                  </a:schemeClr>
                </a:solidFill>
              </a:rPr>
              <a:t>(</a:t>
            </a:r>
            <a:r>
              <a:rPr lang="en-US" sz="1300" i="1" dirty="0">
                <a:solidFill>
                  <a:schemeClr val="accent6">
                    <a:lumMod val="50000"/>
                  </a:schemeClr>
                </a:solidFill>
              </a:rPr>
              <a:t>9</a:t>
            </a:r>
            <a:r>
              <a:rPr lang="en-US" sz="1300" i="1" noProof="0" dirty="0">
                <a:solidFill>
                  <a:schemeClr val="accent6">
                    <a:lumMod val="50000"/>
                  </a:schemeClr>
                </a:solidFill>
              </a:rPr>
              <a:t>) Fetch unified spire agent svid from spire server (includes workload and host attestation)</a:t>
            </a:r>
          </a:p>
        </p:txBody>
      </p:sp>
      <p:cxnSp>
        <p:nvCxnSpPr>
          <p:cNvPr id="1059" name="Connector: Curved 1058">
            <a:extLst>
              <a:ext uri="{FF2B5EF4-FFF2-40B4-BE49-F238E27FC236}">
                <a16:creationId xmlns:a16="http://schemas.microsoft.com/office/drawing/2014/main" id="{DFB759A7-8325-EFEF-0328-4AD95F302B54}"/>
              </a:ext>
            </a:extLst>
          </p:cNvPr>
          <p:cNvCxnSpPr>
            <a:cxnSpLocks/>
            <a:stCxn id="1052" idx="0"/>
            <a:endCxn id="30" idx="2"/>
          </p:cNvCxnSpPr>
          <p:nvPr/>
        </p:nvCxnSpPr>
        <p:spPr>
          <a:xfrm rot="5400000" flipH="1" flipV="1">
            <a:off x="5947388" y="567138"/>
            <a:ext cx="100988" cy="1411181"/>
          </a:xfrm>
          <a:prstGeom prst="curvedConnector3">
            <a:avLst>
              <a:gd name="adj1" fmla="val 50000"/>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69" name="Connector: Curved 1068">
            <a:extLst>
              <a:ext uri="{FF2B5EF4-FFF2-40B4-BE49-F238E27FC236}">
                <a16:creationId xmlns:a16="http://schemas.microsoft.com/office/drawing/2014/main" id="{5FFCCB57-D581-EC6C-0915-89461AEA87B2}"/>
              </a:ext>
            </a:extLst>
          </p:cNvPr>
          <p:cNvCxnSpPr>
            <a:cxnSpLocks/>
            <a:stCxn id="4" idx="0"/>
            <a:endCxn id="1052" idx="3"/>
          </p:cNvCxnSpPr>
          <p:nvPr/>
        </p:nvCxnSpPr>
        <p:spPr>
          <a:xfrm rot="16200000" flipH="1" flipV="1">
            <a:off x="7293891" y="603571"/>
            <a:ext cx="511475" cy="2072755"/>
          </a:xfrm>
          <a:prstGeom prst="curvedConnector4">
            <a:avLst>
              <a:gd name="adj1" fmla="val -17607"/>
              <a:gd name="adj2" fmla="val 95754"/>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83" name="Connector: Curved 1082">
            <a:extLst>
              <a:ext uri="{FF2B5EF4-FFF2-40B4-BE49-F238E27FC236}">
                <a16:creationId xmlns:a16="http://schemas.microsoft.com/office/drawing/2014/main" id="{A9C42685-23A9-1492-D1C4-A6D1FB73F7F4}"/>
              </a:ext>
            </a:extLst>
          </p:cNvPr>
          <p:cNvCxnSpPr>
            <a:cxnSpLocks/>
            <a:stCxn id="12" idx="0"/>
            <a:endCxn id="1052" idx="3"/>
          </p:cNvCxnSpPr>
          <p:nvPr/>
        </p:nvCxnSpPr>
        <p:spPr>
          <a:xfrm rot="16200000" flipH="1" flipV="1">
            <a:off x="6806554" y="1489356"/>
            <a:ext cx="113028" cy="699634"/>
          </a:xfrm>
          <a:prstGeom prst="curvedConnector4">
            <a:avLst>
              <a:gd name="adj1" fmla="val -202251"/>
              <a:gd name="adj2" fmla="val 90263"/>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60EF4CB-1C75-3928-1240-FB5FBC62BE07}"/>
              </a:ext>
            </a:extLst>
          </p:cNvPr>
          <p:cNvCxnSpPr>
            <a:cxnSpLocks/>
            <a:stCxn id="16" idx="3"/>
            <a:endCxn id="1052" idx="1"/>
          </p:cNvCxnSpPr>
          <p:nvPr/>
        </p:nvCxnSpPr>
        <p:spPr>
          <a:xfrm>
            <a:off x="3751943" y="923462"/>
            <a:ext cx="319390" cy="97222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4" name="ZoneTexte 26">
            <a:extLst>
              <a:ext uri="{FF2B5EF4-FFF2-40B4-BE49-F238E27FC236}">
                <a16:creationId xmlns:a16="http://schemas.microsoft.com/office/drawing/2014/main" id="{9C02DDC0-A0A6-D3E1-C6DD-72B48137CC99}"/>
              </a:ext>
            </a:extLst>
          </p:cNvPr>
          <p:cNvSpPr txBox="1"/>
          <p:nvPr/>
        </p:nvSpPr>
        <p:spPr>
          <a:xfrm>
            <a:off x="682171" y="1497117"/>
            <a:ext cx="3297570" cy="452432"/>
          </a:xfrm>
          <a:prstGeom prst="rect">
            <a:avLst/>
          </a:prstGeom>
          <a:solidFill>
            <a:schemeClr val="bg1"/>
          </a:solidFill>
        </p:spPr>
        <p:txBody>
          <a:bodyPr wrap="square" rtlCol="0">
            <a:spAutoFit/>
          </a:bodyPr>
          <a:lstStyle/>
          <a:p>
            <a:pPr algn="ctr">
              <a:spcBef>
                <a:spcPts val="0"/>
              </a:spcBef>
            </a:pPr>
            <a:r>
              <a:rPr lang="en-US" sz="1300" noProof="0" dirty="0">
                <a:solidFill>
                  <a:schemeClr val="accent6">
                    <a:lumMod val="50000"/>
                  </a:schemeClr>
                </a:solidFill>
              </a:rPr>
              <a:t>(4) Verify TPM attestation from keylime agent (proxied thru spire agent) </a:t>
            </a:r>
          </a:p>
        </p:txBody>
      </p:sp>
      <p:sp>
        <p:nvSpPr>
          <p:cNvPr id="39" name="TextBox 38">
            <a:extLst>
              <a:ext uri="{FF2B5EF4-FFF2-40B4-BE49-F238E27FC236}">
                <a16:creationId xmlns:a16="http://schemas.microsoft.com/office/drawing/2014/main" id="{1CF00C18-B0F2-9296-A054-2D484B8F7BB5}"/>
              </a:ext>
            </a:extLst>
          </p:cNvPr>
          <p:cNvSpPr txBox="1"/>
          <p:nvPr/>
        </p:nvSpPr>
        <p:spPr>
          <a:xfrm>
            <a:off x="5467647" y="3362489"/>
            <a:ext cx="1173479" cy="397032"/>
          </a:xfrm>
          <a:prstGeom prst="rect">
            <a:avLst/>
          </a:prstGeom>
          <a:solidFill>
            <a:schemeClr val="bg1"/>
          </a:solidFill>
        </p:spPr>
        <p:txBody>
          <a:bodyPr wrap="square" rtlCol="0">
            <a:spAutoFit/>
          </a:bodyPr>
          <a:lstStyle/>
          <a:p>
            <a:pPr algn="ctr"/>
            <a:r>
              <a:rPr lang="en-US" sz="1100" b="1" dirty="0">
                <a:solidFill>
                  <a:schemeClr val="accent6"/>
                </a:solidFill>
              </a:rPr>
              <a:t>Spire agent tpm plugin</a:t>
            </a:r>
          </a:p>
        </p:txBody>
      </p:sp>
      <p:sp>
        <p:nvSpPr>
          <p:cNvPr id="40" name="TextBox 39">
            <a:extLst>
              <a:ext uri="{FF2B5EF4-FFF2-40B4-BE49-F238E27FC236}">
                <a16:creationId xmlns:a16="http://schemas.microsoft.com/office/drawing/2014/main" id="{7E8FD27D-BE25-C0AB-822F-D68F01811E46}"/>
              </a:ext>
            </a:extLst>
          </p:cNvPr>
          <p:cNvSpPr txBox="1"/>
          <p:nvPr/>
        </p:nvSpPr>
        <p:spPr>
          <a:xfrm>
            <a:off x="5231849" y="5100960"/>
            <a:ext cx="1409277" cy="397032"/>
          </a:xfrm>
          <a:prstGeom prst="rect">
            <a:avLst/>
          </a:prstGeom>
          <a:solidFill>
            <a:schemeClr val="bg1"/>
          </a:solidFill>
        </p:spPr>
        <p:txBody>
          <a:bodyPr wrap="square" rtlCol="0">
            <a:spAutoFit/>
          </a:bodyPr>
          <a:lstStyle/>
          <a:p>
            <a:pPr algn="ctr"/>
            <a:r>
              <a:rPr lang="en-US" sz="1100" b="1" dirty="0">
                <a:solidFill>
                  <a:schemeClr val="accent6">
                    <a:lumMod val="50000"/>
                  </a:schemeClr>
                </a:solidFill>
              </a:rPr>
              <a:t>Keylime Agent geolocation plugin</a:t>
            </a:r>
          </a:p>
        </p:txBody>
      </p:sp>
      <p:sp>
        <p:nvSpPr>
          <p:cNvPr id="42" name="TextBox 41">
            <a:extLst>
              <a:ext uri="{FF2B5EF4-FFF2-40B4-BE49-F238E27FC236}">
                <a16:creationId xmlns:a16="http://schemas.microsoft.com/office/drawing/2014/main" id="{BBB07AD4-FF91-CA07-7BD5-E19236B80A4D}"/>
              </a:ext>
            </a:extLst>
          </p:cNvPr>
          <p:cNvSpPr txBox="1"/>
          <p:nvPr/>
        </p:nvSpPr>
        <p:spPr>
          <a:xfrm>
            <a:off x="5254756" y="6206229"/>
            <a:ext cx="1386370" cy="397032"/>
          </a:xfrm>
          <a:prstGeom prst="rect">
            <a:avLst/>
          </a:prstGeom>
          <a:solidFill>
            <a:schemeClr val="bg1"/>
          </a:solidFill>
        </p:spPr>
        <p:txBody>
          <a:bodyPr wrap="square" rtlCol="0">
            <a:spAutoFit/>
          </a:bodyPr>
          <a:lstStyle/>
          <a:p>
            <a:pPr algn="ctr"/>
            <a:r>
              <a:rPr lang="en-US" sz="1100" b="1" dirty="0">
                <a:solidFill>
                  <a:schemeClr val="accent6">
                    <a:lumMod val="50000"/>
                  </a:schemeClr>
                </a:solidFill>
              </a:rPr>
              <a:t>Keylime Agent GPU integrity plugin</a:t>
            </a:r>
          </a:p>
        </p:txBody>
      </p:sp>
      <p:cxnSp>
        <p:nvCxnSpPr>
          <p:cNvPr id="58" name="Straight Arrow Connector 57">
            <a:extLst>
              <a:ext uri="{FF2B5EF4-FFF2-40B4-BE49-F238E27FC236}">
                <a16:creationId xmlns:a16="http://schemas.microsoft.com/office/drawing/2014/main" id="{DA09C9D6-AF37-2C5B-AE87-8B58C1EC56A4}"/>
              </a:ext>
            </a:extLst>
          </p:cNvPr>
          <p:cNvCxnSpPr>
            <a:cxnSpLocks/>
            <a:stCxn id="14" idx="3"/>
            <a:endCxn id="39" idx="1"/>
          </p:cNvCxnSpPr>
          <p:nvPr/>
        </p:nvCxnSpPr>
        <p:spPr>
          <a:xfrm>
            <a:off x="2785888" y="3546168"/>
            <a:ext cx="2681759" cy="14837"/>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62" name="Connector: Curved 1061">
            <a:extLst>
              <a:ext uri="{FF2B5EF4-FFF2-40B4-BE49-F238E27FC236}">
                <a16:creationId xmlns:a16="http://schemas.microsoft.com/office/drawing/2014/main" id="{67D44A70-6F98-42B3-9414-1CDCF797D8CC}"/>
              </a:ext>
            </a:extLst>
          </p:cNvPr>
          <p:cNvCxnSpPr>
            <a:cxnSpLocks/>
            <a:stCxn id="1072" idx="0"/>
            <a:endCxn id="40" idx="0"/>
          </p:cNvCxnSpPr>
          <p:nvPr/>
        </p:nvCxnSpPr>
        <p:spPr>
          <a:xfrm rot="5400000" flipH="1" flipV="1">
            <a:off x="4068769" y="4568645"/>
            <a:ext cx="1335403" cy="2400035"/>
          </a:xfrm>
          <a:prstGeom prst="curvedConnector3">
            <a:avLst>
              <a:gd name="adj1" fmla="val 110893"/>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6" name="Connector: Curved 1065">
            <a:extLst>
              <a:ext uri="{FF2B5EF4-FFF2-40B4-BE49-F238E27FC236}">
                <a16:creationId xmlns:a16="http://schemas.microsoft.com/office/drawing/2014/main" id="{0BDBBC64-20C3-CAFD-E7DA-466535449FD2}"/>
              </a:ext>
            </a:extLst>
          </p:cNvPr>
          <p:cNvCxnSpPr>
            <a:cxnSpLocks/>
            <a:stCxn id="1072" idx="0"/>
            <a:endCxn id="42" idx="2"/>
          </p:cNvCxnSpPr>
          <p:nvPr/>
        </p:nvCxnSpPr>
        <p:spPr>
          <a:xfrm rot="16200000" flipH="1">
            <a:off x="4658748" y="5314068"/>
            <a:ext cx="166898" cy="2411488"/>
          </a:xfrm>
          <a:prstGeom prst="curvedConnector5">
            <a:avLst>
              <a:gd name="adj1" fmla="val -136970"/>
              <a:gd name="adj2" fmla="val 49569"/>
              <a:gd name="adj3" fmla="val 137355"/>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50" name="ZoneTexte 26">
            <a:extLst>
              <a:ext uri="{FF2B5EF4-FFF2-40B4-BE49-F238E27FC236}">
                <a16:creationId xmlns:a16="http://schemas.microsoft.com/office/drawing/2014/main" id="{B9D756AE-A53D-A5C7-2C4F-5F168730FADA}"/>
              </a:ext>
            </a:extLst>
          </p:cNvPr>
          <p:cNvSpPr txBox="1"/>
          <p:nvPr/>
        </p:nvSpPr>
        <p:spPr>
          <a:xfrm>
            <a:off x="3935417" y="5017371"/>
            <a:ext cx="1237191" cy="452432"/>
          </a:xfrm>
          <a:prstGeom prst="rect">
            <a:avLst/>
          </a:prstGeom>
          <a:solidFill>
            <a:schemeClr val="bg1"/>
          </a:solidFill>
        </p:spPr>
        <p:txBody>
          <a:bodyPr wrap="square" rtlCol="0">
            <a:spAutoFit/>
          </a:bodyPr>
          <a:lstStyle/>
          <a:p>
            <a:pPr algn="ctr">
              <a:spcBef>
                <a:spcPts val="0"/>
              </a:spcBef>
            </a:pPr>
            <a:r>
              <a:rPr lang="en-US" sz="1300" noProof="0" dirty="0">
                <a:solidFill>
                  <a:schemeClr val="accent6">
                    <a:lumMod val="50000"/>
                  </a:schemeClr>
                </a:solidFill>
              </a:rPr>
              <a:t>(6) Get current geolocation</a:t>
            </a:r>
          </a:p>
        </p:txBody>
      </p:sp>
      <p:sp>
        <p:nvSpPr>
          <p:cNvPr id="1074" name="ZoneTexte 26">
            <a:extLst>
              <a:ext uri="{FF2B5EF4-FFF2-40B4-BE49-F238E27FC236}">
                <a16:creationId xmlns:a16="http://schemas.microsoft.com/office/drawing/2014/main" id="{7950FD57-679C-5C8F-00CC-A5564FA19226}"/>
              </a:ext>
            </a:extLst>
          </p:cNvPr>
          <p:cNvSpPr txBox="1"/>
          <p:nvPr/>
        </p:nvSpPr>
        <p:spPr>
          <a:xfrm>
            <a:off x="4332467" y="5685394"/>
            <a:ext cx="840272" cy="812530"/>
          </a:xfrm>
          <a:prstGeom prst="rect">
            <a:avLst/>
          </a:prstGeom>
          <a:solidFill>
            <a:schemeClr val="bg1"/>
          </a:solidFill>
        </p:spPr>
        <p:txBody>
          <a:bodyPr wrap="square" rtlCol="0">
            <a:spAutoFit/>
          </a:bodyPr>
          <a:lstStyle/>
          <a:p>
            <a:pPr algn="ctr">
              <a:spcBef>
                <a:spcPts val="0"/>
              </a:spcBef>
            </a:pPr>
            <a:r>
              <a:rPr lang="en-US" sz="1300" noProof="0" dirty="0">
                <a:solidFill>
                  <a:schemeClr val="accent6">
                    <a:lumMod val="50000"/>
                  </a:schemeClr>
                </a:solidFill>
              </a:rPr>
              <a:t>(7) Get current gpu status</a:t>
            </a:r>
          </a:p>
        </p:txBody>
      </p:sp>
      <p:sp>
        <p:nvSpPr>
          <p:cNvPr id="2" name="TextBox 1">
            <a:extLst>
              <a:ext uri="{FF2B5EF4-FFF2-40B4-BE49-F238E27FC236}">
                <a16:creationId xmlns:a16="http://schemas.microsoft.com/office/drawing/2014/main" id="{E6ABFD59-DB03-8FA8-A438-FCDAAC6F1B82}"/>
              </a:ext>
            </a:extLst>
          </p:cNvPr>
          <p:cNvSpPr txBox="1"/>
          <p:nvPr/>
        </p:nvSpPr>
        <p:spPr>
          <a:xfrm>
            <a:off x="5253751" y="5652106"/>
            <a:ext cx="1372105" cy="397032"/>
          </a:xfrm>
          <a:prstGeom prst="rect">
            <a:avLst/>
          </a:prstGeom>
          <a:solidFill>
            <a:schemeClr val="bg1"/>
          </a:solidFill>
        </p:spPr>
        <p:txBody>
          <a:bodyPr wrap="square" rtlCol="0">
            <a:spAutoFit/>
          </a:bodyPr>
          <a:lstStyle/>
          <a:p>
            <a:pPr algn="ctr"/>
            <a:r>
              <a:rPr lang="en-US" sz="1100" b="1" dirty="0">
                <a:solidFill>
                  <a:schemeClr val="accent6">
                    <a:lumMod val="50000"/>
                  </a:schemeClr>
                </a:solidFill>
              </a:rPr>
              <a:t>Keylime Agent host proximity plugin</a:t>
            </a:r>
          </a:p>
        </p:txBody>
      </p:sp>
      <p:sp>
        <p:nvSpPr>
          <p:cNvPr id="13" name="ZoneTexte 26">
            <a:extLst>
              <a:ext uri="{FF2B5EF4-FFF2-40B4-BE49-F238E27FC236}">
                <a16:creationId xmlns:a16="http://schemas.microsoft.com/office/drawing/2014/main" id="{91CF9B25-D626-BA0D-7CD8-40C2F4CDD2D5}"/>
              </a:ext>
            </a:extLst>
          </p:cNvPr>
          <p:cNvSpPr txBox="1"/>
          <p:nvPr/>
        </p:nvSpPr>
        <p:spPr>
          <a:xfrm>
            <a:off x="6800307" y="5270656"/>
            <a:ext cx="1348562" cy="1172629"/>
          </a:xfrm>
          <a:prstGeom prst="rect">
            <a:avLst/>
          </a:prstGeom>
          <a:solidFill>
            <a:schemeClr val="bg1"/>
          </a:solidFill>
        </p:spPr>
        <p:txBody>
          <a:bodyPr wrap="square" rtlCol="0">
            <a:spAutoFit/>
          </a:bodyPr>
          <a:lstStyle/>
          <a:p>
            <a:pPr algn="ctr">
              <a:spcBef>
                <a:spcPts val="0"/>
              </a:spcBef>
            </a:pPr>
            <a:r>
              <a:rPr lang="en-US" sz="1300" noProof="0" dirty="0">
                <a:solidFill>
                  <a:schemeClr val="accent6">
                    <a:lumMod val="50000"/>
                  </a:schemeClr>
                </a:solidFill>
              </a:rPr>
              <a:t>Note: Keylime agent host proximity plugin is needed for hosts without location sensor </a:t>
            </a:r>
          </a:p>
        </p:txBody>
      </p:sp>
      <p:sp>
        <p:nvSpPr>
          <p:cNvPr id="20" name="Content Placeholder 1">
            <a:extLst>
              <a:ext uri="{FF2B5EF4-FFF2-40B4-BE49-F238E27FC236}">
                <a16:creationId xmlns:a16="http://schemas.microsoft.com/office/drawing/2014/main" id="{C029D557-6416-BAC5-0033-EFDF911FCDF1}"/>
              </a:ext>
            </a:extLst>
          </p:cNvPr>
          <p:cNvSpPr>
            <a:spLocks noGrp="1"/>
          </p:cNvSpPr>
          <p:nvPr>
            <p:ph idx="1"/>
          </p:nvPr>
        </p:nvSpPr>
        <p:spPr>
          <a:xfrm>
            <a:off x="8148869" y="2590961"/>
            <a:ext cx="4006258" cy="3094432"/>
          </a:xfrm>
        </p:spPr>
        <p:txBody>
          <a:bodyPr>
            <a:normAutofit fontScale="92500" lnSpcReduction="20000"/>
          </a:bodyPr>
          <a:lstStyle/>
          <a:p>
            <a:pPr marL="0" indent="0" algn="ctr">
              <a:spcBef>
                <a:spcPts val="0"/>
              </a:spcBef>
              <a:buNone/>
            </a:pPr>
            <a:r>
              <a:rPr lang="en-US" sz="2000" b="1" dirty="0">
                <a:solidFill>
                  <a:schemeClr val="tx2"/>
                </a:solidFill>
              </a:rPr>
              <a:t>Highlights:</a:t>
            </a:r>
          </a:p>
          <a:p>
            <a:pPr marL="285750" indent="-285750">
              <a:spcBef>
                <a:spcPts val="0"/>
              </a:spcBef>
              <a:buFont typeface="Arial" panose="020B0604020202020204" pitchFamily="34" charset="0"/>
              <a:buChar char="•"/>
            </a:pPr>
            <a:endParaRPr lang="en-US" b="1" dirty="0">
              <a:solidFill>
                <a:schemeClr val="accent6"/>
              </a:solidFill>
            </a:endParaRPr>
          </a:p>
          <a:p>
            <a:pPr marL="285750" indent="-285750">
              <a:spcBef>
                <a:spcPts val="0"/>
              </a:spcBef>
              <a:buFont typeface="Arial" panose="020B0604020202020204" pitchFamily="34" charset="0"/>
              <a:buChar char="•"/>
            </a:pPr>
            <a:r>
              <a:rPr lang="en-US" b="1" dirty="0">
                <a:solidFill>
                  <a:schemeClr val="accent6"/>
                </a:solidFill>
              </a:rPr>
              <a:t>Spire agent unified Spiffe ID (SVID) - workload version, host cpu/gpu integrity, geolocation</a:t>
            </a:r>
          </a:p>
          <a:p>
            <a:pPr marL="742950" lvl="1" indent="-285750">
              <a:spcBef>
                <a:spcPts val="0"/>
              </a:spcBef>
              <a:buFont typeface="Arial" panose="020B0604020202020204" pitchFamily="34" charset="0"/>
              <a:buChar char="•"/>
            </a:pPr>
            <a:endParaRPr lang="en-US" b="1" i="1" dirty="0">
              <a:solidFill>
                <a:schemeClr val="accent6"/>
              </a:solidFill>
            </a:endParaRPr>
          </a:p>
          <a:p>
            <a:pPr marL="742950" lvl="1" indent="-285750">
              <a:spcBef>
                <a:spcPts val="0"/>
              </a:spcBef>
              <a:buFont typeface="Arial" panose="020B0604020202020204" pitchFamily="34" charset="0"/>
              <a:buChar char="•"/>
            </a:pPr>
            <a:r>
              <a:rPr lang="en-US" b="1" i="1" dirty="0">
                <a:solidFill>
                  <a:schemeClr val="accent6"/>
                </a:solidFill>
              </a:rPr>
              <a:t>mTLS private key is in TPM HW root of trust</a:t>
            </a:r>
          </a:p>
          <a:p>
            <a:pPr marL="285750" indent="-285750">
              <a:spcBef>
                <a:spcPts val="0"/>
              </a:spcBef>
              <a:buFont typeface="Arial" panose="020B0604020202020204" pitchFamily="34" charset="0"/>
              <a:buChar char="•"/>
            </a:pPr>
            <a:endParaRPr lang="en-US" b="1" dirty="0">
              <a:solidFill>
                <a:schemeClr val="accent6"/>
              </a:solidFill>
            </a:endParaRPr>
          </a:p>
          <a:p>
            <a:pPr marL="285750" indent="-285750">
              <a:spcBef>
                <a:spcPts val="0"/>
              </a:spcBef>
              <a:buFont typeface="Arial" panose="020B0604020202020204" pitchFamily="34" charset="0"/>
              <a:buChar char="•"/>
            </a:pPr>
            <a:r>
              <a:rPr lang="en-US" b="1" dirty="0">
                <a:solidFill>
                  <a:schemeClr val="accent6"/>
                </a:solidFill>
              </a:rPr>
              <a:t>Address</a:t>
            </a:r>
            <a:r>
              <a:rPr lang="en-US" b="1" dirty="0">
                <a:solidFill>
                  <a:srgbClr val="FF0000"/>
                </a:solidFill>
              </a:rPr>
              <a:t> </a:t>
            </a:r>
            <a:r>
              <a:rPr lang="en-US" b="1" dirty="0">
                <a:solidFill>
                  <a:srgbClr val="C00000"/>
                </a:solidFill>
              </a:rPr>
              <a:t>Bearer/Proof of possession token issue </a:t>
            </a:r>
            <a:r>
              <a:rPr lang="en-US" b="1" dirty="0">
                <a:solidFill>
                  <a:schemeClr val="accent6"/>
                </a:solidFill>
                <a:ea typeface="Aptos" panose="020B0004020202020204" pitchFamily="34" charset="0"/>
                <a:cs typeface="Arial" panose="020B0604020202020204" pitchFamily="34" charset="0"/>
              </a:rPr>
              <a:t>by Proof of Residency (PoR) </a:t>
            </a:r>
          </a:p>
          <a:p>
            <a:pPr marL="285750" indent="-285750">
              <a:spcBef>
                <a:spcPts val="0"/>
              </a:spcBef>
              <a:buFont typeface="Arial" panose="020B0604020202020204" pitchFamily="34" charset="0"/>
              <a:buChar char="•"/>
            </a:pPr>
            <a:endParaRPr lang="en-US" b="1" dirty="0">
              <a:solidFill>
                <a:schemeClr val="accent6"/>
              </a:solidFill>
            </a:endParaRPr>
          </a:p>
          <a:p>
            <a:pPr marL="285750" indent="-285750">
              <a:spcBef>
                <a:spcPts val="0"/>
              </a:spcBef>
              <a:buFont typeface="Arial" panose="020B0604020202020204" pitchFamily="34" charset="0"/>
              <a:buChar char="•"/>
            </a:pPr>
            <a:r>
              <a:rPr lang="en-US" b="1" dirty="0">
                <a:solidFill>
                  <a:schemeClr val="accent6"/>
                </a:solidFill>
              </a:rPr>
              <a:t>Address</a:t>
            </a:r>
            <a:r>
              <a:rPr lang="en-US" b="1" dirty="0">
                <a:solidFill>
                  <a:srgbClr val="FF0000"/>
                </a:solidFill>
              </a:rPr>
              <a:t> </a:t>
            </a:r>
            <a:r>
              <a:rPr lang="en-US" b="1" dirty="0">
                <a:solidFill>
                  <a:srgbClr val="C00000"/>
                </a:solidFill>
              </a:rPr>
              <a:t>Bearer/Proof of possession token and Source IP issue </a:t>
            </a:r>
            <a:r>
              <a:rPr lang="en-US" b="1" dirty="0">
                <a:solidFill>
                  <a:schemeClr val="accent6"/>
                </a:solidFill>
                <a:ea typeface="Aptos" panose="020B0004020202020204" pitchFamily="34" charset="0"/>
                <a:cs typeface="Arial" panose="020B0604020202020204" pitchFamily="34" charset="0"/>
              </a:rPr>
              <a:t>by Proof of Geofencing (PoG)</a:t>
            </a:r>
            <a:endParaRPr lang="en-US" dirty="0">
              <a:solidFill>
                <a:schemeClr val="tx2"/>
              </a:solidFill>
            </a:endParaRPr>
          </a:p>
          <a:p>
            <a:pPr marL="0" indent="0">
              <a:buNone/>
            </a:pPr>
            <a:endParaRPr lang="en-US" b="1" dirty="0"/>
          </a:p>
          <a:p>
            <a:endParaRPr lang="en-US" dirty="0"/>
          </a:p>
        </p:txBody>
      </p:sp>
      <p:sp>
        <p:nvSpPr>
          <p:cNvPr id="1054" name="ZoneTexte 26">
            <a:extLst>
              <a:ext uri="{FF2B5EF4-FFF2-40B4-BE49-F238E27FC236}">
                <a16:creationId xmlns:a16="http://schemas.microsoft.com/office/drawing/2014/main" id="{BCAD0C02-7450-9668-E58D-E22F8A030E44}"/>
              </a:ext>
            </a:extLst>
          </p:cNvPr>
          <p:cNvSpPr txBox="1"/>
          <p:nvPr/>
        </p:nvSpPr>
        <p:spPr>
          <a:xfrm>
            <a:off x="25227" y="2610518"/>
            <a:ext cx="1137782" cy="992579"/>
          </a:xfrm>
          <a:prstGeom prst="rect">
            <a:avLst/>
          </a:prstGeom>
          <a:solidFill>
            <a:srgbClr val="FFFFFF"/>
          </a:solidFill>
        </p:spPr>
        <p:txBody>
          <a:bodyPr wrap="square" rtlCol="0">
            <a:spAutoFit/>
          </a:bodyPr>
          <a:lstStyle/>
          <a:p>
            <a:pPr algn="ctr">
              <a:spcBef>
                <a:spcPts val="0"/>
              </a:spcBef>
            </a:pPr>
            <a:r>
              <a:rPr lang="en-US" sz="1300" noProof="0" dirty="0">
                <a:solidFill>
                  <a:schemeClr val="accent6">
                    <a:lumMod val="50000"/>
                  </a:schemeClr>
                </a:solidFill>
              </a:rPr>
              <a:t>(3) Share TPM attestation w/ nonce from keylime agent</a:t>
            </a:r>
          </a:p>
        </p:txBody>
      </p:sp>
      <p:cxnSp>
        <p:nvCxnSpPr>
          <p:cNvPr id="9" name="Connector: Curved 8">
            <a:extLst>
              <a:ext uri="{FF2B5EF4-FFF2-40B4-BE49-F238E27FC236}">
                <a16:creationId xmlns:a16="http://schemas.microsoft.com/office/drawing/2014/main" id="{92A638C7-8C29-8B65-04BE-222777961480}"/>
              </a:ext>
            </a:extLst>
          </p:cNvPr>
          <p:cNvCxnSpPr>
            <a:cxnSpLocks/>
            <a:stCxn id="1052" idx="2"/>
            <a:endCxn id="1072" idx="0"/>
          </p:cNvCxnSpPr>
          <p:nvPr/>
        </p:nvCxnSpPr>
        <p:spPr>
          <a:xfrm rot="5400000">
            <a:off x="2430267" y="3574338"/>
            <a:ext cx="3968212" cy="1755839"/>
          </a:xfrm>
          <a:prstGeom prst="curvedConnector3">
            <a:avLst>
              <a:gd name="adj1" fmla="val 54552"/>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48" name="ZoneTexte 26">
            <a:extLst>
              <a:ext uri="{FF2B5EF4-FFF2-40B4-BE49-F238E27FC236}">
                <a16:creationId xmlns:a16="http://schemas.microsoft.com/office/drawing/2014/main" id="{67BC4655-AEE1-1E74-9CEF-86E98D3EC970}"/>
              </a:ext>
            </a:extLst>
          </p:cNvPr>
          <p:cNvSpPr txBox="1"/>
          <p:nvPr/>
        </p:nvSpPr>
        <p:spPr>
          <a:xfrm>
            <a:off x="4787874" y="2607798"/>
            <a:ext cx="2555331" cy="632481"/>
          </a:xfrm>
          <a:prstGeom prst="rect">
            <a:avLst/>
          </a:prstGeom>
          <a:solidFill>
            <a:schemeClr val="bg1"/>
          </a:solidFill>
        </p:spPr>
        <p:txBody>
          <a:bodyPr wrap="square" rtlCol="0">
            <a:spAutoFit/>
          </a:bodyPr>
          <a:lstStyle/>
          <a:p>
            <a:pPr algn="ctr">
              <a:spcBef>
                <a:spcPts val="0"/>
              </a:spcBef>
            </a:pPr>
            <a:r>
              <a:rPr lang="en-US" sz="1300" noProof="0" dirty="0">
                <a:solidFill>
                  <a:schemeClr val="accent6">
                    <a:lumMod val="50000"/>
                  </a:schemeClr>
                </a:solidFill>
              </a:rPr>
              <a:t>(5) Get host attestation w/ nonce from keylime agent (includes GPU status, geolocation)</a:t>
            </a:r>
          </a:p>
        </p:txBody>
      </p:sp>
      <p:sp>
        <p:nvSpPr>
          <p:cNvPr id="1049" name="ZoneTexte 26">
            <a:extLst>
              <a:ext uri="{FF2B5EF4-FFF2-40B4-BE49-F238E27FC236}">
                <a16:creationId xmlns:a16="http://schemas.microsoft.com/office/drawing/2014/main" id="{0D0A3732-6CF7-4D1C-F244-728468173574}"/>
              </a:ext>
            </a:extLst>
          </p:cNvPr>
          <p:cNvSpPr txBox="1"/>
          <p:nvPr/>
        </p:nvSpPr>
        <p:spPr>
          <a:xfrm>
            <a:off x="2867634" y="3355867"/>
            <a:ext cx="1963782" cy="812530"/>
          </a:xfrm>
          <a:prstGeom prst="rect">
            <a:avLst/>
          </a:prstGeom>
          <a:solidFill>
            <a:schemeClr val="bg1"/>
          </a:solidFill>
        </p:spPr>
        <p:txBody>
          <a:bodyPr wrap="square" rtlCol="0">
            <a:spAutoFit/>
          </a:bodyPr>
          <a:lstStyle/>
          <a:p>
            <a:pPr algn="ctr">
              <a:spcBef>
                <a:spcPts val="0"/>
              </a:spcBef>
            </a:pPr>
            <a:r>
              <a:rPr lang="en-US" sz="1300" noProof="0" dirty="0">
                <a:solidFill>
                  <a:schemeClr val="accent6">
                    <a:lumMod val="50000"/>
                  </a:schemeClr>
                </a:solidFill>
              </a:rPr>
              <a:t>(</a:t>
            </a:r>
            <a:r>
              <a:rPr lang="en-US" sz="1300" dirty="0">
                <a:solidFill>
                  <a:schemeClr val="accent6">
                    <a:lumMod val="50000"/>
                  </a:schemeClr>
                </a:solidFill>
              </a:rPr>
              <a:t>2</a:t>
            </a:r>
            <a:r>
              <a:rPr lang="en-US" sz="1300" noProof="0" dirty="0">
                <a:solidFill>
                  <a:schemeClr val="accent6">
                    <a:lumMod val="50000"/>
                  </a:schemeClr>
                </a:solidFill>
              </a:rPr>
              <a:t>) Certify Spire TPM App key w/ nonce by </a:t>
            </a:r>
            <a:r>
              <a:rPr lang="en-US" sz="1300" dirty="0">
                <a:solidFill>
                  <a:schemeClr val="accent6">
                    <a:lumMod val="50000"/>
                  </a:schemeClr>
                </a:solidFill>
              </a:rPr>
              <a:t>TPM AK (allocate key during agent start)</a:t>
            </a:r>
            <a:endParaRPr lang="en-US" sz="1300" noProof="0" dirty="0">
              <a:solidFill>
                <a:schemeClr val="accent6">
                  <a:lumMod val="50000"/>
                </a:schemeClr>
              </a:solidFill>
            </a:endParaRPr>
          </a:p>
        </p:txBody>
      </p:sp>
      <p:sp>
        <p:nvSpPr>
          <p:cNvPr id="11" name="Content Placeholder 1">
            <a:extLst>
              <a:ext uri="{FF2B5EF4-FFF2-40B4-BE49-F238E27FC236}">
                <a16:creationId xmlns:a16="http://schemas.microsoft.com/office/drawing/2014/main" id="{AB5B6340-BBCE-1BC3-CA83-3672E3BC9D90}"/>
              </a:ext>
            </a:extLst>
          </p:cNvPr>
          <p:cNvSpPr txBox="1">
            <a:spLocks/>
          </p:cNvSpPr>
          <p:nvPr/>
        </p:nvSpPr>
        <p:spPr>
          <a:xfrm>
            <a:off x="10724275" y="6497924"/>
            <a:ext cx="1466081" cy="330698"/>
          </a:xfrm>
          <a:prstGeom prst="rect">
            <a:avLst/>
          </a:prstGeom>
          <a:solidFill>
            <a:schemeClr val="bg1"/>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noProof="0" dirty="0">
                <a:solidFill>
                  <a:schemeClr val="tx1">
                    <a:lumMod val="50000"/>
                  </a:schemeClr>
                </a:solidFill>
                <a:latin typeface="+mn-lt"/>
              </a:rPr>
              <a:t>Data Plane</a:t>
            </a:r>
            <a:endParaRPr lang="en-US" sz="1800" noProof="0" dirty="0">
              <a:solidFill>
                <a:schemeClr val="tx1">
                  <a:lumMod val="50000"/>
                </a:schemeClr>
              </a:solidFill>
              <a:latin typeface="+mn-lt"/>
            </a:endParaRPr>
          </a:p>
          <a:p>
            <a:pPr marL="0" indent="0">
              <a:buNone/>
            </a:pPr>
            <a:endParaRPr lang="en-US" sz="2200" u="sng" noProof="0" dirty="0">
              <a:solidFill>
                <a:schemeClr val="tx1"/>
              </a:solidFill>
              <a:latin typeface="+mn-lt"/>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p:txBody>
      </p:sp>
      <p:sp>
        <p:nvSpPr>
          <p:cNvPr id="32" name="ZoneTexte 26">
            <a:extLst>
              <a:ext uri="{FF2B5EF4-FFF2-40B4-BE49-F238E27FC236}">
                <a16:creationId xmlns:a16="http://schemas.microsoft.com/office/drawing/2014/main" id="{B2A2366C-FC12-E674-A51C-67DA8B4B9FA5}"/>
              </a:ext>
            </a:extLst>
          </p:cNvPr>
          <p:cNvSpPr txBox="1"/>
          <p:nvPr/>
        </p:nvSpPr>
        <p:spPr>
          <a:xfrm>
            <a:off x="677255" y="1897170"/>
            <a:ext cx="3297570" cy="272382"/>
          </a:xfrm>
          <a:prstGeom prst="rect">
            <a:avLst/>
          </a:prstGeom>
          <a:solidFill>
            <a:schemeClr val="bg1"/>
          </a:solidFill>
        </p:spPr>
        <p:txBody>
          <a:bodyPr wrap="square" rtlCol="0">
            <a:spAutoFit/>
          </a:bodyPr>
          <a:lstStyle/>
          <a:p>
            <a:pPr algn="ctr">
              <a:spcBef>
                <a:spcPts val="0"/>
              </a:spcBef>
            </a:pPr>
            <a:r>
              <a:rPr lang="en-US" sz="1300" noProof="0" dirty="0">
                <a:solidFill>
                  <a:schemeClr val="accent6">
                    <a:lumMod val="50000"/>
                  </a:schemeClr>
                </a:solidFill>
              </a:rPr>
              <a:t>(8) </a:t>
            </a:r>
            <a:r>
              <a:rPr lang="en-US" sz="1300" dirty="0">
                <a:solidFill>
                  <a:schemeClr val="accent6">
                    <a:lumMod val="50000"/>
                  </a:schemeClr>
                </a:solidFill>
              </a:rPr>
              <a:t>G</a:t>
            </a:r>
            <a:r>
              <a:rPr lang="en-US" sz="1300" noProof="0" dirty="0">
                <a:solidFill>
                  <a:schemeClr val="accent6">
                    <a:lumMod val="50000"/>
                  </a:schemeClr>
                </a:solidFill>
              </a:rPr>
              <a:t>et back host attestation and allocate svid</a:t>
            </a:r>
          </a:p>
        </p:txBody>
      </p:sp>
      <p:sp>
        <p:nvSpPr>
          <p:cNvPr id="44" name="TextBox 43">
            <a:extLst>
              <a:ext uri="{FF2B5EF4-FFF2-40B4-BE49-F238E27FC236}">
                <a16:creationId xmlns:a16="http://schemas.microsoft.com/office/drawing/2014/main" id="{F5771B76-09EB-6CA8-D47F-27E5FD0C146C}"/>
              </a:ext>
            </a:extLst>
          </p:cNvPr>
          <p:cNvSpPr txBox="1"/>
          <p:nvPr/>
        </p:nvSpPr>
        <p:spPr>
          <a:xfrm>
            <a:off x="8434687" y="5390097"/>
            <a:ext cx="3730515" cy="757130"/>
          </a:xfrm>
          <a:prstGeom prst="rect">
            <a:avLst/>
          </a:prstGeom>
          <a:noFill/>
        </p:spPr>
        <p:txBody>
          <a:bodyPr wrap="square">
            <a:spAutoFit/>
          </a:bodyPr>
          <a:lstStyle/>
          <a:p>
            <a:r>
              <a:rPr lang="en-US" sz="1200" dirty="0"/>
              <a:t>Reference: https://github.com/lfedgeai/AegisEdgeAI/blob/main/hybrid-cloud-poc/README-arch-sovereign-unified-identity.md</a:t>
            </a:r>
          </a:p>
        </p:txBody>
      </p:sp>
    </p:spTree>
    <p:extLst>
      <p:ext uri="{BB962C8B-B14F-4D97-AF65-F5344CB8AC3E}">
        <p14:creationId xmlns:p14="http://schemas.microsoft.com/office/powerpoint/2010/main" val="284348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7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55" grpId="0" animBg="1"/>
      <p:bldP spid="34" grpId="0" animBg="1"/>
      <p:bldP spid="1050" grpId="0" animBg="1"/>
      <p:bldP spid="1074" grpId="0" animBg="1"/>
      <p:bldP spid="1054" grpId="0" animBg="1"/>
      <p:bldP spid="1048" grpId="0" animBg="1"/>
      <p:bldP spid="1049" grpId="0" animBg="1"/>
      <p:bldP spid="3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ED5A2-C417-EC5D-5CE9-3D29A986EA81}"/>
            </a:ext>
          </a:extLst>
        </p:cNvPr>
        <p:cNvGrpSpPr/>
        <p:nvPr/>
      </p:nvGrpSpPr>
      <p:grpSpPr>
        <a:xfrm>
          <a:off x="0" y="0"/>
          <a:ext cx="0" cy="0"/>
          <a:chOff x="0" y="0"/>
          <a:chExt cx="0" cy="0"/>
        </a:xfrm>
      </p:grpSpPr>
      <p:sp>
        <p:nvSpPr>
          <p:cNvPr id="43" name="Google Shape;301;p13">
            <a:extLst>
              <a:ext uri="{FF2B5EF4-FFF2-40B4-BE49-F238E27FC236}">
                <a16:creationId xmlns:a16="http://schemas.microsoft.com/office/drawing/2014/main" id="{BA74A55F-3E6C-C03F-2939-467E1806FE83}"/>
              </a:ext>
            </a:extLst>
          </p:cNvPr>
          <p:cNvSpPr/>
          <p:nvPr/>
        </p:nvSpPr>
        <p:spPr>
          <a:xfrm>
            <a:off x="840036" y="1363360"/>
            <a:ext cx="4884106" cy="1020030"/>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sp>
        <p:nvSpPr>
          <p:cNvPr id="3" name="Title 2">
            <a:extLst>
              <a:ext uri="{FF2B5EF4-FFF2-40B4-BE49-F238E27FC236}">
                <a16:creationId xmlns:a16="http://schemas.microsoft.com/office/drawing/2014/main" id="{D2E7A863-A104-AA91-29B8-A390D437D713}"/>
              </a:ext>
            </a:extLst>
          </p:cNvPr>
          <p:cNvSpPr>
            <a:spLocks noGrp="1"/>
          </p:cNvSpPr>
          <p:nvPr>
            <p:ph type="title"/>
          </p:nvPr>
        </p:nvSpPr>
        <p:spPr>
          <a:xfrm>
            <a:off x="23944" y="69294"/>
            <a:ext cx="11832413" cy="459342"/>
          </a:xfrm>
        </p:spPr>
        <p:txBody>
          <a:bodyPr>
            <a:noAutofit/>
          </a:bodyPr>
          <a:lstStyle/>
          <a:p>
            <a:r>
              <a:rPr lang="en-US" dirty="0">
                <a:solidFill>
                  <a:schemeClr val="accent6"/>
                </a:solidFill>
              </a:rPr>
              <a:t>Unified Identity: End-to-end Architectural flow</a:t>
            </a:r>
          </a:p>
        </p:txBody>
      </p:sp>
      <p:sp>
        <p:nvSpPr>
          <p:cNvPr id="34" name="Google Shape;301;p13">
            <a:extLst>
              <a:ext uri="{FF2B5EF4-FFF2-40B4-BE49-F238E27FC236}">
                <a16:creationId xmlns:a16="http://schemas.microsoft.com/office/drawing/2014/main" id="{0522A61E-229B-DE67-C2DD-1410288D51C0}"/>
              </a:ext>
            </a:extLst>
          </p:cNvPr>
          <p:cNvSpPr/>
          <p:nvPr/>
        </p:nvSpPr>
        <p:spPr>
          <a:xfrm>
            <a:off x="850588" y="2864056"/>
            <a:ext cx="4884106" cy="2245619"/>
          </a:xfrm>
          <a:prstGeom prst="rect">
            <a:avLst/>
          </a:prstGeom>
          <a:solidFill>
            <a:schemeClr val="accent4">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pic>
        <p:nvPicPr>
          <p:cNvPr id="37" name="Graphic 36" descr="Server with solid fill">
            <a:extLst>
              <a:ext uri="{FF2B5EF4-FFF2-40B4-BE49-F238E27FC236}">
                <a16:creationId xmlns:a16="http://schemas.microsoft.com/office/drawing/2014/main" id="{23468F67-2798-962D-31AD-6A19928994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569" y="2721929"/>
            <a:ext cx="265472" cy="325991"/>
          </a:xfrm>
          <a:prstGeom prst="rect">
            <a:avLst/>
          </a:prstGeom>
        </p:spPr>
      </p:pic>
      <p:sp>
        <p:nvSpPr>
          <p:cNvPr id="45" name="TextBox 44">
            <a:extLst>
              <a:ext uri="{FF2B5EF4-FFF2-40B4-BE49-F238E27FC236}">
                <a16:creationId xmlns:a16="http://schemas.microsoft.com/office/drawing/2014/main" id="{5E789698-34EC-C107-3669-CC9D4B73ECC0}"/>
              </a:ext>
            </a:extLst>
          </p:cNvPr>
          <p:cNvSpPr txBox="1"/>
          <p:nvPr/>
        </p:nvSpPr>
        <p:spPr>
          <a:xfrm>
            <a:off x="4108121" y="2939796"/>
            <a:ext cx="1602978" cy="840230"/>
          </a:xfrm>
          <a:prstGeom prst="rect">
            <a:avLst/>
          </a:prstGeom>
          <a:solidFill>
            <a:schemeClr val="bg1"/>
          </a:solidFill>
          <a:ln w="19050">
            <a:solidFill>
              <a:schemeClr val="accent1"/>
            </a:solidFill>
          </a:ln>
        </p:spPr>
        <p:txBody>
          <a:bodyPr wrap="square" rtlCol="0">
            <a:spAutoFit/>
          </a:bodyPr>
          <a:lstStyle/>
          <a:p>
            <a:pPr algn="ctr">
              <a:spcBef>
                <a:spcPts val="0"/>
              </a:spcBef>
            </a:pPr>
            <a:endParaRPr lang="en-US" sz="1800" dirty="0">
              <a:solidFill>
                <a:schemeClr val="accent6">
                  <a:lumMod val="50000"/>
                </a:schemeClr>
              </a:solidFill>
            </a:endParaRPr>
          </a:p>
          <a:p>
            <a:pPr algn="ctr">
              <a:spcBef>
                <a:spcPts val="0"/>
              </a:spcBef>
            </a:pPr>
            <a:r>
              <a:rPr lang="en-US" sz="1800" dirty="0">
                <a:solidFill>
                  <a:schemeClr val="accent6">
                    <a:lumMod val="50000"/>
                  </a:schemeClr>
                </a:solidFill>
              </a:rPr>
              <a:t>Inference App (</a:t>
            </a:r>
            <a:r>
              <a:rPr lang="en-US" sz="1400" dirty="0">
                <a:solidFill>
                  <a:schemeClr val="accent6">
                    <a:lumMod val="50000"/>
                  </a:schemeClr>
                </a:solidFill>
              </a:rPr>
              <a:t>Client App)</a:t>
            </a:r>
          </a:p>
        </p:txBody>
      </p:sp>
      <p:sp>
        <p:nvSpPr>
          <p:cNvPr id="46" name="Content Placeholder 1">
            <a:extLst>
              <a:ext uri="{FF2B5EF4-FFF2-40B4-BE49-F238E27FC236}">
                <a16:creationId xmlns:a16="http://schemas.microsoft.com/office/drawing/2014/main" id="{BCCA5BEC-A1DF-4AE2-4270-E3102D1A2C26}"/>
              </a:ext>
            </a:extLst>
          </p:cNvPr>
          <p:cNvSpPr txBox="1">
            <a:spLocks/>
          </p:cNvSpPr>
          <p:nvPr/>
        </p:nvSpPr>
        <p:spPr>
          <a:xfrm>
            <a:off x="895994" y="2610801"/>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Location Anchor &amp; Client Application BM host</a:t>
            </a:r>
          </a:p>
        </p:txBody>
      </p:sp>
      <p:cxnSp>
        <p:nvCxnSpPr>
          <p:cNvPr id="50" name="Straight Connector 49">
            <a:extLst>
              <a:ext uri="{FF2B5EF4-FFF2-40B4-BE49-F238E27FC236}">
                <a16:creationId xmlns:a16="http://schemas.microsoft.com/office/drawing/2014/main" id="{38FF17A5-0653-6D86-8EF7-A657D20706C3}"/>
              </a:ext>
            </a:extLst>
          </p:cNvPr>
          <p:cNvCxnSpPr>
            <a:cxnSpLocks/>
          </p:cNvCxnSpPr>
          <p:nvPr/>
        </p:nvCxnSpPr>
        <p:spPr>
          <a:xfrm>
            <a:off x="6403403" y="1348233"/>
            <a:ext cx="0" cy="5194552"/>
          </a:xfrm>
          <a:prstGeom prst="line">
            <a:avLst/>
          </a:prstGeom>
          <a:ln>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5" name="Google Shape;301;p13">
            <a:extLst>
              <a:ext uri="{FF2B5EF4-FFF2-40B4-BE49-F238E27FC236}">
                <a16:creationId xmlns:a16="http://schemas.microsoft.com/office/drawing/2014/main" id="{3B3585F0-F623-0C55-55F2-831525C53C77}"/>
              </a:ext>
            </a:extLst>
          </p:cNvPr>
          <p:cNvSpPr/>
          <p:nvPr/>
        </p:nvSpPr>
        <p:spPr>
          <a:xfrm>
            <a:off x="7113731" y="2500620"/>
            <a:ext cx="4525500" cy="2599923"/>
          </a:xfrm>
          <a:prstGeom prst="rect">
            <a:avLst/>
          </a:prstGeom>
          <a:solidFill>
            <a:schemeClr val="accent2">
              <a:lumMod val="20000"/>
              <a:lumOff val="80000"/>
            </a:schemeClr>
          </a:solidFill>
          <a:ln w="12700" cap="flat" cmpd="sng">
            <a:solidFill>
              <a:schemeClr val="tx1">
                <a:lumMod val="50000"/>
              </a:schemeClr>
            </a:solidFill>
            <a:prstDash val="solid"/>
            <a:miter lim="800000"/>
            <a:headEnd type="none" w="sm" len="sm"/>
            <a:tailEnd type="none" w="sm" len="sm"/>
          </a:ln>
        </p:spPr>
        <p:txBody>
          <a:bodyPr spcFirstLastPara="1" wrap="square" lIns="91425" tIns="45700" rIns="91425" bIns="45700" anchor="b" anchorCtr="0">
            <a:noAutofit/>
          </a:bodyPr>
          <a:lstStyle/>
          <a:p>
            <a:pPr algn="ctr">
              <a:buClr>
                <a:schemeClr val="lt1"/>
              </a:buClr>
              <a:buSzPts val="1800"/>
            </a:pPr>
            <a:endParaRPr lang="en-US" sz="1400" b="1" noProof="0" dirty="0">
              <a:latin typeface="Play"/>
              <a:ea typeface="Play"/>
              <a:cs typeface="Play"/>
              <a:sym typeface="Play"/>
            </a:endParaRPr>
          </a:p>
        </p:txBody>
      </p:sp>
      <p:pic>
        <p:nvPicPr>
          <p:cNvPr id="56" name="Graphic 55" descr="Server with solid fill">
            <a:extLst>
              <a:ext uri="{FF2B5EF4-FFF2-40B4-BE49-F238E27FC236}">
                <a16:creationId xmlns:a16="http://schemas.microsoft.com/office/drawing/2014/main" id="{A68D21D4-F8F7-AABC-28CA-D8DC4C80B5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93968" y="2395172"/>
            <a:ext cx="265472" cy="325991"/>
          </a:xfrm>
          <a:prstGeom prst="rect">
            <a:avLst/>
          </a:prstGeom>
        </p:spPr>
      </p:pic>
      <p:sp>
        <p:nvSpPr>
          <p:cNvPr id="59" name="TextBox 58">
            <a:extLst>
              <a:ext uri="{FF2B5EF4-FFF2-40B4-BE49-F238E27FC236}">
                <a16:creationId xmlns:a16="http://schemas.microsoft.com/office/drawing/2014/main" id="{AAC30F6B-09E3-2509-B975-C0A1F903F11C}"/>
              </a:ext>
            </a:extLst>
          </p:cNvPr>
          <p:cNvSpPr txBox="1"/>
          <p:nvPr/>
        </p:nvSpPr>
        <p:spPr>
          <a:xfrm>
            <a:off x="7209111" y="2785982"/>
            <a:ext cx="2015964" cy="9233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2000" b="1" dirty="0">
                <a:solidFill>
                  <a:schemeClr val="accent6"/>
                </a:solidFill>
              </a:rPr>
              <a:t>ZTNA in API Gateway (Envoy)</a:t>
            </a:r>
          </a:p>
          <a:p>
            <a:pPr algn="ctr">
              <a:spcBef>
                <a:spcPts val="0"/>
              </a:spcBef>
            </a:pPr>
            <a:endParaRPr lang="en-US" sz="2000" b="1" dirty="0">
              <a:solidFill>
                <a:schemeClr val="accent6"/>
              </a:solidFill>
            </a:endParaRPr>
          </a:p>
        </p:txBody>
      </p:sp>
      <p:sp>
        <p:nvSpPr>
          <p:cNvPr id="60" name="Content Placeholder 1">
            <a:extLst>
              <a:ext uri="{FF2B5EF4-FFF2-40B4-BE49-F238E27FC236}">
                <a16:creationId xmlns:a16="http://schemas.microsoft.com/office/drawing/2014/main" id="{B7EF605D-B3D0-1AD7-2D1B-5F8CF0F9FC47}"/>
              </a:ext>
            </a:extLst>
          </p:cNvPr>
          <p:cNvSpPr txBox="1">
            <a:spLocks/>
          </p:cNvSpPr>
          <p:nvPr/>
        </p:nvSpPr>
        <p:spPr>
          <a:xfrm>
            <a:off x="7162724" y="2245298"/>
            <a:ext cx="4450740"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API Gateway and Server Application host</a:t>
            </a:r>
            <a:endParaRPr lang="en-US" sz="1600" noProof="0" dirty="0">
              <a:solidFill>
                <a:schemeClr val="tx1"/>
              </a:solidFill>
              <a:latin typeface="+mn-lt"/>
            </a:endParaRPr>
          </a:p>
        </p:txBody>
      </p:sp>
      <p:cxnSp>
        <p:nvCxnSpPr>
          <p:cNvPr id="69" name="Straight Arrow Connector 68">
            <a:extLst>
              <a:ext uri="{FF2B5EF4-FFF2-40B4-BE49-F238E27FC236}">
                <a16:creationId xmlns:a16="http://schemas.microsoft.com/office/drawing/2014/main" id="{DE64094D-A652-F046-F84D-09E0F7142101}"/>
              </a:ext>
            </a:extLst>
          </p:cNvPr>
          <p:cNvCxnSpPr>
            <a:cxnSpLocks/>
          </p:cNvCxnSpPr>
          <p:nvPr/>
        </p:nvCxnSpPr>
        <p:spPr>
          <a:xfrm flipV="1">
            <a:off x="5706123" y="3240881"/>
            <a:ext cx="1485690" cy="1103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9AC5B8E-7292-4D71-4A00-18E0BDE7C7D3}"/>
              </a:ext>
            </a:extLst>
          </p:cNvPr>
          <p:cNvCxnSpPr>
            <a:cxnSpLocks/>
          </p:cNvCxnSpPr>
          <p:nvPr/>
        </p:nvCxnSpPr>
        <p:spPr>
          <a:xfrm>
            <a:off x="9222271" y="3233132"/>
            <a:ext cx="1187774" cy="790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5" name="Content Placeholder 1">
            <a:extLst>
              <a:ext uri="{FF2B5EF4-FFF2-40B4-BE49-F238E27FC236}">
                <a16:creationId xmlns:a16="http://schemas.microsoft.com/office/drawing/2014/main" id="{5C3E6D2B-A995-2F45-E134-B826BD9CB7D5}"/>
              </a:ext>
            </a:extLst>
          </p:cNvPr>
          <p:cNvSpPr txBox="1">
            <a:spLocks/>
          </p:cNvSpPr>
          <p:nvPr/>
        </p:nvSpPr>
        <p:spPr>
          <a:xfrm>
            <a:off x="6063288" y="2829976"/>
            <a:ext cx="689500" cy="4176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HTTPS/mTLS</a:t>
            </a:r>
            <a:endParaRPr lang="en-US" sz="1400" noProof="0" dirty="0">
              <a:solidFill>
                <a:schemeClr val="accent1"/>
              </a:solidFill>
              <a:latin typeface="+mn-lt"/>
            </a:endParaRPr>
          </a:p>
        </p:txBody>
      </p:sp>
      <p:sp>
        <p:nvSpPr>
          <p:cNvPr id="76" name="Content Placeholder 1">
            <a:extLst>
              <a:ext uri="{FF2B5EF4-FFF2-40B4-BE49-F238E27FC236}">
                <a16:creationId xmlns:a16="http://schemas.microsoft.com/office/drawing/2014/main" id="{98031EBF-F5AB-E94C-4C07-0DCC89721093}"/>
              </a:ext>
            </a:extLst>
          </p:cNvPr>
          <p:cNvSpPr txBox="1">
            <a:spLocks/>
          </p:cNvSpPr>
          <p:nvPr/>
        </p:nvSpPr>
        <p:spPr>
          <a:xfrm>
            <a:off x="9266764" y="2933705"/>
            <a:ext cx="1117196" cy="2995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HTTPS/mTLS</a:t>
            </a:r>
            <a:endParaRPr lang="en-US" sz="1400" noProof="0" dirty="0">
              <a:solidFill>
                <a:schemeClr val="accent1"/>
              </a:solidFill>
              <a:latin typeface="+mn-lt"/>
            </a:endParaRPr>
          </a:p>
        </p:txBody>
      </p:sp>
      <p:sp>
        <p:nvSpPr>
          <p:cNvPr id="2" name="TextBox 1">
            <a:extLst>
              <a:ext uri="{FF2B5EF4-FFF2-40B4-BE49-F238E27FC236}">
                <a16:creationId xmlns:a16="http://schemas.microsoft.com/office/drawing/2014/main" id="{D55F6479-D75A-8849-354E-3AB34DBC9623}"/>
              </a:ext>
            </a:extLst>
          </p:cNvPr>
          <p:cNvSpPr txBox="1"/>
          <p:nvPr/>
        </p:nvSpPr>
        <p:spPr>
          <a:xfrm>
            <a:off x="7221245" y="4175006"/>
            <a:ext cx="2015964" cy="71558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500" b="1" dirty="0">
                <a:solidFill>
                  <a:schemeClr val="accent6"/>
                </a:solidFill>
              </a:rPr>
              <a:t>Mobile Geolocation Service (CAMARA API)</a:t>
            </a:r>
          </a:p>
          <a:p>
            <a:pPr algn="ctr">
              <a:spcBef>
                <a:spcPts val="0"/>
              </a:spcBef>
            </a:pPr>
            <a:r>
              <a:rPr lang="en-US" sz="1500" b="1" dirty="0">
                <a:solidFill>
                  <a:schemeClr val="accent6"/>
                </a:solidFill>
              </a:rPr>
              <a:t>Sidecar</a:t>
            </a:r>
          </a:p>
        </p:txBody>
      </p:sp>
      <p:cxnSp>
        <p:nvCxnSpPr>
          <p:cNvPr id="4" name="Straight Arrow Connector 3">
            <a:extLst>
              <a:ext uri="{FF2B5EF4-FFF2-40B4-BE49-F238E27FC236}">
                <a16:creationId xmlns:a16="http://schemas.microsoft.com/office/drawing/2014/main" id="{B575F198-02F2-25E0-0BE4-52EC495E4ECB}"/>
              </a:ext>
            </a:extLst>
          </p:cNvPr>
          <p:cNvCxnSpPr>
            <a:cxnSpLocks/>
          </p:cNvCxnSpPr>
          <p:nvPr/>
        </p:nvCxnSpPr>
        <p:spPr>
          <a:xfrm>
            <a:off x="8229227" y="3719000"/>
            <a:ext cx="0" cy="44791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 name="Content Placeholder 1">
            <a:extLst>
              <a:ext uri="{FF2B5EF4-FFF2-40B4-BE49-F238E27FC236}">
                <a16:creationId xmlns:a16="http://schemas.microsoft.com/office/drawing/2014/main" id="{D02A69C8-6C26-72B2-7F00-CAB76834B316}"/>
              </a:ext>
            </a:extLst>
          </p:cNvPr>
          <p:cNvSpPr txBox="1">
            <a:spLocks/>
          </p:cNvSpPr>
          <p:nvPr/>
        </p:nvSpPr>
        <p:spPr>
          <a:xfrm>
            <a:off x="7944567" y="3811217"/>
            <a:ext cx="1015633" cy="2995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dirty="0">
                <a:solidFill>
                  <a:schemeClr val="accent1"/>
                </a:solidFill>
                <a:latin typeface="+mn-lt"/>
              </a:rPr>
              <a:t>HTTP</a:t>
            </a:r>
            <a:endParaRPr lang="en-US" sz="1400" noProof="0" dirty="0">
              <a:solidFill>
                <a:schemeClr val="accent1"/>
              </a:solidFill>
              <a:latin typeface="+mn-lt"/>
            </a:endParaRPr>
          </a:p>
        </p:txBody>
      </p:sp>
      <p:grpSp>
        <p:nvGrpSpPr>
          <p:cNvPr id="8" name="Group 7">
            <a:extLst>
              <a:ext uri="{FF2B5EF4-FFF2-40B4-BE49-F238E27FC236}">
                <a16:creationId xmlns:a16="http://schemas.microsoft.com/office/drawing/2014/main" id="{BB133AD8-C6D6-511D-34BD-2D2A24F5D911}"/>
              </a:ext>
            </a:extLst>
          </p:cNvPr>
          <p:cNvGrpSpPr/>
          <p:nvPr/>
        </p:nvGrpSpPr>
        <p:grpSpPr>
          <a:xfrm>
            <a:off x="4295768" y="4620313"/>
            <a:ext cx="1007465" cy="426498"/>
            <a:chOff x="5703725" y="3536385"/>
            <a:chExt cx="2113527" cy="1145316"/>
          </a:xfrm>
        </p:grpSpPr>
        <p:sp>
          <p:nvSpPr>
            <p:cNvPr id="9" name="Rounded Rectangle 38">
              <a:extLst>
                <a:ext uri="{FF2B5EF4-FFF2-40B4-BE49-F238E27FC236}">
                  <a16:creationId xmlns:a16="http://schemas.microsoft.com/office/drawing/2014/main" id="{204CD9E4-075E-3462-3D06-8D29C4A9EA53}"/>
                </a:ext>
              </a:extLst>
            </p:cNvPr>
            <p:cNvSpPr/>
            <p:nvPr/>
          </p:nvSpPr>
          <p:spPr>
            <a:xfrm>
              <a:off x="5760688" y="3536385"/>
              <a:ext cx="2056564" cy="114057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10" name="TextBox 9">
              <a:extLst>
                <a:ext uri="{FF2B5EF4-FFF2-40B4-BE49-F238E27FC236}">
                  <a16:creationId xmlns:a16="http://schemas.microsoft.com/office/drawing/2014/main" id="{F6B216D2-7B40-DE1F-EB68-6E0F1BAE2A1E}"/>
                </a:ext>
              </a:extLst>
            </p:cNvPr>
            <p:cNvSpPr txBox="1"/>
            <p:nvPr/>
          </p:nvSpPr>
          <p:spPr>
            <a:xfrm>
              <a:off x="6170429" y="3898932"/>
              <a:ext cx="1290240" cy="524952"/>
            </a:xfrm>
            <a:prstGeom prst="rect">
              <a:avLst/>
            </a:prstGeom>
            <a:noFill/>
          </p:spPr>
          <p:txBody>
            <a:bodyPr wrap="square" rtlCol="0">
              <a:spAutoFit/>
            </a:bodyPr>
            <a:lstStyle/>
            <a:p>
              <a:pPr algn="ctr"/>
              <a:r>
                <a:rPr lang="en-US" sz="1600" b="1" noProof="0" dirty="0"/>
                <a:t>TPM</a:t>
              </a:r>
              <a:endParaRPr lang="en-US" sz="1600" i="1" noProof="0" dirty="0"/>
            </a:p>
          </p:txBody>
        </p:sp>
        <p:pic>
          <p:nvPicPr>
            <p:cNvPr id="11" name="Picture 4" descr="Private key - Free security icons">
              <a:extLst>
                <a:ext uri="{FF2B5EF4-FFF2-40B4-BE49-F238E27FC236}">
                  <a16:creationId xmlns:a16="http://schemas.microsoft.com/office/drawing/2014/main" id="{9DAD873B-9085-944C-232E-CF69A037B34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03725" y="4034287"/>
              <a:ext cx="634384" cy="647414"/>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TextBox 11">
            <a:extLst>
              <a:ext uri="{FF2B5EF4-FFF2-40B4-BE49-F238E27FC236}">
                <a16:creationId xmlns:a16="http://schemas.microsoft.com/office/drawing/2014/main" id="{9C6C99FD-A3D7-11B5-CA05-D0AD33EBAE30}"/>
              </a:ext>
            </a:extLst>
          </p:cNvPr>
          <p:cNvSpPr txBox="1"/>
          <p:nvPr/>
        </p:nvSpPr>
        <p:spPr>
          <a:xfrm>
            <a:off x="903579" y="4625940"/>
            <a:ext cx="2616502" cy="4247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Mobile location sensor                               (e.g., USB tethered smartphone)</a:t>
            </a:r>
          </a:p>
        </p:txBody>
      </p:sp>
      <p:sp>
        <p:nvSpPr>
          <p:cNvPr id="5" name="TextBox 4">
            <a:extLst>
              <a:ext uri="{FF2B5EF4-FFF2-40B4-BE49-F238E27FC236}">
                <a16:creationId xmlns:a16="http://schemas.microsoft.com/office/drawing/2014/main" id="{F47DA5D1-9DCF-D482-9ACA-53541A68AF31}"/>
              </a:ext>
            </a:extLst>
          </p:cNvPr>
          <p:cNvSpPr txBox="1"/>
          <p:nvPr/>
        </p:nvSpPr>
        <p:spPr>
          <a:xfrm>
            <a:off x="10391361" y="2823300"/>
            <a:ext cx="1069578" cy="729430"/>
          </a:xfrm>
          <a:prstGeom prst="rect">
            <a:avLst/>
          </a:prstGeom>
          <a:solidFill>
            <a:schemeClr val="bg1"/>
          </a:solidFill>
          <a:ln w="19050">
            <a:solidFill>
              <a:schemeClr val="accent1"/>
            </a:solidFill>
          </a:ln>
        </p:spPr>
        <p:txBody>
          <a:bodyPr wrap="square" rtlCol="0">
            <a:spAutoFit/>
          </a:bodyPr>
          <a:lstStyle/>
          <a:p>
            <a:pPr algn="ctr">
              <a:spcBef>
                <a:spcPts val="0"/>
              </a:spcBef>
            </a:pPr>
            <a:r>
              <a:rPr lang="en-US" sz="1800" b="1" dirty="0">
                <a:solidFill>
                  <a:schemeClr val="accent1"/>
                </a:solidFill>
              </a:rPr>
              <a:t>Key vault</a:t>
            </a:r>
          </a:p>
          <a:p>
            <a:pPr algn="ctr">
              <a:spcBef>
                <a:spcPts val="0"/>
              </a:spcBef>
            </a:pPr>
            <a:r>
              <a:rPr lang="en-US" sz="1400" dirty="0">
                <a:solidFill>
                  <a:schemeClr val="accent6">
                    <a:lumMod val="50000"/>
                  </a:schemeClr>
                </a:solidFill>
              </a:rPr>
              <a:t>(Server App)</a:t>
            </a:r>
          </a:p>
        </p:txBody>
      </p:sp>
      <p:sp>
        <p:nvSpPr>
          <p:cNvPr id="13" name="TextBox 12">
            <a:extLst>
              <a:ext uri="{FF2B5EF4-FFF2-40B4-BE49-F238E27FC236}">
                <a16:creationId xmlns:a16="http://schemas.microsoft.com/office/drawing/2014/main" id="{272F6DFF-36CB-7D2C-916B-F4BAA3C7F8E3}"/>
              </a:ext>
            </a:extLst>
          </p:cNvPr>
          <p:cNvSpPr txBox="1"/>
          <p:nvPr/>
        </p:nvSpPr>
        <p:spPr>
          <a:xfrm>
            <a:off x="7540762" y="3372963"/>
            <a:ext cx="1376931" cy="313932"/>
          </a:xfrm>
          <a:prstGeom prst="rect">
            <a:avLst/>
          </a:prstGeom>
          <a:solidFill>
            <a:schemeClr val="bg1"/>
          </a:solidFill>
          <a:ln w="12700">
            <a:solidFill>
              <a:schemeClr val="accent1"/>
            </a:solidFill>
          </a:ln>
        </p:spPr>
        <p:txBody>
          <a:bodyPr wrap="square" rtlCol="0">
            <a:spAutoFit/>
          </a:bodyPr>
          <a:lstStyle/>
          <a:p>
            <a:pPr algn="ctr">
              <a:spcBef>
                <a:spcPts val="0"/>
              </a:spcBef>
            </a:pPr>
            <a:r>
              <a:rPr lang="en-US" sz="1600" dirty="0">
                <a:solidFill>
                  <a:schemeClr val="accent6">
                    <a:lumMod val="50000"/>
                  </a:schemeClr>
                </a:solidFill>
              </a:rPr>
              <a:t>WASM plugin</a:t>
            </a:r>
          </a:p>
        </p:txBody>
      </p:sp>
      <p:sp>
        <p:nvSpPr>
          <p:cNvPr id="16" name="TextBox 15">
            <a:extLst>
              <a:ext uri="{FF2B5EF4-FFF2-40B4-BE49-F238E27FC236}">
                <a16:creationId xmlns:a16="http://schemas.microsoft.com/office/drawing/2014/main" id="{CB7A953F-220A-F184-6EB1-C45E867C9066}"/>
              </a:ext>
            </a:extLst>
          </p:cNvPr>
          <p:cNvSpPr txBox="1"/>
          <p:nvPr/>
        </p:nvSpPr>
        <p:spPr>
          <a:xfrm>
            <a:off x="946438" y="1456326"/>
            <a:ext cx="1783037"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Host Identity (Keylime Verifier &amp; Registrar)</a:t>
            </a:r>
            <a:endParaRPr lang="en-US" sz="1800" dirty="0">
              <a:solidFill>
                <a:schemeClr val="accent6"/>
              </a:solidFill>
            </a:endParaRPr>
          </a:p>
        </p:txBody>
      </p:sp>
      <p:sp>
        <p:nvSpPr>
          <p:cNvPr id="17" name="TextBox 16">
            <a:extLst>
              <a:ext uri="{FF2B5EF4-FFF2-40B4-BE49-F238E27FC236}">
                <a16:creationId xmlns:a16="http://schemas.microsoft.com/office/drawing/2014/main" id="{F8415AC7-BB53-16E6-5D65-67303CE166D2}"/>
              </a:ext>
            </a:extLst>
          </p:cNvPr>
          <p:cNvSpPr txBox="1"/>
          <p:nvPr/>
        </p:nvSpPr>
        <p:spPr>
          <a:xfrm>
            <a:off x="2959214" y="1456212"/>
            <a:ext cx="1517123" cy="840230"/>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Workload Identity (Spire Server)</a:t>
            </a:r>
            <a:endParaRPr lang="en-US" sz="1800" dirty="0">
              <a:solidFill>
                <a:schemeClr val="accent6"/>
              </a:solidFill>
            </a:endParaRPr>
          </a:p>
        </p:txBody>
      </p:sp>
      <p:sp>
        <p:nvSpPr>
          <p:cNvPr id="18" name="TextBox 17">
            <a:extLst>
              <a:ext uri="{FF2B5EF4-FFF2-40B4-BE49-F238E27FC236}">
                <a16:creationId xmlns:a16="http://schemas.microsoft.com/office/drawing/2014/main" id="{1C8DB977-039F-5BF8-6B93-FCB1C318A159}"/>
              </a:ext>
            </a:extLst>
          </p:cNvPr>
          <p:cNvSpPr txBox="1"/>
          <p:nvPr/>
        </p:nvSpPr>
        <p:spPr>
          <a:xfrm>
            <a:off x="946438" y="3919834"/>
            <a:ext cx="976743"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Keylime Agent</a:t>
            </a:r>
            <a:endParaRPr lang="en-US" sz="1800" dirty="0">
              <a:solidFill>
                <a:schemeClr val="accent6"/>
              </a:solidFill>
            </a:endParaRPr>
          </a:p>
        </p:txBody>
      </p:sp>
      <p:sp>
        <p:nvSpPr>
          <p:cNvPr id="19" name="TextBox 18">
            <a:extLst>
              <a:ext uri="{FF2B5EF4-FFF2-40B4-BE49-F238E27FC236}">
                <a16:creationId xmlns:a16="http://schemas.microsoft.com/office/drawing/2014/main" id="{BCCA9107-B2B2-0CD1-4547-72F1309D7E0F}"/>
              </a:ext>
            </a:extLst>
          </p:cNvPr>
          <p:cNvSpPr txBox="1"/>
          <p:nvPr/>
        </p:nvSpPr>
        <p:spPr>
          <a:xfrm>
            <a:off x="2207312" y="3919833"/>
            <a:ext cx="101081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Agent</a:t>
            </a:r>
            <a:endParaRPr lang="en-US" sz="1800" dirty="0">
              <a:solidFill>
                <a:schemeClr val="accent6"/>
              </a:solidFill>
            </a:endParaRPr>
          </a:p>
        </p:txBody>
      </p:sp>
      <p:sp>
        <p:nvSpPr>
          <p:cNvPr id="20" name="TextBox 19">
            <a:extLst>
              <a:ext uri="{FF2B5EF4-FFF2-40B4-BE49-F238E27FC236}">
                <a16:creationId xmlns:a16="http://schemas.microsoft.com/office/drawing/2014/main" id="{38725BAA-A290-9BCC-EF0C-DB7B0C745451}"/>
              </a:ext>
            </a:extLst>
          </p:cNvPr>
          <p:cNvSpPr txBox="1"/>
          <p:nvPr/>
        </p:nvSpPr>
        <p:spPr>
          <a:xfrm>
            <a:off x="3501498" y="3915835"/>
            <a:ext cx="1173670" cy="590931"/>
          </a:xfrm>
          <a:prstGeom prst="rect">
            <a:avLst/>
          </a:prstGeom>
          <a:solidFill>
            <a:schemeClr val="bg1"/>
          </a:solidFill>
          <a:ln w="38100">
            <a:solidFill>
              <a:schemeClr val="accent1"/>
            </a:solidFill>
          </a:ln>
        </p:spPr>
        <p:txBody>
          <a:bodyPr wrap="square" rtlCol="0">
            <a:spAutoFit/>
          </a:bodyPr>
          <a:lstStyle/>
          <a:p>
            <a:pPr algn="ctr">
              <a:spcBef>
                <a:spcPts val="0"/>
              </a:spcBef>
            </a:pPr>
            <a:r>
              <a:rPr lang="en-US" sz="1800" b="1" dirty="0">
                <a:solidFill>
                  <a:schemeClr val="accent6"/>
                </a:solidFill>
              </a:rPr>
              <a:t>Spire TPM Plugin</a:t>
            </a:r>
            <a:endParaRPr lang="en-US" sz="1800" dirty="0">
              <a:solidFill>
                <a:schemeClr val="accent6"/>
              </a:solidFill>
            </a:endParaRPr>
          </a:p>
        </p:txBody>
      </p:sp>
      <p:cxnSp>
        <p:nvCxnSpPr>
          <p:cNvPr id="21" name="Straight Arrow Connector 20">
            <a:extLst>
              <a:ext uri="{FF2B5EF4-FFF2-40B4-BE49-F238E27FC236}">
                <a16:creationId xmlns:a16="http://schemas.microsoft.com/office/drawing/2014/main" id="{245220B2-0311-57F6-72A7-574CE09681F8}"/>
              </a:ext>
            </a:extLst>
          </p:cNvPr>
          <p:cNvCxnSpPr>
            <a:cxnSpLocks/>
            <a:stCxn id="45" idx="2"/>
          </p:cNvCxnSpPr>
          <p:nvPr/>
        </p:nvCxnSpPr>
        <p:spPr>
          <a:xfrm flipH="1">
            <a:off x="2668793" y="3780026"/>
            <a:ext cx="2240817" cy="11354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7E3F2AA-8B68-6AB7-3EB9-3246828792EF}"/>
              </a:ext>
            </a:extLst>
          </p:cNvPr>
          <p:cNvCxnSpPr>
            <a:cxnSpLocks/>
            <a:stCxn id="19" idx="0"/>
            <a:endCxn id="17" idx="2"/>
          </p:cNvCxnSpPr>
          <p:nvPr/>
        </p:nvCxnSpPr>
        <p:spPr>
          <a:xfrm flipV="1">
            <a:off x="2712717" y="2296442"/>
            <a:ext cx="1005059" cy="162339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385F46A-4EB8-CFBC-08D6-BB4E84C2B231}"/>
              </a:ext>
            </a:extLst>
          </p:cNvPr>
          <p:cNvCxnSpPr>
            <a:cxnSpLocks/>
            <a:stCxn id="16" idx="3"/>
            <a:endCxn id="17" idx="1"/>
          </p:cNvCxnSpPr>
          <p:nvPr/>
        </p:nvCxnSpPr>
        <p:spPr>
          <a:xfrm flipV="1">
            <a:off x="2729475" y="1876327"/>
            <a:ext cx="229739" cy="11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E8B98D3-6B7A-66C2-2D44-DD269555CBB1}"/>
              </a:ext>
            </a:extLst>
          </p:cNvPr>
          <p:cNvCxnSpPr>
            <a:cxnSpLocks/>
            <a:stCxn id="18" idx="0"/>
            <a:endCxn id="16" idx="2"/>
          </p:cNvCxnSpPr>
          <p:nvPr/>
        </p:nvCxnSpPr>
        <p:spPr>
          <a:xfrm flipV="1">
            <a:off x="1434810" y="2296556"/>
            <a:ext cx="403147" cy="162327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CC6341E-9810-6C1D-9590-CFDF0800DD0A}"/>
              </a:ext>
            </a:extLst>
          </p:cNvPr>
          <p:cNvCxnSpPr>
            <a:cxnSpLocks/>
          </p:cNvCxnSpPr>
          <p:nvPr/>
        </p:nvCxnSpPr>
        <p:spPr>
          <a:xfrm flipH="1">
            <a:off x="1916268" y="4211301"/>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AA7A5C9-2BDD-6C19-E7AB-10BA40840331}"/>
              </a:ext>
            </a:extLst>
          </p:cNvPr>
          <p:cNvCxnSpPr>
            <a:cxnSpLocks/>
            <a:stCxn id="19" idx="3"/>
            <a:endCxn id="20" idx="1"/>
          </p:cNvCxnSpPr>
          <p:nvPr/>
        </p:nvCxnSpPr>
        <p:spPr>
          <a:xfrm flipV="1">
            <a:off x="3218122" y="4211301"/>
            <a:ext cx="283376" cy="399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9C81080-8BBE-95CD-E791-E00E286023A2}"/>
              </a:ext>
            </a:extLst>
          </p:cNvPr>
          <p:cNvSpPr txBox="1"/>
          <p:nvPr/>
        </p:nvSpPr>
        <p:spPr>
          <a:xfrm>
            <a:off x="6403403" y="5140470"/>
            <a:ext cx="5788596" cy="1643527"/>
          </a:xfrm>
          <a:prstGeom prst="rect">
            <a:avLst/>
          </a:prstGeom>
          <a:noFill/>
        </p:spPr>
        <p:txBody>
          <a:bodyPr wrap="square">
            <a:spAutoFit/>
          </a:bodyPr>
          <a:lstStyle/>
          <a:p>
            <a:pPr algn="l">
              <a:spcBef>
                <a:spcPts val="0"/>
              </a:spcBef>
              <a:buNone/>
            </a:pPr>
            <a:r>
              <a:rPr lang="en-US" sz="1600" b="1" i="0" dirty="0">
                <a:solidFill>
                  <a:srgbClr val="1F2328"/>
                </a:solidFill>
                <a:effectLst/>
                <a:latin typeface="-apple-system"/>
              </a:rPr>
              <a:t>System flow - Envoy</a:t>
            </a:r>
          </a:p>
          <a:p>
            <a:pPr marL="285750" indent="-285750" algn="l">
              <a:spcBef>
                <a:spcPts val="0"/>
              </a:spcBef>
              <a:buFont typeface="Arial" panose="020B0604020202020204" pitchFamily="34" charset="0"/>
              <a:buChar char="•"/>
            </a:pPr>
            <a:r>
              <a:rPr lang="en-US" sz="1600" b="1" dirty="0">
                <a:solidFill>
                  <a:srgbClr val="1F2328"/>
                </a:solidFill>
                <a:latin typeface="-apple-system"/>
              </a:rPr>
              <a:t>Authentication</a:t>
            </a:r>
            <a:r>
              <a:rPr lang="en-US" sz="1600" dirty="0">
                <a:solidFill>
                  <a:srgbClr val="1F2328"/>
                </a:solidFill>
                <a:latin typeface="-apple-system"/>
              </a:rPr>
              <a:t>: Verifies unified identity signature in mTLS cert. </a:t>
            </a:r>
            <a:r>
              <a:rPr lang="en-US" sz="1600" b="1" dirty="0">
                <a:solidFill>
                  <a:srgbClr val="1F2328"/>
                </a:solidFill>
                <a:latin typeface="-apple-system"/>
              </a:rPr>
              <a:t>Authorization</a:t>
            </a:r>
            <a:r>
              <a:rPr lang="en-US" sz="1600" dirty="0">
                <a:solidFill>
                  <a:srgbClr val="1F2328"/>
                </a:solidFill>
                <a:latin typeface="-apple-system"/>
              </a:rPr>
              <a:t>: Verifies unified identity location sensor </a:t>
            </a:r>
            <a:r>
              <a:rPr lang="en-US" sz="1600" b="1" dirty="0">
                <a:solidFill>
                  <a:srgbClr val="1F2328"/>
                </a:solidFill>
                <a:latin typeface="-apple-system"/>
              </a:rPr>
              <a:t>*workload geolocation policy*</a:t>
            </a:r>
            <a:r>
              <a:rPr lang="en-US" sz="1600" dirty="0">
                <a:solidFill>
                  <a:srgbClr val="1F2328"/>
                </a:solidFill>
                <a:latin typeface="-apple-system"/>
              </a:rPr>
              <a:t> using Mobile Geolocation Service per API call.</a:t>
            </a:r>
          </a:p>
          <a:p>
            <a:pPr algn="l">
              <a:spcBef>
                <a:spcPts val="0"/>
              </a:spcBef>
            </a:pPr>
            <a:r>
              <a:rPr lang="en-US" sz="1600" b="1" dirty="0">
                <a:solidFill>
                  <a:srgbClr val="1F2328"/>
                </a:solidFill>
                <a:latin typeface="-apple-system"/>
              </a:rPr>
              <a:t>Server App flow</a:t>
            </a:r>
          </a:p>
          <a:p>
            <a:pPr marL="285750" indent="-285750" algn="l">
              <a:spcBef>
                <a:spcPts val="0"/>
              </a:spcBef>
              <a:buFont typeface="Arial" panose="020B0604020202020204" pitchFamily="34" charset="0"/>
              <a:buChar char="•"/>
            </a:pPr>
            <a:r>
              <a:rPr lang="en-US" sz="1600" dirty="0">
                <a:solidFill>
                  <a:srgbClr val="1F2328"/>
                </a:solidFill>
                <a:latin typeface="-apple-system"/>
              </a:rPr>
              <a:t>Envoy communicates to Server App using standard mTLS.</a:t>
            </a:r>
          </a:p>
        </p:txBody>
      </p:sp>
      <p:grpSp>
        <p:nvGrpSpPr>
          <p:cNvPr id="14" name="Group 13">
            <a:extLst>
              <a:ext uri="{FF2B5EF4-FFF2-40B4-BE49-F238E27FC236}">
                <a16:creationId xmlns:a16="http://schemas.microsoft.com/office/drawing/2014/main" id="{08637AE5-76B9-FB90-C07D-13824369A4FA}"/>
              </a:ext>
            </a:extLst>
          </p:cNvPr>
          <p:cNvGrpSpPr/>
          <p:nvPr/>
        </p:nvGrpSpPr>
        <p:grpSpPr>
          <a:xfrm>
            <a:off x="10153547" y="3731463"/>
            <a:ext cx="1414448" cy="660156"/>
            <a:chOff x="5703725" y="4021545"/>
            <a:chExt cx="2113527" cy="660156"/>
          </a:xfrm>
        </p:grpSpPr>
        <p:sp>
          <p:nvSpPr>
            <p:cNvPr id="22" name="Rounded Rectangle 38">
              <a:extLst>
                <a:ext uri="{FF2B5EF4-FFF2-40B4-BE49-F238E27FC236}">
                  <a16:creationId xmlns:a16="http://schemas.microsoft.com/office/drawing/2014/main" id="{44F4C498-527F-D7E7-D710-892F0F0D9B3B}"/>
                </a:ext>
              </a:extLst>
            </p:cNvPr>
            <p:cNvSpPr/>
            <p:nvPr/>
          </p:nvSpPr>
          <p:spPr>
            <a:xfrm>
              <a:off x="5760688" y="4021545"/>
              <a:ext cx="2056564" cy="655411"/>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noProof="0" dirty="0"/>
            </a:p>
            <a:p>
              <a:endParaRPr lang="en-US" sz="1600" noProof="0" dirty="0"/>
            </a:p>
          </p:txBody>
        </p:sp>
        <p:sp>
          <p:nvSpPr>
            <p:cNvPr id="23" name="TextBox 22">
              <a:extLst>
                <a:ext uri="{FF2B5EF4-FFF2-40B4-BE49-F238E27FC236}">
                  <a16:creationId xmlns:a16="http://schemas.microsoft.com/office/drawing/2014/main" id="{EA839417-CD3B-DC45-2B38-AF6CF10C0D69}"/>
                </a:ext>
              </a:extLst>
            </p:cNvPr>
            <p:cNvSpPr txBox="1"/>
            <p:nvPr/>
          </p:nvSpPr>
          <p:spPr>
            <a:xfrm>
              <a:off x="6348054" y="4065408"/>
              <a:ext cx="1290242" cy="342658"/>
            </a:xfrm>
            <a:prstGeom prst="rect">
              <a:avLst/>
            </a:prstGeom>
            <a:noFill/>
          </p:spPr>
          <p:txBody>
            <a:bodyPr wrap="square" rtlCol="0">
              <a:spAutoFit/>
            </a:bodyPr>
            <a:lstStyle/>
            <a:p>
              <a:pPr algn="ctr"/>
              <a:r>
                <a:rPr lang="en-US" sz="1800" b="1" noProof="0" dirty="0"/>
                <a:t>HSM</a:t>
              </a:r>
              <a:endParaRPr lang="en-US" sz="1200" i="1" noProof="0" dirty="0"/>
            </a:p>
          </p:txBody>
        </p:sp>
        <p:pic>
          <p:nvPicPr>
            <p:cNvPr id="25" name="Picture 4" descr="Private key - Free security icons">
              <a:extLst>
                <a:ext uri="{FF2B5EF4-FFF2-40B4-BE49-F238E27FC236}">
                  <a16:creationId xmlns:a16="http://schemas.microsoft.com/office/drawing/2014/main" id="{6A283CDF-9FEC-D6C6-25AC-A29D582544D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03725" y="4034287"/>
              <a:ext cx="834232" cy="647414"/>
            </a:xfrm>
            <a:prstGeom prst="rect">
              <a:avLst/>
            </a:prstGeom>
            <a:noFill/>
            <a:extLst>
              <a:ext uri="{909E8E84-426E-40DD-AFC4-6F175D3DCCD1}">
                <a14:hiddenFill xmlns:a14="http://schemas.microsoft.com/office/drawing/2010/main">
                  <a:solidFill>
                    <a:srgbClr val="FFFFFF"/>
                  </a:solidFill>
                </a14:hiddenFill>
              </a:ext>
            </a:extLst>
          </p:spPr>
        </p:pic>
      </p:grpSp>
      <p:pic>
        <p:nvPicPr>
          <p:cNvPr id="28" name="Picture 2" descr="Free vector robotic artificial intelligence technology smart lerning from bigdata">
            <a:extLst>
              <a:ext uri="{FF2B5EF4-FFF2-40B4-BE49-F238E27FC236}">
                <a16:creationId xmlns:a16="http://schemas.microsoft.com/office/drawing/2014/main" id="{05F27C78-0C29-BF1C-7711-F18FF6E7533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75168" y="2948136"/>
            <a:ext cx="417982" cy="333852"/>
          </a:xfrm>
          <a:prstGeom prst="rect">
            <a:avLst/>
          </a:prstGeom>
          <a:noFill/>
          <a:extLst>
            <a:ext uri="{909E8E84-426E-40DD-AFC4-6F175D3DCCD1}">
              <a14:hiddenFill xmlns:a14="http://schemas.microsoft.com/office/drawing/2010/main">
                <a:solidFill>
                  <a:srgbClr val="FFFFFF"/>
                </a:solidFill>
              </a14:hiddenFill>
            </a:ext>
          </a:extLst>
        </p:spPr>
      </p:pic>
      <p:sp>
        <p:nvSpPr>
          <p:cNvPr id="64" name="Content Placeholder 1">
            <a:extLst>
              <a:ext uri="{FF2B5EF4-FFF2-40B4-BE49-F238E27FC236}">
                <a16:creationId xmlns:a16="http://schemas.microsoft.com/office/drawing/2014/main" id="{072C1CBF-B437-BA6B-ACEF-EE55C030DF87}"/>
              </a:ext>
            </a:extLst>
          </p:cNvPr>
          <p:cNvSpPr txBox="1">
            <a:spLocks/>
          </p:cNvSpPr>
          <p:nvPr/>
        </p:nvSpPr>
        <p:spPr>
          <a:xfrm>
            <a:off x="889636" y="1120204"/>
            <a:ext cx="4581242" cy="2475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b="0" i="0" kern="1200">
                <a:solidFill>
                  <a:srgbClr val="0070C0"/>
                </a:solidFill>
                <a:latin typeface="IntelOne Text Light" panose="020B0403020203020204" pitchFamily="34" charset="77"/>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b="0" i="0" kern="1200">
                <a:solidFill>
                  <a:srgbClr val="0070C0"/>
                </a:solidFill>
                <a:latin typeface="IntelOne Text Light" panose="020B0403020203020204" pitchFamily="34" charset="77"/>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b="0" i="0" kern="1200">
                <a:solidFill>
                  <a:srgbClr val="0070C0"/>
                </a:solidFill>
                <a:latin typeface="IntelOne Text Light" panose="020B0403020203020204" pitchFamily="34" charset="77"/>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b="0" i="0" kern="1200">
                <a:solidFill>
                  <a:srgbClr val="0070C0"/>
                </a:solidFill>
                <a:latin typeface="IntelOne Text Light" panose="020B0403020203020204" pitchFamily="34" charset="77"/>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b="0" i="0" kern="1200">
                <a:solidFill>
                  <a:srgbClr val="0070C0"/>
                </a:solidFill>
                <a:latin typeface="IntelOne Text Light" panose="020B0403020203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chemeClr val="tx1"/>
                </a:solidFill>
                <a:latin typeface="+mn-lt"/>
              </a:rPr>
              <a:t>Control Plane host</a:t>
            </a:r>
          </a:p>
        </p:txBody>
      </p:sp>
      <p:pic>
        <p:nvPicPr>
          <p:cNvPr id="65" name="Graphic 64" descr="Server with solid fill">
            <a:extLst>
              <a:ext uri="{FF2B5EF4-FFF2-40B4-BE49-F238E27FC236}">
                <a16:creationId xmlns:a16="http://schemas.microsoft.com/office/drawing/2014/main" id="{76D09880-DB7F-988E-296A-C3BD7BB792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48" y="1154019"/>
            <a:ext cx="265472" cy="325991"/>
          </a:xfrm>
          <a:prstGeom prst="rect">
            <a:avLst/>
          </a:prstGeom>
        </p:spPr>
      </p:pic>
      <p:pic>
        <p:nvPicPr>
          <p:cNvPr id="32" name="Graphic 31" descr="Server with solid fill">
            <a:extLst>
              <a:ext uri="{FF2B5EF4-FFF2-40B4-BE49-F238E27FC236}">
                <a16:creationId xmlns:a16="http://schemas.microsoft.com/office/drawing/2014/main" id="{43B4B9A3-AFB3-F4E3-53A2-D0404E5A6B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48" y="1154019"/>
            <a:ext cx="265472" cy="325991"/>
          </a:xfrm>
          <a:prstGeom prst="rect">
            <a:avLst/>
          </a:prstGeom>
        </p:spPr>
      </p:pic>
      <p:grpSp>
        <p:nvGrpSpPr>
          <p:cNvPr id="44" name="Group 43">
            <a:extLst>
              <a:ext uri="{FF2B5EF4-FFF2-40B4-BE49-F238E27FC236}">
                <a16:creationId xmlns:a16="http://schemas.microsoft.com/office/drawing/2014/main" id="{7EDF15E3-E94F-4F00-3027-8D158EFE655C}"/>
              </a:ext>
            </a:extLst>
          </p:cNvPr>
          <p:cNvGrpSpPr/>
          <p:nvPr/>
        </p:nvGrpSpPr>
        <p:grpSpPr>
          <a:xfrm>
            <a:off x="26706" y="1770250"/>
            <a:ext cx="764246" cy="1226633"/>
            <a:chOff x="26706" y="797790"/>
            <a:chExt cx="764246" cy="1226633"/>
          </a:xfrm>
        </p:grpSpPr>
        <p:pic>
          <p:nvPicPr>
            <p:cNvPr id="49" name="Picture 6" descr="UAYESOK Heavy Duty Magnetic Mount Mobile Antenna Dual-Band 2m 70cm VHF/UHF  Mag Base Antenna PL-259 Plug for Vehicel Truck SUV Mobile Radio Scanner ...">
              <a:extLst>
                <a:ext uri="{FF2B5EF4-FFF2-40B4-BE49-F238E27FC236}">
                  <a16:creationId xmlns:a16="http://schemas.microsoft.com/office/drawing/2014/main" id="{948461D8-1183-2583-D48F-5489A909425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6706" y="857524"/>
              <a:ext cx="764246" cy="89709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a:extLst>
                <a:ext uri="{FF2B5EF4-FFF2-40B4-BE49-F238E27FC236}">
                  <a16:creationId xmlns:a16="http://schemas.microsoft.com/office/drawing/2014/main" id="{B56D20B5-F04A-7956-8765-33EF1CDAA753}"/>
                </a:ext>
              </a:extLst>
            </p:cNvPr>
            <p:cNvPicPr>
              <a:picLocks noChangeAspect="1"/>
            </p:cNvPicPr>
            <p:nvPr/>
          </p:nvPicPr>
          <p:blipFill>
            <a:blip r:embed="rId9"/>
            <a:stretch>
              <a:fillRect/>
            </a:stretch>
          </p:blipFill>
          <p:spPr>
            <a:xfrm>
              <a:off x="143391" y="797790"/>
              <a:ext cx="528270" cy="295325"/>
            </a:xfrm>
            <a:prstGeom prst="rect">
              <a:avLst/>
            </a:prstGeom>
          </p:spPr>
        </p:pic>
        <p:sp>
          <p:nvSpPr>
            <p:cNvPr id="52" name="TextBox 51">
              <a:extLst>
                <a:ext uri="{FF2B5EF4-FFF2-40B4-BE49-F238E27FC236}">
                  <a16:creationId xmlns:a16="http://schemas.microsoft.com/office/drawing/2014/main" id="{5FD8262F-8089-420C-DB14-8DA5BCC54868}"/>
                </a:ext>
              </a:extLst>
            </p:cNvPr>
            <p:cNvSpPr txBox="1"/>
            <p:nvPr/>
          </p:nvSpPr>
          <p:spPr>
            <a:xfrm>
              <a:off x="130954" y="1765891"/>
              <a:ext cx="565541" cy="258532"/>
            </a:xfrm>
            <a:prstGeom prst="rect">
              <a:avLst/>
            </a:prstGeom>
            <a:solidFill>
              <a:schemeClr val="accent1">
                <a:lumMod val="40000"/>
                <a:lumOff val="60000"/>
              </a:schemeClr>
            </a:solidFill>
          </p:spPr>
          <p:txBody>
            <a:bodyPr wrap="square" rtlCol="0">
              <a:spAutoFit/>
            </a:bodyPr>
            <a:lstStyle/>
            <a:p>
              <a:pPr algn="ctr"/>
              <a:r>
                <a:rPr lang="en-US" sz="1200" b="1" dirty="0">
                  <a:solidFill>
                    <a:schemeClr val="tx1">
                      <a:lumMod val="50000"/>
                    </a:schemeClr>
                  </a:solidFill>
                </a:rPr>
                <a:t>RAN</a:t>
              </a:r>
            </a:p>
          </p:txBody>
        </p:sp>
      </p:grpSp>
      <p:sp>
        <p:nvSpPr>
          <p:cNvPr id="7" name="TextBox 6">
            <a:extLst>
              <a:ext uri="{FF2B5EF4-FFF2-40B4-BE49-F238E27FC236}">
                <a16:creationId xmlns:a16="http://schemas.microsoft.com/office/drawing/2014/main" id="{5B3CD61D-502C-8A75-694C-55D573161843}"/>
              </a:ext>
            </a:extLst>
          </p:cNvPr>
          <p:cNvSpPr txBox="1"/>
          <p:nvPr/>
        </p:nvSpPr>
        <p:spPr>
          <a:xfrm>
            <a:off x="0" y="5153524"/>
            <a:ext cx="6496473" cy="757130"/>
          </a:xfrm>
          <a:prstGeom prst="rect">
            <a:avLst/>
          </a:prstGeom>
          <a:noFill/>
        </p:spPr>
        <p:txBody>
          <a:bodyPr wrap="square">
            <a:spAutoFit/>
          </a:bodyPr>
          <a:lstStyle/>
          <a:p>
            <a:pPr algn="l">
              <a:spcBef>
                <a:spcPts val="0"/>
              </a:spcBef>
              <a:buNone/>
            </a:pPr>
            <a:r>
              <a:rPr lang="en-US" sz="1600" b="1" i="0" dirty="0">
                <a:solidFill>
                  <a:srgbClr val="1F2328"/>
                </a:solidFill>
                <a:effectLst/>
                <a:latin typeface="-apple-system"/>
              </a:rPr>
              <a:t>System flow – Spire agent etc.</a:t>
            </a:r>
          </a:p>
          <a:p>
            <a:pPr marL="285750" indent="-285750" algn="l">
              <a:spcBef>
                <a:spcPts val="0"/>
              </a:spcBef>
              <a:buFont typeface="Arial" panose="020B0604020202020204" pitchFamily="34" charset="0"/>
              <a:buChar char="•"/>
            </a:pPr>
            <a:r>
              <a:rPr lang="en-US" sz="1600" b="1" dirty="0">
                <a:solidFill>
                  <a:srgbClr val="1F2328"/>
                </a:solidFill>
                <a:latin typeface="-apple-system"/>
              </a:rPr>
              <a:t>Authentication</a:t>
            </a:r>
            <a:r>
              <a:rPr lang="en-US" sz="1600" dirty="0">
                <a:solidFill>
                  <a:srgbClr val="1F2328"/>
                </a:solidFill>
                <a:latin typeface="-apple-system"/>
              </a:rPr>
              <a:t>: Spire agent refreshes unified identity w/ TPM-rooted key and TPM-attested geolocation from spire server</a:t>
            </a:r>
          </a:p>
        </p:txBody>
      </p:sp>
      <p:sp>
        <p:nvSpPr>
          <p:cNvPr id="15" name="TextBox 14">
            <a:extLst>
              <a:ext uri="{FF2B5EF4-FFF2-40B4-BE49-F238E27FC236}">
                <a16:creationId xmlns:a16="http://schemas.microsoft.com/office/drawing/2014/main" id="{5BF9AF6F-2643-637F-884B-3C64140E904D}"/>
              </a:ext>
            </a:extLst>
          </p:cNvPr>
          <p:cNvSpPr txBox="1"/>
          <p:nvPr/>
        </p:nvSpPr>
        <p:spPr>
          <a:xfrm>
            <a:off x="-7256" y="5930038"/>
            <a:ext cx="6496473" cy="757130"/>
          </a:xfrm>
          <a:prstGeom prst="rect">
            <a:avLst/>
          </a:prstGeom>
          <a:noFill/>
        </p:spPr>
        <p:txBody>
          <a:bodyPr wrap="square">
            <a:spAutoFit/>
          </a:bodyPr>
          <a:lstStyle/>
          <a:p>
            <a:pPr algn="l">
              <a:spcBef>
                <a:spcPts val="0"/>
              </a:spcBef>
            </a:pPr>
            <a:r>
              <a:rPr lang="en-US" sz="1600" b="1" dirty="0">
                <a:solidFill>
                  <a:srgbClr val="1F2328"/>
                </a:solidFill>
                <a:latin typeface="-apple-system"/>
              </a:rPr>
              <a:t>Client App flow</a:t>
            </a:r>
          </a:p>
          <a:p>
            <a:pPr marL="285750" indent="-285750" algn="l">
              <a:spcBef>
                <a:spcPts val="0"/>
              </a:spcBef>
              <a:buFont typeface="Arial" panose="020B0604020202020204" pitchFamily="34" charset="0"/>
              <a:buChar char="•"/>
            </a:pPr>
            <a:r>
              <a:rPr lang="en-US" sz="1600" b="1" dirty="0">
                <a:solidFill>
                  <a:srgbClr val="1F2328"/>
                </a:solidFill>
                <a:latin typeface="-apple-system"/>
              </a:rPr>
              <a:t>Authentication</a:t>
            </a:r>
            <a:r>
              <a:rPr lang="en-US" sz="1600" dirty="0">
                <a:solidFill>
                  <a:srgbClr val="1F2328"/>
                </a:solidFill>
                <a:latin typeface="-apple-system"/>
              </a:rPr>
              <a:t>: Client app inherits TPM-attested geolocation part of unified identity from spire agent</a:t>
            </a:r>
          </a:p>
        </p:txBody>
      </p:sp>
    </p:spTree>
    <p:extLst>
      <p:ext uri="{BB962C8B-B14F-4D97-AF65-F5344CB8AC3E}">
        <p14:creationId xmlns:p14="http://schemas.microsoft.com/office/powerpoint/2010/main" val="346494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9" grpId="0" animBg="1"/>
      <p:bldP spid="60" grpId="0"/>
      <p:bldP spid="75" grpId="0"/>
      <p:bldP spid="76" grpId="0"/>
      <p:bldP spid="2" grpId="0" animBg="1"/>
      <p:bldP spid="6" grpId="0"/>
      <p:bldP spid="5" grpId="0" animBg="1"/>
      <p:bldP spid="13" grpId="0" animBg="1"/>
      <p:bldP spid="42" grpId="0"/>
      <p:bldP spid="7" grpId="0"/>
      <p:bldP spid="15" grpId="0"/>
    </p:bld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4&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Blue Spark">
  <a:themeElements>
    <a:clrScheme name="Custom 10">
      <a:dk1>
        <a:srgbClr val="FFFFFF"/>
      </a:dk1>
      <a:lt1>
        <a:srgbClr val="525252"/>
      </a:lt1>
      <a:dk2>
        <a:srgbClr val="FFFFFF"/>
      </a:dk2>
      <a:lt2>
        <a:srgbClr val="004A86"/>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Helvetica Neue"/>
        <a:cs typeface="Helvetica Neue"/>
      </a:majorFont>
      <a:minorFont>
        <a:latin typeface="IntelOne Display Regular"/>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Classic Tint 2">
      <a:srgbClr val="76CEFF"/>
    </a:custClr>
    <a:custClr name="Energy Tint 2">
      <a:srgbClr val="B4F0FF"/>
    </a:custClr>
    <a:custClr name="Carbon Tint 2">
      <a:srgbClr val="E9E9E9"/>
    </a:custClr>
    <a:custClr name="Steel Tint 2">
      <a:srgbClr val="B9D6E5"/>
    </a:custClr>
    <a:custClr name="Geode Tint 2">
      <a:srgbClr val="EEC3F7"/>
    </a:custClr>
    <a:custClr name="Moss Tint 2">
      <a:srgbClr val="D7F3A2"/>
    </a:custClr>
    <a:custClr name="Rust Tint 2">
      <a:srgbClr val="FFC599"/>
    </a:custClr>
    <a:custClr name="Cobalt Tint 2">
      <a:srgbClr val="98A1FF"/>
    </a:custClr>
    <a:custClr name="Coral Tint 2">
      <a:srgbClr val="FFB6B9"/>
    </a:custClr>
    <a:custClr name="white">
      <a:srgbClr val="FFFFFF"/>
    </a:custClr>
    <a:custClr name="Classic Tint 1">
      <a:srgbClr val="00A3F6"/>
    </a:custClr>
    <a:custClr name="Energy Tint 1">
      <a:srgbClr val="7BDEFF"/>
    </a:custClr>
    <a:custClr name="Carbon Tint 1">
      <a:srgbClr val="AEAEAE"/>
    </a:custClr>
    <a:custClr name="Steel Tint 1">
      <a:srgbClr val="86B3CA"/>
    </a:custClr>
    <a:custClr name="Geode Tint 1">
      <a:srgbClr val="CC94DA"/>
    </a:custClr>
    <a:custClr name="Moss Tint 1">
      <a:srgbClr val="B1D272"/>
    </a:custClr>
    <a:custClr name="Rust Tint 1">
      <a:srgbClr val="FF8F51"/>
    </a:custClr>
    <a:custClr name="Cobalt Tint 1">
      <a:srgbClr val="5B69FF"/>
    </a:custClr>
    <a:custClr name="Coral Tint 1">
      <a:srgbClr val="FF848A"/>
    </a:custClr>
    <a:custClr name="Daisy Tint 1">
      <a:srgbClr val="FFE17A"/>
    </a:custClr>
    <a:custClr name="Classic">
      <a:srgbClr val="0068B5"/>
    </a:custClr>
    <a:custClr name="Energy">
      <a:srgbClr val="00C7FD"/>
    </a:custClr>
    <a:custClr name="Carbon">
      <a:srgbClr val="808080"/>
    </a:custClr>
    <a:custClr name="Steel">
      <a:srgbClr val="548FAD"/>
    </a:custClr>
    <a:custClr name="Geode">
      <a:srgbClr val="8F5DA2"/>
    </a:custClr>
    <a:custClr name="Moss">
      <a:srgbClr val="8BAE46"/>
    </a:custClr>
    <a:custClr name="Rust">
      <a:srgbClr val="E96115"/>
    </a:custClr>
    <a:custClr name="Cobalt">
      <a:srgbClr val="1E2EB8"/>
    </a:custClr>
    <a:custClr name="Coral">
      <a:srgbClr val="FF5662"/>
    </a:custClr>
    <a:custClr name="Daisy">
      <a:srgbClr val="FEC91B"/>
    </a:custClr>
    <a:custClr name="Classic Shade 1">
      <a:srgbClr val="004A86"/>
    </a:custClr>
    <a:custClr name="Energy Shade 1">
      <a:srgbClr val="0095CA"/>
    </a:custClr>
    <a:custClr name="Carbon Shade 1">
      <a:srgbClr val="525252"/>
    </a:custClr>
    <a:custClr name="Steel Shade 1">
      <a:srgbClr val="41728A"/>
    </a:custClr>
    <a:custClr name="Geode Shade 1">
      <a:srgbClr val="653171"/>
    </a:custClr>
    <a:custClr name="Moss Shade 1">
      <a:srgbClr val="708541"/>
    </a:custClr>
    <a:custClr name="Rust Shade 1">
      <a:srgbClr val="B24501"/>
    </a:custClr>
    <a:custClr name="Cobalt Shade 1">
      <a:srgbClr val="000F8A"/>
    </a:custClr>
    <a:custClr name="Coral Shade 1">
      <a:srgbClr val="C81326"/>
    </a:custClr>
    <a:custClr name="Daisy Shade 1">
      <a:srgbClr val="EDB200"/>
    </a:custClr>
    <a:custClr name="Classic Shade 2">
      <a:srgbClr val="00285A"/>
    </a:custClr>
    <a:custClr name="Energy Shade 2">
      <a:srgbClr val="005B85"/>
    </a:custClr>
    <a:custClr name="Carbon Shade 2">
      <a:srgbClr val="262626"/>
    </a:custClr>
    <a:custClr name="Steel Shade 2">
      <a:srgbClr val="183544"/>
    </a:custClr>
    <a:custClr name="black">
      <a:srgbClr val="000000"/>
    </a:custClr>
    <a:custClr name="Moss Shade 2">
      <a:srgbClr val="515A3D"/>
    </a:custClr>
    <a:custClr name="black">
      <a:srgbClr val="000000"/>
    </a:custClr>
    <a:custClr name="Cobalt Shade 2">
      <a:srgbClr val="000864"/>
    </a:custClr>
    <a:custClr name="black">
      <a:srgbClr val="000000"/>
    </a:custClr>
    <a:custClr name="Daisy Shade 2">
      <a:srgbClr val="C98F00"/>
    </a:custClr>
  </a:custClrLst>
  <a:extLst>
    <a:ext uri="{05A4C25C-085E-4340-85A3-A5531E510DB2}">
      <thm15:themeFamily xmlns:thm15="http://schemas.microsoft.com/office/thememl/2012/main" name="Blue Spark" id="{FC077DC1-E63F-4067-A876-4D1C6EB5F106}" vid="{800CAF4F-5B47-4F28-8B00-8DA554FF90D6}"/>
    </a:ext>
  </a:extLst>
</a:theme>
</file>

<file path=ppt/theme/theme2.xml><?xml version="1.0" encoding="utf-8"?>
<a:theme xmlns:a="http://schemas.openxmlformats.org/drawingml/2006/main" name="PowerHour">
  <a:themeElements>
    <a:clrScheme name="Custom 10">
      <a:dk1>
        <a:srgbClr val="FFFFFF"/>
      </a:dk1>
      <a:lt1>
        <a:srgbClr val="525252"/>
      </a:lt1>
      <a:dk2>
        <a:srgbClr val="FFFFFF"/>
      </a:dk2>
      <a:lt2>
        <a:srgbClr val="004A86"/>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Arial"/>
        <a:cs typeface="Arial"/>
      </a:majorFont>
      <a:minorFont>
        <a:latin typeface="IntelOne Display Regular"/>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Classic Tint 2">
      <a:srgbClr val="76CEFF"/>
    </a:custClr>
    <a:custClr name="Energy Tint 2">
      <a:srgbClr val="B4F0FF"/>
    </a:custClr>
    <a:custClr name="Carbon Tint 2">
      <a:srgbClr val="E9E9E9"/>
    </a:custClr>
    <a:custClr name="Steel Tint 2">
      <a:srgbClr val="B9D6E5"/>
    </a:custClr>
    <a:custClr name="Geode Tint 2">
      <a:srgbClr val="EEC3F7"/>
    </a:custClr>
    <a:custClr name="Moss Tint 2">
      <a:srgbClr val="D7F3A2"/>
    </a:custClr>
    <a:custClr name="Rust Tint 2">
      <a:srgbClr val="FFC599"/>
    </a:custClr>
    <a:custClr name="Cobalt Tint 2">
      <a:srgbClr val="98A1FF"/>
    </a:custClr>
    <a:custClr name="Coral Tint 2">
      <a:srgbClr val="FFB6B9"/>
    </a:custClr>
    <a:custClr name="white">
      <a:srgbClr val="FFFFFF"/>
    </a:custClr>
    <a:custClr name="Classic Tint 1">
      <a:srgbClr val="00A3F6"/>
    </a:custClr>
    <a:custClr name="Energy Tint 1">
      <a:srgbClr val="7BDEFF"/>
    </a:custClr>
    <a:custClr name="Carbon Tint 1">
      <a:srgbClr val="AEAEAE"/>
    </a:custClr>
    <a:custClr name="Steel Tint 1">
      <a:srgbClr val="86B3CA"/>
    </a:custClr>
    <a:custClr name="Geode Tint 1">
      <a:srgbClr val="CC94DA"/>
    </a:custClr>
    <a:custClr name="Moss Tint 1">
      <a:srgbClr val="B1D272"/>
    </a:custClr>
    <a:custClr name="Rust Tint 1">
      <a:srgbClr val="FF8F51"/>
    </a:custClr>
    <a:custClr name="Cobalt Tint 1">
      <a:srgbClr val="5B69FF"/>
    </a:custClr>
    <a:custClr name="Coral Tint 1">
      <a:srgbClr val="FF848A"/>
    </a:custClr>
    <a:custClr name="Daisy Tint 1">
      <a:srgbClr val="FFE17A"/>
    </a:custClr>
    <a:custClr name="Classic">
      <a:srgbClr val="0068B5"/>
    </a:custClr>
    <a:custClr name="Energy">
      <a:srgbClr val="00C7FD"/>
    </a:custClr>
    <a:custClr name="Carbon">
      <a:srgbClr val="808080"/>
    </a:custClr>
    <a:custClr name="Steel">
      <a:srgbClr val="548FAD"/>
    </a:custClr>
    <a:custClr name="Geode">
      <a:srgbClr val="8F5DA2"/>
    </a:custClr>
    <a:custClr name="Moss">
      <a:srgbClr val="8BAE46"/>
    </a:custClr>
    <a:custClr name="Rust">
      <a:srgbClr val="E96115"/>
    </a:custClr>
    <a:custClr name="Cobalt">
      <a:srgbClr val="1E2EB8"/>
    </a:custClr>
    <a:custClr name="Coral">
      <a:srgbClr val="FF5662"/>
    </a:custClr>
    <a:custClr name="Daisy">
      <a:srgbClr val="FEC91B"/>
    </a:custClr>
    <a:custClr name="Classic Shade 1">
      <a:srgbClr val="004A86"/>
    </a:custClr>
    <a:custClr name="Energy Shade 1">
      <a:srgbClr val="0095CA"/>
    </a:custClr>
    <a:custClr name="Carbon Shade 1">
      <a:srgbClr val="525252"/>
    </a:custClr>
    <a:custClr name="Steel Shade 1">
      <a:srgbClr val="41728A"/>
    </a:custClr>
    <a:custClr name="Geode Shade 1">
      <a:srgbClr val="653171"/>
    </a:custClr>
    <a:custClr name="Moss Shade 1">
      <a:srgbClr val="708541"/>
    </a:custClr>
    <a:custClr name="Rust Shade 1">
      <a:srgbClr val="B24501"/>
    </a:custClr>
    <a:custClr name="Cobalt Shade 1">
      <a:srgbClr val="000F8A"/>
    </a:custClr>
    <a:custClr name="Coral Shade 1">
      <a:srgbClr val="C81326"/>
    </a:custClr>
    <a:custClr name="Daisy Shade 1">
      <a:srgbClr val="EDB200"/>
    </a:custClr>
    <a:custClr name="Classic Shade 2">
      <a:srgbClr val="00285A"/>
    </a:custClr>
    <a:custClr name="Energy Shade 2">
      <a:srgbClr val="005B85"/>
    </a:custClr>
    <a:custClr name="Carbon Shade 2">
      <a:srgbClr val="262626"/>
    </a:custClr>
    <a:custClr name="Steel Shade 2">
      <a:srgbClr val="183544"/>
    </a:custClr>
    <a:custClr name="black">
      <a:srgbClr val="000000"/>
    </a:custClr>
    <a:custClr name="Moss Shade 2">
      <a:srgbClr val="515A3D"/>
    </a:custClr>
    <a:custClr name="black">
      <a:srgbClr val="000000"/>
    </a:custClr>
    <a:custClr name="Cobalt Shade 2">
      <a:srgbClr val="000864"/>
    </a:custClr>
    <a:custClr name="black">
      <a:srgbClr val="000000"/>
    </a:custClr>
    <a:custClr name="Daisy Shade 2">
      <a:srgbClr val="C98F00"/>
    </a:custClr>
  </a:custClrLst>
  <a:extLst>
    <a:ext uri="{05A4C25C-085E-4340-85A3-A5531E510DB2}">
      <thm15:themeFamily xmlns:thm15="http://schemas.microsoft.com/office/thememl/2012/main" name="PowerHour" id="{A2CDC54D-522A-4597-9DB0-E8807C6F7573}" vid="{B9FF99D4-C890-4C70-8860-42F867ECC174}"/>
    </a:ext>
  </a:extLst>
</a:theme>
</file>

<file path=ppt/theme/theme3.xml><?xml version="1.0" encoding="utf-8"?>
<a:theme xmlns:a="http://schemas.openxmlformats.org/drawingml/2006/main" name="Theme1">
  <a:themeElements>
    <a:clrScheme name="Intel 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2021">
      <a:majorFont>
        <a:latin typeface="IntelOne Display Light"/>
        <a:ea typeface="Helvetica Neue"/>
        <a:cs typeface="Helvetica Neue"/>
      </a:majorFont>
      <a:minorFont>
        <a:latin typeface="IntelOne Text Light"/>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Classic Tint 2">
      <a:srgbClr val="76CEFF"/>
    </a:custClr>
    <a:custClr name="Energy Tint 2">
      <a:srgbClr val="B4F0FF"/>
    </a:custClr>
    <a:custClr name="Carbon Tint 2">
      <a:srgbClr val="E9E9E9"/>
    </a:custClr>
    <a:custClr name="Steel Tint 2">
      <a:srgbClr val="B9D6E5"/>
    </a:custClr>
    <a:custClr name="Geode Tint 2">
      <a:srgbClr val="EEC3F7"/>
    </a:custClr>
    <a:custClr name="Moss Tint 2">
      <a:srgbClr val="D7F3A2"/>
    </a:custClr>
    <a:custClr name="Rust Tint 2">
      <a:srgbClr val="FFC599"/>
    </a:custClr>
    <a:custClr name="Cobalt Tint 2">
      <a:srgbClr val="98A1FF"/>
    </a:custClr>
    <a:custClr name="Coral Tint 2">
      <a:srgbClr val="FFB6B9"/>
    </a:custClr>
    <a:custClr name="white">
      <a:srgbClr val="FFFFFF"/>
    </a:custClr>
    <a:custClr name="Classic Tint 1">
      <a:srgbClr val="00A3F6"/>
    </a:custClr>
    <a:custClr name="Energy Tint 1">
      <a:srgbClr val="7BDEFF"/>
    </a:custClr>
    <a:custClr name="Carbon Tint 1">
      <a:srgbClr val="AEAEAE"/>
    </a:custClr>
    <a:custClr name="Steel Tint 1">
      <a:srgbClr val="86B3CA"/>
    </a:custClr>
    <a:custClr name="Geode Tint 1">
      <a:srgbClr val="CC94DA"/>
    </a:custClr>
    <a:custClr name="Moss Tint 1">
      <a:srgbClr val="B1D272"/>
    </a:custClr>
    <a:custClr name="Rust Tint 1">
      <a:srgbClr val="FF8F51"/>
    </a:custClr>
    <a:custClr name="Cobalt Tint 1">
      <a:srgbClr val="5B69FF"/>
    </a:custClr>
    <a:custClr name="Coral Tint 1">
      <a:srgbClr val="FF848A"/>
    </a:custClr>
    <a:custClr name="Daisy Tint 1">
      <a:srgbClr val="FFE17A"/>
    </a:custClr>
    <a:custClr name="Classic">
      <a:srgbClr val="0068B5"/>
    </a:custClr>
    <a:custClr name="Energy">
      <a:srgbClr val="00C7FD"/>
    </a:custClr>
    <a:custClr name="Carbon">
      <a:srgbClr val="808080"/>
    </a:custClr>
    <a:custClr name="Steel">
      <a:srgbClr val="548FAD"/>
    </a:custClr>
    <a:custClr name="Geode">
      <a:srgbClr val="8F5DA2"/>
    </a:custClr>
    <a:custClr name="Moss">
      <a:srgbClr val="8BAE46"/>
    </a:custClr>
    <a:custClr name="Rust">
      <a:srgbClr val="E96115"/>
    </a:custClr>
    <a:custClr name="Cobalt">
      <a:srgbClr val="1E2EB8"/>
    </a:custClr>
    <a:custClr name="Coral">
      <a:srgbClr val="FF5662"/>
    </a:custClr>
    <a:custClr name="Daisy">
      <a:srgbClr val="FEC91B"/>
    </a:custClr>
    <a:custClr name="Classic Shade 1">
      <a:srgbClr val="004A86"/>
    </a:custClr>
    <a:custClr name="Energy Shade 1">
      <a:srgbClr val="0095CA"/>
    </a:custClr>
    <a:custClr name="Carbon Shade 1">
      <a:srgbClr val="525252"/>
    </a:custClr>
    <a:custClr name="Steel Shade 1">
      <a:srgbClr val="41728A"/>
    </a:custClr>
    <a:custClr name="Geode Shade 1">
      <a:srgbClr val="653171"/>
    </a:custClr>
    <a:custClr name="Moss Shade 1">
      <a:srgbClr val="708541"/>
    </a:custClr>
    <a:custClr name="Rust Shade 1">
      <a:srgbClr val="B24501"/>
    </a:custClr>
    <a:custClr name="Cobalt Shade 1">
      <a:srgbClr val="000F8A"/>
    </a:custClr>
    <a:custClr name="Coral Shade 1">
      <a:srgbClr val="C81326"/>
    </a:custClr>
    <a:custClr name="Daisy Shade 1">
      <a:srgbClr val="EDB200"/>
    </a:custClr>
    <a:custClr name="Classic Shade 2">
      <a:srgbClr val="00285A"/>
    </a:custClr>
    <a:custClr name="Energy Shade 2">
      <a:srgbClr val="005B85"/>
    </a:custClr>
    <a:custClr name="Carbon Shade 2">
      <a:srgbClr val="262626"/>
    </a:custClr>
    <a:custClr name="Steel Shade 2">
      <a:srgbClr val="183544"/>
    </a:custClr>
    <a:custClr name="black">
      <a:srgbClr val="000000"/>
    </a:custClr>
    <a:custClr name="Moss Shade 2">
      <a:srgbClr val="515A3D"/>
    </a:custClr>
    <a:custClr name="black">
      <a:srgbClr val="000000"/>
    </a:custClr>
    <a:custClr name="Cobalt Shade 2">
      <a:srgbClr val="000864"/>
    </a:custClr>
    <a:custClr name="black">
      <a:srgbClr val="000000"/>
    </a:custClr>
    <a:custClr name="Daisy Shade 2">
      <a:srgbClr val="C98F00"/>
    </a:custClr>
  </a:custClrLst>
  <a:extLst>
    <a:ext uri="{05A4C25C-085E-4340-85A3-A5531E510DB2}">
      <thm15:themeFamily xmlns:thm15="http://schemas.microsoft.com/office/thememl/2012/main" name="brand-ppt-template (1)" id="{D1FD4282-8E8D-7F42-BC8A-A99EC679DECD}" vid="{1CC8D8C3-0D29-4A4E-A4A8-B2C57FCDFB6E}"/>
    </a:ext>
  </a:extLst>
</a:theme>
</file>

<file path=ppt/theme/theme4.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82B23BF87189546B856964EF2684C88" ma:contentTypeVersion="12" ma:contentTypeDescription="Create a new document." ma:contentTypeScope="" ma:versionID="57adf66298fc36074246cd7e984dbda3">
  <xsd:schema xmlns:xsd="http://www.w3.org/2001/XMLSchema" xmlns:xs="http://www.w3.org/2001/XMLSchema" xmlns:p="http://schemas.microsoft.com/office/2006/metadata/properties" xmlns:ns2="cb17bcd0-557f-400f-be6a-0c8d74dabbd3" xmlns:ns3="9c51c0d8-ec05-4fb6-8819-26bf55154a01" targetNamespace="http://schemas.microsoft.com/office/2006/metadata/properties" ma:root="true" ma:fieldsID="b31e96db85ce35e3fc51f5945210d28e" ns2:_="" ns3:_="">
    <xsd:import namespace="cb17bcd0-557f-400f-be6a-0c8d74dabbd3"/>
    <xsd:import namespace="9c51c0d8-ec05-4fb6-8819-26bf55154a0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17bcd0-557f-400f-be6a-0c8d74dabb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c51c0d8-ec05-4fb6-8819-26bf55154a0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9c51c0d8-ec05-4fb6-8819-26bf55154a01">
      <UserInfo>
        <DisplayName>Rao, Anil</DisplayName>
        <AccountId>21</AccountId>
        <AccountType/>
      </UserInfo>
      <UserInfo>
        <DisplayName>Wilkinson, Hugh</DisplayName>
        <AccountId>18</AccountId>
        <AccountType/>
      </UserInfo>
      <UserInfo>
        <DisplayName>NT Service\spsearch</DisplayName>
        <AccountId>9</AccountId>
        <AccountType/>
      </UserInfo>
      <UserInfo>
        <DisplayName>Tseng, Janet</DisplayName>
        <AccountId>27</AccountId>
        <AccountType/>
      </UserInfo>
      <UserInfo>
        <DisplayName>Ma, Chinang</DisplayName>
        <AccountId>24</AccountId>
        <AccountType/>
      </UserInfo>
      <UserInfo>
        <DisplayName>Dumford, Scott</DisplayName>
        <AccountId>19</AccountId>
        <AccountType/>
      </UserInfo>
      <UserInfo>
        <DisplayName>Tan, Kenneth Chong Yin</DisplayName>
        <AccountId>26</AccountId>
        <AccountType/>
      </UserInfo>
      <UserInfo>
        <DisplayName>Kumar, Mohan J</DisplayName>
        <AccountId>25</AccountId>
        <AccountType/>
      </UserInfo>
      <UserInfo>
        <DisplayName>Koehl, Sean M</DisplayName>
        <AccountId>12</AccountId>
        <AccountType/>
      </UserInfo>
      <UserInfo>
        <DisplayName>Raffa, Giuseppe</DisplayName>
        <AccountId>30</AccountId>
        <AccountType/>
      </UserInfo>
      <UserInfo>
        <DisplayName>Kamgaing, Telesphor</DisplayName>
        <AccountId>35</AccountId>
        <AccountType/>
      </UserInfo>
      <UserInfo>
        <DisplayName>Garcia Ortiz, Eunice</DisplayName>
        <AccountId>6</AccountId>
        <AccountType/>
      </UserInfo>
      <UserInfo>
        <DisplayName>Watt, Jeff</DisplayName>
        <AccountId>38</AccountId>
        <AccountType/>
      </UserInfo>
      <UserInfo>
        <DisplayName>Sauer, Jeff A</DisplayName>
        <AccountId>17</AccountId>
        <AccountType/>
      </UserInfo>
      <UserInfo>
        <DisplayName>SharePoint Online Administrators</DisplayName>
        <AccountId>10</AccountId>
        <AccountType/>
      </UserInfo>
      <UserInfo>
        <DisplayName>sys_O365_AutoScripts</DisplayName>
        <AccountId>11</AccountId>
        <AccountType/>
      </UserInfo>
      <UserInfo>
        <DisplayName>Koeberl, Patrick</DisplayName>
        <AccountId>20</AccountId>
        <AccountType/>
      </UserInfo>
      <UserInfo>
        <DisplayName>Miranda, John S</DisplayName>
        <AccountId>15</AccountId>
        <AccountType/>
      </UserInfo>
      <UserInfo>
        <DisplayName>Mclain, Marilyn L</DisplayName>
        <AccountId>14</AccountId>
        <AccountType/>
      </UserInfo>
      <UserInfo>
        <DisplayName>Huang, Margaret</DisplayName>
        <AccountId>22</AccountId>
        <AccountType/>
      </UserInfo>
      <UserInfo>
        <DisplayName>Khanna, Rahul</DisplayName>
        <AccountId>28</AccountId>
        <AccountType/>
      </UserInfo>
      <UserInfo>
        <DisplayName>Bakshi, Sanjay</DisplayName>
        <AccountId>39</AccountId>
        <AccountType/>
      </UserInfo>
      <UserInfo>
        <DisplayName>Mccutchen, Tanya J</DisplayName>
        <AccountId>16</AccountId>
        <AccountType/>
      </UserInfo>
      <UserInfo>
        <DisplayName>Marsee, Andrew S</DisplayName>
        <AccountId>40</AccountId>
        <AccountType/>
      </UserInfo>
      <UserInfo>
        <DisplayName>Pursell, Jolene M</DisplayName>
        <AccountId>41</AccountId>
        <AccountType/>
      </UserInfo>
      <UserInfo>
        <DisplayName>Nachman, Lama</DisplayName>
        <AccountId>55</AccountId>
        <AccountType/>
      </UserInfo>
      <UserInfo>
        <DisplayName>Aboud, Fadi</DisplayName>
        <AccountId>53</AccountId>
        <AccountType/>
      </UserInfo>
      <UserInfo>
        <DisplayName>Illikkal, Ramesh G</DisplayName>
        <AccountId>56</AccountId>
        <AccountType/>
      </UserInfo>
      <UserInfo>
        <DisplayName>Wierzynski, Casimir</DisplayName>
        <AccountId>181</AccountId>
        <AccountType/>
      </UserInfo>
      <UserInfo>
        <DisplayName>Yang, Xue</DisplayName>
        <AccountId>174</AccountId>
        <AccountType/>
      </UserInfo>
      <UserInfo>
        <DisplayName>Connor, Mark</DisplayName>
        <AccountId>13523</AccountId>
        <AccountType/>
      </UserInfo>
      <UserInfo>
        <DisplayName>Abrahams, Larry</DisplayName>
        <AccountId>10178</AccountId>
        <AccountType/>
      </UserInfo>
    </SharedWithUsers>
  </documentManagement>
</p:properties>
</file>

<file path=customXml/itemProps1.xml><?xml version="1.0" encoding="utf-8"?>
<ds:datastoreItem xmlns:ds="http://schemas.openxmlformats.org/officeDocument/2006/customXml" ds:itemID="{60AF1627-CDFF-485D-B0C1-424D2EE8B622}">
  <ds:schemaRefs>
    <ds:schemaRef ds:uri="9c51c0d8-ec05-4fb6-8819-26bf55154a01"/>
    <ds:schemaRef ds:uri="cb17bcd0-557f-400f-be6a-0c8d74dabbd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9154ADE-0263-4886-8AF2-7616103907A1}">
  <ds:schemaRefs>
    <ds:schemaRef ds:uri="http://schemas.microsoft.com/sharepoint/v3/contenttype/forms"/>
  </ds:schemaRefs>
</ds:datastoreItem>
</file>

<file path=customXml/itemProps3.xml><?xml version="1.0" encoding="utf-8"?>
<ds:datastoreItem xmlns:ds="http://schemas.openxmlformats.org/officeDocument/2006/customXml" ds:itemID="{3CEC828C-0A48-4159-9858-F92C49F1CA7B}">
  <ds:schemaRefs>
    <ds:schemaRef ds:uri="9c51c0d8-ec05-4fb6-8819-26bf55154a01"/>
    <ds:schemaRef ds:uri="http://www.w3.org/XML/1998/namespace"/>
    <ds:schemaRef ds:uri="http://schemas.microsoft.com/office/infopath/2007/PartnerControls"/>
    <ds:schemaRef ds:uri="http://schemas.openxmlformats.org/package/2006/metadata/core-properties"/>
    <ds:schemaRef ds:uri="cb17bcd0-557f-400f-be6a-0c8d74dabbd3"/>
    <ds:schemaRef ds:uri="http://purl.org/dc/elements/1.1/"/>
    <ds:schemaRef ds:uri="http://schemas.microsoft.com/office/2006/documentManagement/types"/>
    <ds:schemaRef ds:uri="http://schemas.microsoft.com/office/2006/metadata/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8129</TotalTime>
  <Words>6159</Words>
  <Application>Microsoft Office PowerPoint</Application>
  <PresentationFormat>Widescreen</PresentationFormat>
  <Paragraphs>661</Paragraphs>
  <Slides>21</Slides>
  <Notes>17</Notes>
  <HiddenSlides>0</HiddenSlides>
  <MMClips>0</MMClips>
  <ScaleCrop>false</ScaleCrop>
  <HeadingPairs>
    <vt:vector size="8" baseType="variant">
      <vt:variant>
        <vt:lpstr>Fonts Used</vt:lpstr>
      </vt:variant>
      <vt:variant>
        <vt:i4>18</vt:i4>
      </vt:variant>
      <vt:variant>
        <vt:lpstr>Theme</vt:lpstr>
      </vt:variant>
      <vt:variant>
        <vt:i4>3</vt:i4>
      </vt:variant>
      <vt:variant>
        <vt:lpstr>Embedded OLE Servers</vt:lpstr>
      </vt:variant>
      <vt:variant>
        <vt:i4>1</vt:i4>
      </vt:variant>
      <vt:variant>
        <vt:lpstr>Slide Titles</vt:lpstr>
      </vt:variant>
      <vt:variant>
        <vt:i4>21</vt:i4>
      </vt:variant>
    </vt:vector>
  </HeadingPairs>
  <TitlesOfParts>
    <vt:vector size="43" baseType="lpstr">
      <vt:lpstr>-apple-system</vt:lpstr>
      <vt:lpstr>Aptos</vt:lpstr>
      <vt:lpstr>Arial</vt:lpstr>
      <vt:lpstr>Calibri</vt:lpstr>
      <vt:lpstr>Google Sans Text</vt:lpstr>
      <vt:lpstr>Helvetica Neue</vt:lpstr>
      <vt:lpstr>Helvetica Neue Medium</vt:lpstr>
      <vt:lpstr>Intel Clear</vt:lpstr>
      <vt:lpstr>IntelOne Display Bold</vt:lpstr>
      <vt:lpstr>IntelOne Display CY Bold</vt:lpstr>
      <vt:lpstr>IntelOne Display Light</vt:lpstr>
      <vt:lpstr>IntelOne Display Medium</vt:lpstr>
      <vt:lpstr>IntelOne Display Regular</vt:lpstr>
      <vt:lpstr>IntelOne Text</vt:lpstr>
      <vt:lpstr>IntelOne Text Light</vt:lpstr>
      <vt:lpstr>Play</vt:lpstr>
      <vt:lpstr>Symbol</vt:lpstr>
      <vt:lpstr>TT Norms Pro</vt:lpstr>
      <vt:lpstr>1_Blue Spark</vt:lpstr>
      <vt:lpstr>PowerHour</vt:lpstr>
      <vt:lpstr>Theme1</vt:lpstr>
      <vt:lpstr>think-cell Slide</vt:lpstr>
      <vt:lpstr>   Zero-Trust Sovereign AI:  Unified Identity for Workloads with HW-rooted Verifiable Geofencing &amp; Residency Proofs   Lead: Ramki Krishnan (Trust and Security Expert)</vt:lpstr>
      <vt:lpstr>Sovereign cloud data residency requirements summary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Demo Act 1  - Trusted Infrastructure Setup</vt:lpstr>
      <vt:lpstr>Demo Act 2.1 – The Happy Path (Proof of Geofencing) </vt:lpstr>
      <vt:lpstr>Demo Act 2.2 – The Happy Path (Proof of Geofencing) </vt:lpstr>
      <vt:lpstr>Demo Act 2.3 – The Happy Path (Proof of Geofencing) </vt:lpstr>
      <vt:lpstr>Demo Act 3.1 – The Defense (The Rogue Admin)</vt:lpstr>
      <vt:lpstr>Demo Act 3.2 – The Defense (The Rogue Admin)</vt:lpstr>
      <vt:lpstr>PowerPoint Presentation</vt:lpstr>
      <vt:lpstr>Next Steps beyond Current PoC (1)</vt:lpstr>
      <vt:lpstr>Next Steps beyond Current PoC (2)</vt:lpstr>
      <vt:lpstr>PowerPoint Presentation</vt:lpstr>
      <vt:lpstr>Spiffe/Spire agent unified svid (workload/host identity) architectural flow</vt:lpstr>
      <vt:lpstr>Unified Identity: End-to-end Architectural flow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ram krishnan</cp:lastModifiedBy>
  <cp:revision>2</cp:revision>
  <cp:lastPrinted>2025-03-09T23:57:54Z</cp:lastPrinted>
  <dcterms:modified xsi:type="dcterms:W3CDTF">2026-01-29T04:21:42Z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974286d5-b26c-40f6-9830-fcc1aeb0e2a3</vt:lpwstr>
  </property>
  <property fmtid="{D5CDD505-2E9C-101B-9397-08002B2CF9AE}" pid="3" name="CTP_TimeStamp">
    <vt:lpwstr>2020-08-18 17:58:45Z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0x010100A82B23BF87189546B856964EF2684C88</vt:lpwstr>
  </property>
  <property fmtid="{D5CDD505-2E9C-101B-9397-08002B2CF9AE}" pid="9" name="MediaServiceImageTags">
    <vt:lpwstr/>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y fmtid="{D5CDD505-2E9C-101B-9397-08002B2CF9AE}" pid="15" name="xd_Signature">
    <vt:lpwstr/>
  </property>
  <property fmtid="{D5CDD505-2E9C-101B-9397-08002B2CF9AE}" pid="16" name="SharedWithUsers">
    <vt:lpwstr>21;#Wangaard, Kjell;#18;#Abrahams, Larry;#9;#NT Service\spsearch;#27;#Pollvogt, Richard L;#24;#Rasmussen, Kevin;#19;#Rajappa, Sridhar;#26;#Zuhayri, Fadi;#25;#Wise, Joshua;#12;#Bagrodia, Venkatesh</vt:lpwstr>
  </property>
</Properties>
</file>